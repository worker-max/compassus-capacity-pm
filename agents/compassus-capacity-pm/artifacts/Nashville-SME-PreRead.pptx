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hy you're here" id="{d7402ba4-f31d-af60-b807-b3e19bc65fa2}">
          <p14:sldIdLst>
            <p14:sldId id="256"/>
            <p14:sldId id="257"/>
            <p14:sldId id="258"/>
          </p14:sldIdLst>
        </p14:section>
        <p14:section name="How we're thinking about the problem" id="{84898f9b-a6a9-7813-03c0-1c2860b68679}">
          <p14:sldIdLst>
            <p14:sldId id="259"/>
            <p14:sldId id="260"/>
            <p14:sldId id="261"/>
            <p14:sldId id="262"/>
          </p14:sldIdLst>
        </p14:section>
        <p14:section name="What we've already decided" id="{748e4808-5c2a-7a97-b770-fe4033db66f0}">
          <p14:sldIdLst>
            <p14:sldId id="263"/>
            <p14:sldId id="264"/>
          </p14:sldIdLst>
        </p14:section>
        <p14:section name="Today's reality in the branches" id="{f6acb1dd-e076-e483-b825-372fae86141b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How we'll judge the finalists" id="{1e1aab54-5c74-f233-316d-3e0d1bfb39a7}">
          <p14:sldIdLst>
            <p14:sldId id="271"/>
            <p14:sldId id="272"/>
          </p14:sldIdLst>
        </p14:section>
        <p14:section name="The three finalists" id="{a6f17ebb-95ac-de06-885c-83151f4c9adf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Appendix" id="{392e2ef4-4129-aef5-4adc-c1ec9a5f7d8e}">
          <p14:sldIdLst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Add the Compassus logo top right if you want it, and fill in the on-site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expectation: operators pressure-testing, not trainees. Questions for the team before the on-site go to [name].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Scheduling gets blamed because it is the last visible step. Most of the inefficiency sits upstream: auth, plan-of-care QA, and capacity nobody can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clinician can have room for routine visits and still be unable to admit. That gap is what the capacity tool has to make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before the capacity decision is potential. The capacity decision is the hinge.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finalists turned out more capable than we expected, so we moved past a view-only first release. But the person in the branch stays in charge of every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 vendor's product works against any of these, note it. That's a fit problem, not a feature gap.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simplified version of the SOC flow. The full, detailed maps are in the companion packet and are best read on screen, zoomed 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Ranked by leverage from the August whiteboard sessions. The first four are upstream of the scheduler's queue.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Examples behind the table: UHC grants 5 nursing visits and needs 4 completed with documentation before visit 6. Indiana Medicaid pays 30 days from hospital discharge, with 8 therapy visits shared across PT, OT and 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each vendor what clinicians see, what they can change themselves, and what their adoption looked like in the first 60 days elsewhere.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finalists handle capacity and scheduling well. Fewer have thought through the patient side. Ask what the patient receives, when, and who sends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Kept deliberately simple. A recommendation is only as good as the information behind it, and ours is often hours or days 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and the people you lead will be the ones receiving these suggestions. Judge each workflow as if you had to run it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Vendor claims of 20 to 40 percent gains are typically two to three times what independent programs deliver. Ask for outcomes, not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session follows the same patient through the vendor's own product, then Q&amp;A. The next pages set out the patient, the timeline and the nine moments to watch.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patient details are a draft. Match them to the case script the vendors received so the SMEs follow the same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Days are illustrative. Adjust them to match the vendors' script. Markers sit to scale on the 120-day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each moment, the grey text is what the product should show. The gold box is the question to ask if the vendor doesn't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Watching the same four things at all nine moments is what makes three different demos comparable afterward.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filled from the small team's demo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filled from the small team's demo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filled from the small team's demo notes.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AL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/>
        </p:nvSpPr>
        <p:spPr>
          <a:xfrm>
            <a:off x="777240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Capacity &amp; Scheduling · SME pre-read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3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68580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COMPASSUS HOME HEALTH · CAPACITY &amp; SCHEDULING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011680"/>
            <a:ext cx="10637215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Before Nashville</a:t>
            </a:r>
            <a:endParaRPr lang="en-US" sz="6000" dirty="0"/>
          </a:p>
        </p:txBody>
      </p:sp>
      <p:sp>
        <p:nvSpPr>
          <p:cNvPr id="5" name="text-1"/>
          <p:cNvSpPr txBox="1"/>
          <p:nvPr/>
        </p:nvSpPr>
        <p:spPr>
          <a:xfrm>
            <a:off x="777240" y="315468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dirty="0">
                <a:solidFill>
                  <a:schemeClr val="bg2"/>
                </a:solidFill>
              </a:rPr>
              <a:t>A pre-read for our subject matter experts ahead of the on-site sessions, where Vitalis Care, Axle and ARYA each walk one patient through their product.</a:t>
            </a:r>
            <a:endParaRPr lang="en-US" sz="2200" dirty="0"/>
          </a:p>
        </p:txBody>
      </p:sp>
      <p:sp>
        <p:nvSpPr>
          <p:cNvPr id="6" name="cover-meta-2"/>
          <p:cNvSpPr txBox="1"/>
          <p:nvPr/>
        </p:nvSpPr>
        <p:spPr>
          <a:xfrm>
            <a:off x="77724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PREPARED BY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The Capacity &amp; Scheduling initiative team</a:t>
            </a:r>
            <a:endParaRPr lang="en-US" sz="1100" dirty="0"/>
          </a:p>
        </p:txBody>
      </p:sp>
      <p:sp>
        <p:nvSpPr>
          <p:cNvPr id="7" name="cover-meta-3"/>
          <p:cNvSpPr txBox="1"/>
          <p:nvPr/>
        </p:nvSpPr>
        <p:spPr>
          <a:xfrm>
            <a:off x="394716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READING TIME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About 45 minutes, plus appendix</a:t>
            </a:r>
            <a:endParaRPr lang="en-US" sz="1100" dirty="0"/>
          </a:p>
        </p:txBody>
      </p:sp>
      <p:sp>
        <p:nvSpPr>
          <p:cNvPr id="8" name="cover-meta-4"/>
          <p:cNvSpPr txBox="1"/>
          <p:nvPr/>
        </p:nvSpPr>
        <p:spPr>
          <a:xfrm>
            <a:off x="7117080" y="5120640"/>
            <a:ext cx="2807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ON-SITE</a:t>
            </a:r>
            <a:endParaRPr lang="en-US" sz="11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Nashville · [date]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WHY YOU'RE HERE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You know the branches. We need you to test these products against them.</a:t>
            </a:r>
            <a:endParaRPr lang="en-US" sz="3000" dirty="0"/>
          </a:p>
        </p:txBody>
      </p:sp>
      <p:sp>
        <p:nvSpPr>
          <p:cNvPr id="5" name="card-5"/>
          <p:cNvSpPr/>
          <p:nvPr/>
        </p:nvSpPr>
        <p:spPr>
          <a:xfrm>
            <a:off x="777240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6"/>
          <p:cNvSpPr txBox="1"/>
          <p:nvPr/>
        </p:nvSpPr>
        <p:spPr>
          <a:xfrm>
            <a:off x="822960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Your role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You're here to test the products, not to learn them. Ask what a branch would ask on its worst Friday.</a:t>
            </a:r>
            <a:endParaRPr lang="en-US" sz="1900" dirty="0"/>
          </a:p>
        </p:txBody>
      </p:sp>
      <p:sp>
        <p:nvSpPr>
          <p:cNvPr id="7" name="card-7"/>
          <p:cNvSpPr/>
          <p:nvPr/>
        </p:nvSpPr>
        <p:spPr>
          <a:xfrm>
            <a:off x="4414418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8"/>
          <p:cNvSpPr txBox="1"/>
          <p:nvPr/>
        </p:nvSpPr>
        <p:spPr>
          <a:xfrm>
            <a:off x="4460138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it runs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Each vendor walks one patient through their product, admission to discharge, then takes questions. Your questions are where you add the most.</a:t>
            </a:r>
            <a:endParaRPr lang="en-US" sz="1900" dirty="0"/>
          </a:p>
        </p:txBody>
      </p:sp>
      <p:sp>
        <p:nvSpPr>
          <p:cNvPr id="9" name="card-9"/>
          <p:cNvSpPr/>
          <p:nvPr/>
        </p:nvSpPr>
        <p:spPr>
          <a:xfrm>
            <a:off x="8051597" y="2148840"/>
            <a:ext cx="333756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10"/>
          <p:cNvSpPr txBox="1"/>
          <p:nvPr/>
        </p:nvSpPr>
        <p:spPr>
          <a:xfrm>
            <a:off x="8097317" y="2194560"/>
            <a:ext cx="3246120" cy="22860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This deck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About 45 minutes. It covers how we frame the problem, what we've decided, and how we'll judge. Details are in the appendix.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WHAT'S INSIDE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Five parts, then the appendix</a:t>
            </a:r>
            <a:endParaRPr lang="en-US" sz="3000" dirty="0"/>
          </a:p>
        </p:txBody>
      </p:sp>
      <p:graphicFrame>
        <p:nvGraphicFramePr>
          <p:cNvPr id="4" name="table-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874520"/>
          <a:ext cx="106372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93776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Part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What it covers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What to take into the room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How we're thinking about the problem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Capacity comes before scheduling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2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What we've already decided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tool recommends; people decide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Today's reality in the branches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Where work stalls, and why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How we'll judge the finalists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One standard for all three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accent3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 walk-through and the finalists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Nine moments to watch in every session</a:t>
                      </a:r>
                      <a:endParaRPr lang="en-US" sz="16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REFRAME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scheduling problem isn't a scheduling problem</a:t>
            </a:r>
            <a:endParaRPr lang="en-US" sz="3000" dirty="0"/>
          </a:p>
        </p:txBody>
      </p:sp>
      <p:sp>
        <p:nvSpPr>
          <p:cNvPr id="5" name="card-12"/>
          <p:cNvSpPr/>
          <p:nvPr/>
        </p:nvSpPr>
        <p:spPr>
          <a:xfrm>
            <a:off x="777240" y="1874520"/>
            <a:ext cx="5138928" cy="24688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3"/>
          <p:cNvSpPr txBox="1"/>
          <p:nvPr/>
        </p:nvSpPr>
        <p:spPr>
          <a:xfrm>
            <a:off x="822960" y="1920240"/>
            <a:ext cx="5047488" cy="23774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CAPACITY · PLANNING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much can this branch take on, and where?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Weeks ahead. Owned by branch and clinical leaders. The answer is whether we can accept the next referral.</a:t>
            </a:r>
            <a:endParaRPr lang="en-US" sz="1100" dirty="0"/>
          </a:p>
        </p:txBody>
      </p:sp>
      <p:sp>
        <p:nvSpPr>
          <p:cNvPr id="7" name="card-14"/>
          <p:cNvSpPr/>
          <p:nvPr/>
        </p:nvSpPr>
        <p:spPr>
          <a:xfrm>
            <a:off x="6233008" y="1874520"/>
            <a:ext cx="5138928" cy="2468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15"/>
          <p:cNvSpPr txBox="1"/>
          <p:nvPr/>
        </p:nvSpPr>
        <p:spPr>
          <a:xfrm>
            <a:off x="6278728" y="1920240"/>
            <a:ext cx="5047488" cy="23774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SCHEDULING · EXECUTION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goes where, when?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Today, tomorrow, the next hour. Owned by the scheduler and the clinician. The answer is a visit on someone's day.</a:t>
            </a:r>
            <a:endParaRPr lang="en-US" sz="1100" dirty="0"/>
          </a:p>
        </p:txBody>
      </p:sp>
      <p:sp>
        <p:nvSpPr>
          <p:cNvPr id="9" name="text-16"/>
          <p:cNvSpPr txBox="1"/>
          <p:nvPr/>
        </p:nvSpPr>
        <p:spPr>
          <a:xfrm>
            <a:off x="777240" y="461772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Today both run through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the pending list and the other spreadsheets branches use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to track pending referrals, admissions and hospitalizations. Neither job gets done well, and nobody can see weeks ahead.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OVERLOAD CYCLE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Start-of-care availability limits how fast a branch can grow</a:t>
            </a:r>
            <a:endParaRPr lang="en-US" sz="3000" dirty="0"/>
          </a:p>
        </p:txBody>
      </p:sp>
      <p:sp>
        <p:nvSpPr>
          <p:cNvPr id="5" name="card-17"/>
          <p:cNvSpPr/>
          <p:nvPr/>
        </p:nvSpPr>
        <p:spPr>
          <a:xfrm>
            <a:off x="777240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6" name="card-text-18"/>
          <p:cNvSpPr txBox="1"/>
          <p:nvPr/>
        </p:nvSpPr>
        <p:spPr>
          <a:xfrm>
            <a:off x="822960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1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Caseloads stay full of routine visits</a:t>
            </a:r>
            <a:endParaRPr lang="en-US" sz="1100" dirty="0"/>
          </a:p>
        </p:txBody>
      </p:sp>
      <p:sp>
        <p:nvSpPr>
          <p:cNvPr id="7" name="arrow-19"/>
          <p:cNvSpPr/>
          <p:nvPr/>
        </p:nvSpPr>
        <p:spPr>
          <a:xfrm>
            <a:off x="3136392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8" name="card-20"/>
          <p:cNvSpPr/>
          <p:nvPr/>
        </p:nvSpPr>
        <p:spPr>
          <a:xfrm>
            <a:off x="3502152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9" name="card-text-21"/>
          <p:cNvSpPr txBox="1"/>
          <p:nvPr/>
        </p:nvSpPr>
        <p:spPr>
          <a:xfrm>
            <a:off x="3547872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2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room left for start-of-care visits</a:t>
            </a:r>
            <a:endParaRPr lang="en-US" sz="1100" dirty="0"/>
          </a:p>
        </p:txBody>
      </p:sp>
      <p:sp>
        <p:nvSpPr>
          <p:cNvPr id="10" name="arrow-22"/>
          <p:cNvSpPr/>
          <p:nvPr/>
        </p:nvSpPr>
        <p:spPr>
          <a:xfrm>
            <a:off x="5861304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1" name="card-23"/>
          <p:cNvSpPr/>
          <p:nvPr/>
        </p:nvSpPr>
        <p:spPr>
          <a:xfrm>
            <a:off x="6227064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2" name="card-text-24"/>
          <p:cNvSpPr txBox="1"/>
          <p:nvPr/>
        </p:nvSpPr>
        <p:spPr>
          <a:xfrm>
            <a:off x="6272784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3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Referrals are delayed or turned down</a:t>
            </a:r>
            <a:endParaRPr lang="en-US" sz="1100" dirty="0"/>
          </a:p>
        </p:txBody>
      </p:sp>
      <p:sp>
        <p:nvSpPr>
          <p:cNvPr id="13" name="arrow-25"/>
          <p:cNvSpPr/>
          <p:nvPr/>
        </p:nvSpPr>
        <p:spPr>
          <a:xfrm>
            <a:off x="8586216" y="2834640"/>
            <a:ext cx="292608" cy="201168"/>
          </a:xfrm>
          <a:prstGeom prst="rightArrow">
            <a:avLst/>
          </a:prstGeom>
          <a:solidFill>
            <a:schemeClr val="accent1"/>
          </a:solidFill>
          <a:ln/>
        </p:spPr>
      </p:sp>
      <p:sp>
        <p:nvSpPr>
          <p:cNvPr id="14" name="card-26"/>
          <p:cNvSpPr/>
          <p:nvPr/>
        </p:nvSpPr>
        <p:spPr>
          <a:xfrm>
            <a:off x="8951976" y="2148840"/>
            <a:ext cx="2286000" cy="1600200"/>
          </a:xfrm>
          <a:prstGeom prst="roundRect">
            <a:avLst>
              <a:gd name="adj" fmla="val 4571"/>
            </a:avLst>
          </a:prstGeom>
          <a:solidFill>
            <a:schemeClr val="tx2"/>
          </a:solidFill>
          <a:ln/>
        </p:spPr>
      </p:sp>
      <p:sp>
        <p:nvSpPr>
          <p:cNvPr id="15" name="card-text-27"/>
          <p:cNvSpPr txBox="1"/>
          <p:nvPr/>
        </p:nvSpPr>
        <p:spPr>
          <a:xfrm>
            <a:off x="8997696" y="2194560"/>
            <a:ext cx="2194560" cy="15087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STEP 4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 new admissions, so no turnover</a:t>
            </a:r>
            <a:endParaRPr lang="en-US" sz="1100" dirty="0"/>
          </a:p>
        </p:txBody>
      </p:sp>
      <p:sp>
        <p:nvSpPr>
          <p:cNvPr id="16" name="return-line-28"/>
          <p:cNvSpPr/>
          <p:nvPr/>
        </p:nvSpPr>
        <p:spPr>
          <a:xfrm>
            <a:off x="777240" y="4160520"/>
            <a:ext cx="10637215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dash"/>
          </a:ln>
        </p:spPr>
      </p:sp>
      <p:sp>
        <p:nvSpPr>
          <p:cNvPr id="17" name="arrow-29"/>
          <p:cNvSpPr/>
          <p:nvPr/>
        </p:nvSpPr>
        <p:spPr>
          <a:xfrm>
            <a:off x="777240" y="4389120"/>
            <a:ext cx="292608" cy="201168"/>
          </a:xfrm>
          <a:prstGeom prst="leftArrow">
            <a:avLst/>
          </a:prstGeom>
          <a:solidFill>
            <a:schemeClr val="accent1"/>
          </a:solidFill>
          <a:ln/>
        </p:spPr>
      </p:sp>
      <p:sp>
        <p:nvSpPr>
          <p:cNvPr id="18" name="text-30"/>
          <p:cNvSpPr txBox="1"/>
          <p:nvPr/>
        </p:nvSpPr>
        <p:spPr>
          <a:xfrm>
            <a:off x="1234440" y="4315968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chemeClr val="tx1"/>
                </a:solidFill>
              </a:rPr>
              <a:t>Back to step 1. The branch stays stuck at its current volume, even with referrals waiting.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WHERE CAPACITY IS WON OR LOST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Three things decide it</a:t>
            </a:r>
            <a:endParaRPr lang="en-US" sz="3000" dirty="0"/>
          </a:p>
        </p:txBody>
      </p:sp>
      <p:sp>
        <p:nvSpPr>
          <p:cNvPr id="4" name="card-31"/>
          <p:cNvSpPr/>
          <p:nvPr/>
        </p:nvSpPr>
        <p:spPr>
          <a:xfrm>
            <a:off x="777240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32"/>
          <p:cNvSpPr txBox="1"/>
          <p:nvPr/>
        </p:nvSpPr>
        <p:spPr>
          <a:xfrm>
            <a:off x="822960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tx2"/>
                </a:solidFill>
              </a:rPr>
              <a:t>DECIDES GROWTH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Start-of-care slots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Whether an admitting clinician is free when the referral arrives decides if we say yes.</a:t>
            </a:r>
            <a:endParaRPr lang="en-US" sz="1100" dirty="0"/>
          </a:p>
        </p:txBody>
      </p:sp>
      <p:sp>
        <p:nvSpPr>
          <p:cNvPr id="6" name="card-33"/>
          <p:cNvSpPr/>
          <p:nvPr/>
        </p:nvSpPr>
        <p:spPr>
          <a:xfrm>
            <a:off x="4414418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34"/>
          <p:cNvSpPr txBox="1"/>
          <p:nvPr/>
        </p:nvSpPr>
        <p:spPr>
          <a:xfrm>
            <a:off x="4460138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DECIDES WASTE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Recovered cancellations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cancellation refilled in minutes is capacity kept. One refilled in hours is capacity lost.</a:t>
            </a:r>
            <a:endParaRPr lang="en-US" sz="1100" dirty="0"/>
          </a:p>
        </p:txBody>
      </p:sp>
      <p:sp>
        <p:nvSpPr>
          <p:cNvPr id="8" name="card-35"/>
          <p:cNvSpPr/>
          <p:nvPr/>
        </p:nvSpPr>
        <p:spPr>
          <a:xfrm>
            <a:off x="8051597" y="1874520"/>
            <a:ext cx="3337560" cy="22860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36"/>
          <p:cNvSpPr txBox="1"/>
          <p:nvPr/>
        </p:nvSpPr>
        <p:spPr>
          <a:xfrm>
            <a:off x="8097317" y="1920240"/>
            <a:ext cx="3246120" cy="21945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3"/>
                </a:solidFill>
              </a:rPr>
              <a:t>THE SHARED UNIT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Our points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Point values are set: a start of care is 2.5 units. Capacity should be counted the way we already count it.</a:t>
            </a:r>
            <a:endParaRPr lang="en-US" sz="1100" dirty="0"/>
          </a:p>
        </p:txBody>
      </p:sp>
      <p:sp>
        <p:nvSpPr>
          <p:cNvPr id="10" name="callout-37"/>
          <p:cNvSpPr/>
          <p:nvPr/>
        </p:nvSpPr>
        <p:spPr>
          <a:xfrm>
            <a:off x="777240" y="4434840"/>
            <a:ext cx="10637215" cy="5943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callout-text-38"/>
          <p:cNvSpPr txBox="1"/>
          <p:nvPr/>
        </p:nvSpPr>
        <p:spPr>
          <a:xfrm>
            <a:off x="1005840" y="4434840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each vendor: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 you measure capacity in our points, or make us translate into yours?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1 · THE THREE PILLARS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Every referral dollar follows one path</a:t>
            </a:r>
            <a:endParaRPr lang="en-US" sz="3000" dirty="0"/>
          </a:p>
        </p:txBody>
      </p:sp>
      <p:sp>
        <p:nvSpPr>
          <p:cNvPr id="5" name="flow-step-39"/>
          <p:cNvSpPr/>
          <p:nvPr/>
        </p:nvSpPr>
        <p:spPr>
          <a:xfrm>
            <a:off x="777240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6" name="text-40"/>
          <p:cNvSpPr txBox="1"/>
          <p:nvPr/>
        </p:nvSpPr>
        <p:spPr>
          <a:xfrm>
            <a:off x="777240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Referral</a:t>
            </a:r>
            <a:endParaRPr lang="en-US" sz="1500" dirty="0"/>
          </a:p>
        </p:txBody>
      </p:sp>
      <p:sp>
        <p:nvSpPr>
          <p:cNvPr id="7" name="arrow-41"/>
          <p:cNvSpPr/>
          <p:nvPr/>
        </p:nvSpPr>
        <p:spPr>
          <a:xfrm>
            <a:off x="2629243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8" name="flow-step-42"/>
          <p:cNvSpPr/>
          <p:nvPr/>
        </p:nvSpPr>
        <p:spPr>
          <a:xfrm>
            <a:off x="2990774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accent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9" name="text-43"/>
          <p:cNvSpPr txBox="1"/>
          <p:nvPr/>
        </p:nvSpPr>
        <p:spPr>
          <a:xfrm>
            <a:off x="2990774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1"/>
                </a:solidFill>
              </a:rPr>
              <a:t>Capacity decision</a:t>
            </a:r>
            <a:endParaRPr lang="en-US" sz="1500" dirty="0"/>
          </a:p>
        </p:txBody>
      </p:sp>
      <p:sp>
        <p:nvSpPr>
          <p:cNvPr id="10" name="arrow-44"/>
          <p:cNvSpPr/>
          <p:nvPr/>
        </p:nvSpPr>
        <p:spPr>
          <a:xfrm>
            <a:off x="4842777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1" name="flow-step-45"/>
          <p:cNvSpPr/>
          <p:nvPr/>
        </p:nvSpPr>
        <p:spPr>
          <a:xfrm>
            <a:off x="5204308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2" name="text-46"/>
          <p:cNvSpPr txBox="1"/>
          <p:nvPr/>
        </p:nvSpPr>
        <p:spPr>
          <a:xfrm>
            <a:off x="5204308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Schedule</a:t>
            </a:r>
            <a:endParaRPr lang="en-US" sz="1500" dirty="0"/>
          </a:p>
        </p:txBody>
      </p:sp>
      <p:sp>
        <p:nvSpPr>
          <p:cNvPr id="13" name="arrow-47"/>
          <p:cNvSpPr/>
          <p:nvPr/>
        </p:nvSpPr>
        <p:spPr>
          <a:xfrm>
            <a:off x="7056311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4" name="flow-step-48"/>
          <p:cNvSpPr/>
          <p:nvPr/>
        </p:nvSpPr>
        <p:spPr>
          <a:xfrm>
            <a:off x="7417841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5" name="text-49"/>
          <p:cNvSpPr txBox="1"/>
          <p:nvPr/>
        </p:nvSpPr>
        <p:spPr>
          <a:xfrm>
            <a:off x="7417841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tx2"/>
                </a:solidFill>
              </a:rPr>
              <a:t>Visit</a:t>
            </a:r>
            <a:endParaRPr lang="en-US" sz="1500" dirty="0"/>
          </a:p>
        </p:txBody>
      </p:sp>
      <p:sp>
        <p:nvSpPr>
          <p:cNvPr id="16" name="arrow-50"/>
          <p:cNvSpPr/>
          <p:nvPr/>
        </p:nvSpPr>
        <p:spPr>
          <a:xfrm>
            <a:off x="9269844" y="2157984"/>
            <a:ext cx="292608" cy="201168"/>
          </a:xfrm>
          <a:prstGeom prst="rightArrow">
            <a:avLst/>
          </a:prstGeom>
          <a:solidFill>
            <a:schemeClr val="tx2"/>
          </a:solidFill>
          <a:ln/>
        </p:spPr>
      </p:sp>
      <p:sp>
        <p:nvSpPr>
          <p:cNvPr id="17" name="flow-step-51"/>
          <p:cNvSpPr/>
          <p:nvPr/>
        </p:nvSpPr>
        <p:spPr>
          <a:xfrm>
            <a:off x="9631375" y="1874520"/>
            <a:ext cx="1783080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9050">
            <a:solidFill>
              <a:schemeClr val="tx2"/>
            </a:solidFill>
            <a:prstDash val="solid"/>
          </a:ln>
        </p:spPr>
      </p:sp>
      <p:sp>
        <p:nvSpPr>
          <p:cNvPr id="18" name="text-52"/>
          <p:cNvSpPr txBox="1"/>
          <p:nvPr/>
        </p:nvSpPr>
        <p:spPr>
          <a:xfrm>
            <a:off x="9631375" y="18745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Revenue</a:t>
            </a:r>
            <a:endParaRPr lang="en-US" sz="1500" dirty="0"/>
          </a:p>
        </p:txBody>
      </p:sp>
      <p:sp>
        <p:nvSpPr>
          <p:cNvPr id="19" name="card-53"/>
          <p:cNvSpPr/>
          <p:nvPr/>
        </p:nvSpPr>
        <p:spPr>
          <a:xfrm>
            <a:off x="777240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0" name="card-text-54"/>
          <p:cNvSpPr txBox="1"/>
          <p:nvPr/>
        </p:nvSpPr>
        <p:spPr>
          <a:xfrm>
            <a:off x="822960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Capacity Management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Sets the envelope.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How much work the branch can take on, given its people, disciplines and territory.</a:t>
            </a:r>
            <a:endParaRPr lang="en-US" sz="1800" dirty="0"/>
          </a:p>
        </p:txBody>
      </p:sp>
      <p:sp>
        <p:nvSpPr>
          <p:cNvPr id="21" name="card-55"/>
          <p:cNvSpPr/>
          <p:nvPr/>
        </p:nvSpPr>
        <p:spPr>
          <a:xfrm>
            <a:off x="4414418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2" name="card-text-56"/>
          <p:cNvSpPr txBox="1"/>
          <p:nvPr/>
        </p:nvSpPr>
        <p:spPr>
          <a:xfrm>
            <a:off x="4460138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Scheduling Engine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Fills the envelope.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Which clinician, which day, which route.</a:t>
            </a:r>
            <a:endParaRPr lang="en-US" sz="1800" dirty="0"/>
          </a:p>
        </p:txBody>
      </p:sp>
      <p:sp>
        <p:nvSpPr>
          <p:cNvPr id="23" name="card-57"/>
          <p:cNvSpPr/>
          <p:nvPr/>
        </p:nvSpPr>
        <p:spPr>
          <a:xfrm>
            <a:off x="8051597" y="2971800"/>
            <a:ext cx="3337560" cy="192024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24" name="card-text-58"/>
          <p:cNvSpPr txBox="1"/>
          <p:nvPr/>
        </p:nvSpPr>
        <p:spPr>
          <a:xfrm>
            <a:off x="8097317" y="30175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Patient Engagement</a:t>
            </a:r>
            <a:endParaRPr lang="en-US" sz="18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Protects it.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 Confirmations, coverage and rebooking that turn a schedule into visits made.</a:t>
            </a:r>
            <a:endParaRPr lang="en-US" sz="1800" dirty="0"/>
          </a:p>
        </p:txBody>
      </p:sp>
      <p:sp>
        <p:nvSpPr>
          <p:cNvPr id="25" name="text-59"/>
          <p:cNvSpPr txBox="1"/>
          <p:nvPr/>
        </p:nvSpPr>
        <p:spPr>
          <a:xfrm>
            <a:off x="777240" y="5166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accent5"/>
                </a:solidFill>
              </a:rPr>
              <a:t>Only a completed visit earns. A discharge hands room back to capacity.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 2 · WHAT WE'VE DECIDED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tool recommends. People decide.</a:t>
            </a:r>
            <a:endParaRPr lang="en-US" sz="4800" dirty="0"/>
          </a:p>
        </p:txBody>
      </p:sp>
      <p:sp>
        <p:nvSpPr>
          <p:cNvPr id="5" name="text-60"/>
          <p:cNvSpPr txBox="1"/>
          <p:nvPr/>
        </p:nvSpPr>
        <p:spPr>
          <a:xfrm>
            <a:off x="777240" y="406908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2"/>
                </a:solidFill>
              </a:rPr>
              <a:t>The first release suggests assignments, coverage and fixes to the scheduler or clinical manager. Safe, controlled automation of tasks comes later, one step at a time.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2 · SETTLED DECISIONS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Six things that are not open for debate</a:t>
            </a:r>
            <a:endParaRPr lang="en-US" sz="3000" dirty="0"/>
          </a:p>
        </p:txBody>
      </p:sp>
      <p:sp>
        <p:nvSpPr>
          <p:cNvPr id="5" name="card-61"/>
          <p:cNvSpPr/>
          <p:nvPr/>
        </p:nvSpPr>
        <p:spPr>
          <a:xfrm>
            <a:off x="777240" y="1874520"/>
            <a:ext cx="3337560" cy="18288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6" name="card-text-62"/>
          <p:cNvSpPr txBox="1"/>
          <p:nvPr/>
        </p:nvSpPr>
        <p:spPr>
          <a:xfrm>
            <a:off x="822960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People decide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scheduler or clinical manager accepts or edits each suggestion. Clinicians enter their own availability.</a:t>
            </a:r>
            <a:endParaRPr lang="en-US" sz="1900" dirty="0"/>
          </a:p>
        </p:txBody>
      </p:sp>
      <p:sp>
        <p:nvSpPr>
          <p:cNvPr id="7" name="card-63"/>
          <p:cNvSpPr/>
          <p:nvPr/>
        </p:nvSpPr>
        <p:spPr>
          <a:xfrm>
            <a:off x="4414418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64"/>
          <p:cNvSpPr txBox="1"/>
          <p:nvPr/>
        </p:nvSpPr>
        <p:spPr>
          <a:xfrm>
            <a:off x="4460138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Automation by gate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One task at a time, low-risk and rules-based first. Never clinical judgment.</a:t>
            </a:r>
            <a:endParaRPr lang="en-US" sz="1900" dirty="0"/>
          </a:p>
        </p:txBody>
      </p:sp>
      <p:sp>
        <p:nvSpPr>
          <p:cNvPr id="9" name="card-65"/>
          <p:cNvSpPr/>
          <p:nvPr/>
        </p:nvSpPr>
        <p:spPr>
          <a:xfrm>
            <a:off x="8051597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66"/>
          <p:cNvSpPr txBox="1"/>
          <p:nvPr/>
        </p:nvSpPr>
        <p:spPr>
          <a:xfrm>
            <a:off x="8097317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place, not two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capacity tool replaces the pending list and the tracking spreadsheets branches keep today.</a:t>
            </a:r>
            <a:endParaRPr lang="en-US" sz="1900" dirty="0"/>
          </a:p>
        </p:txBody>
      </p:sp>
      <p:sp>
        <p:nvSpPr>
          <p:cNvPr id="11" name="card-67"/>
          <p:cNvSpPr/>
          <p:nvPr/>
        </p:nvSpPr>
        <p:spPr>
          <a:xfrm>
            <a:off x="777240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-text-68"/>
          <p:cNvSpPr txBox="1"/>
          <p:nvPr/>
        </p:nvSpPr>
        <p:spPr>
          <a:xfrm>
            <a:off x="822960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Team at referral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system suggests the whole care team once. A person approves. Visits follow that team.</a:t>
            </a:r>
            <a:endParaRPr lang="en-US" sz="1900" dirty="0"/>
          </a:p>
        </p:txBody>
      </p:sp>
      <p:sp>
        <p:nvSpPr>
          <p:cNvPr id="13" name="card-69"/>
          <p:cNvSpPr/>
          <p:nvPr/>
        </p:nvSpPr>
        <p:spPr>
          <a:xfrm>
            <a:off x="4414418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card-text-70"/>
          <p:cNvSpPr txBox="1"/>
          <p:nvPr/>
        </p:nvSpPr>
        <p:spPr>
          <a:xfrm>
            <a:off x="4460138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Assistants first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Routine visits go to the LPN or PTA by default. The RN or PT opts out when the patient needs them.</a:t>
            </a:r>
            <a:endParaRPr lang="en-US" sz="1900" dirty="0"/>
          </a:p>
        </p:txBody>
      </p:sp>
      <p:sp>
        <p:nvSpPr>
          <p:cNvPr id="15" name="card-71"/>
          <p:cNvSpPr/>
          <p:nvPr/>
        </p:nvSpPr>
        <p:spPr>
          <a:xfrm>
            <a:off x="8051597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card-text-72"/>
          <p:cNvSpPr txBox="1"/>
          <p:nvPr/>
        </p:nvSpPr>
        <p:spPr>
          <a:xfrm>
            <a:off x="8097317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Schedulers stay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smaller team, focused on urgency, local knowledge and the relationships that cover a Friday.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TODAY, SIMPLIFIED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Most delays happen before the scheduler sees the patient</a:t>
            </a:r>
            <a:endParaRPr lang="en-US" sz="3000" dirty="0"/>
          </a:p>
        </p:txBody>
      </p:sp>
      <p:sp>
        <p:nvSpPr>
          <p:cNvPr id="5" name="actor-step-73"/>
          <p:cNvSpPr/>
          <p:nvPr/>
        </p:nvSpPr>
        <p:spPr>
          <a:xfrm>
            <a:off x="777240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1F6F78"/>
          </a:solidFill>
          <a:ln/>
        </p:spPr>
      </p:sp>
      <p:sp>
        <p:nvSpPr>
          <p:cNvPr id="6" name="actor-text-74"/>
          <p:cNvSpPr txBox="1"/>
          <p:nvPr/>
        </p:nvSpPr>
        <p:spPr>
          <a:xfrm>
            <a:off x="777240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Intake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Referral received</a:t>
            </a:r>
            <a:endParaRPr lang="en-US" sz="1200" dirty="0"/>
          </a:p>
        </p:txBody>
      </p:sp>
      <p:sp>
        <p:nvSpPr>
          <p:cNvPr id="7" name="arrow-75"/>
          <p:cNvSpPr/>
          <p:nvPr/>
        </p:nvSpPr>
        <p:spPr>
          <a:xfrm>
            <a:off x="2655532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8" name="actor-step-76"/>
          <p:cNvSpPr/>
          <p:nvPr/>
        </p:nvSpPr>
        <p:spPr>
          <a:xfrm>
            <a:off x="2979344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DF751D"/>
          </a:solidFill>
          <a:ln/>
        </p:spPr>
      </p:sp>
      <p:sp>
        <p:nvSpPr>
          <p:cNvPr id="9" name="actor-text-77"/>
          <p:cNvSpPr txBox="1"/>
          <p:nvPr/>
        </p:nvSpPr>
        <p:spPr>
          <a:xfrm>
            <a:off x="2979344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B1208"/>
                </a:solidFill>
              </a:rPr>
              <a:t>Auth team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1208"/>
                </a:solidFill>
              </a:rPr>
              <a:t>Eligibility and authorization</a:t>
            </a:r>
            <a:endParaRPr lang="en-US" sz="1200" dirty="0"/>
          </a:p>
        </p:txBody>
      </p:sp>
      <p:sp>
        <p:nvSpPr>
          <p:cNvPr id="10" name="arrow-78"/>
          <p:cNvSpPr/>
          <p:nvPr/>
        </p:nvSpPr>
        <p:spPr>
          <a:xfrm>
            <a:off x="4857636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1" name="actor-step-79"/>
          <p:cNvSpPr/>
          <p:nvPr/>
        </p:nvSpPr>
        <p:spPr>
          <a:xfrm>
            <a:off x="5181448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792E2E"/>
          </a:solidFill>
          <a:ln/>
        </p:spPr>
      </p:sp>
      <p:sp>
        <p:nvSpPr>
          <p:cNvPr id="12" name="actor-text-80"/>
          <p:cNvSpPr txBox="1"/>
          <p:nvPr/>
        </p:nvSpPr>
        <p:spPr>
          <a:xfrm>
            <a:off x="5181448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DCS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Plan-of-care review</a:t>
            </a:r>
            <a:endParaRPr lang="en-US" sz="1200" dirty="0"/>
          </a:p>
        </p:txBody>
      </p:sp>
      <p:sp>
        <p:nvSpPr>
          <p:cNvPr id="13" name="arrow-81"/>
          <p:cNvSpPr/>
          <p:nvPr/>
        </p:nvSpPr>
        <p:spPr>
          <a:xfrm>
            <a:off x="7059740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4" name="actor-step-82"/>
          <p:cNvSpPr/>
          <p:nvPr/>
        </p:nvSpPr>
        <p:spPr>
          <a:xfrm>
            <a:off x="7383551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C6A01F"/>
          </a:solidFill>
          <a:ln/>
        </p:spPr>
      </p:sp>
      <p:sp>
        <p:nvSpPr>
          <p:cNvPr id="15" name="actor-text-83"/>
          <p:cNvSpPr txBox="1"/>
          <p:nvPr/>
        </p:nvSpPr>
        <p:spPr>
          <a:xfrm>
            <a:off x="7383551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B1503"/>
                </a:solidFill>
              </a:rPr>
              <a:t>Scheduler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B1503"/>
                </a:solidFill>
              </a:rPr>
              <a:t>Assign the care team</a:t>
            </a:r>
            <a:endParaRPr lang="en-US" sz="1200" dirty="0"/>
          </a:p>
        </p:txBody>
      </p:sp>
      <p:sp>
        <p:nvSpPr>
          <p:cNvPr id="16" name="arrow-84"/>
          <p:cNvSpPr/>
          <p:nvPr/>
        </p:nvSpPr>
        <p:spPr>
          <a:xfrm>
            <a:off x="9261843" y="2459736"/>
            <a:ext cx="274320" cy="201168"/>
          </a:xfrm>
          <a:prstGeom prst="rightArrow">
            <a:avLst/>
          </a:prstGeom>
          <a:solidFill>
            <a:srgbClr val="5A6560"/>
          </a:solidFill>
          <a:ln/>
        </p:spPr>
      </p:sp>
      <p:sp>
        <p:nvSpPr>
          <p:cNvPr id="17" name="actor-step-85"/>
          <p:cNvSpPr/>
          <p:nvPr/>
        </p:nvSpPr>
        <p:spPr>
          <a:xfrm>
            <a:off x="9585655" y="2057400"/>
            <a:ext cx="1828800" cy="1005840"/>
          </a:xfrm>
          <a:prstGeom prst="roundRect">
            <a:avLst>
              <a:gd name="adj" fmla="val 7273"/>
            </a:avLst>
          </a:prstGeom>
          <a:solidFill>
            <a:srgbClr val="2E599D"/>
          </a:solidFill>
          <a:ln/>
        </p:spPr>
      </p:sp>
      <p:sp>
        <p:nvSpPr>
          <p:cNvPr id="18" name="actor-text-86"/>
          <p:cNvSpPr txBox="1"/>
          <p:nvPr/>
        </p:nvSpPr>
        <p:spPr>
          <a:xfrm>
            <a:off x="9585655" y="2057400"/>
            <a:ext cx="1828800" cy="100584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</a:rPr>
              <a:t>Clinician</a:t>
            </a:r>
            <a:endParaRPr lang="en-US" sz="12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Plot and make visits</a:t>
            </a:r>
            <a:endParaRPr lang="en-US" sz="1200" dirty="0"/>
          </a:p>
        </p:txBody>
      </p:sp>
      <p:sp>
        <p:nvSpPr>
          <p:cNvPr id="19" name="stall-87"/>
          <p:cNvSpPr/>
          <p:nvPr/>
        </p:nvSpPr>
        <p:spPr>
          <a:xfrm>
            <a:off x="2979344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F751D"/>
            </a:solidFill>
            <a:prstDash val="dash"/>
          </a:ln>
        </p:spPr>
      </p:sp>
      <p:sp>
        <p:nvSpPr>
          <p:cNvPr id="20" name="text-88"/>
          <p:cNvSpPr txBox="1"/>
          <p:nvPr/>
        </p:nvSpPr>
        <p:spPr>
          <a:xfrm>
            <a:off x="3089072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Stuck in auth before it reaches scheduling. Pending visits are invisible and don't count.</a:t>
            </a:r>
            <a:endParaRPr lang="en-US" sz="1300" dirty="0"/>
          </a:p>
        </p:txBody>
      </p:sp>
      <p:sp>
        <p:nvSpPr>
          <p:cNvPr id="21" name="stall-89"/>
          <p:cNvSpPr/>
          <p:nvPr/>
        </p:nvSpPr>
        <p:spPr>
          <a:xfrm>
            <a:off x="5181448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792E2E"/>
            </a:solidFill>
            <a:prstDash val="dash"/>
          </a:ln>
        </p:spPr>
      </p:sp>
      <p:sp>
        <p:nvSpPr>
          <p:cNvPr id="22" name="text-90"/>
          <p:cNvSpPr txBox="1"/>
          <p:nvPr/>
        </p:nvSpPr>
        <p:spPr>
          <a:xfrm>
            <a:off x="5291176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Every order routes here. When review is behind, an LPN sits idle and three days of visits land on one.</a:t>
            </a:r>
            <a:endParaRPr lang="en-US" sz="1300" dirty="0"/>
          </a:p>
        </p:txBody>
      </p:sp>
      <p:sp>
        <p:nvSpPr>
          <p:cNvPr id="23" name="stall-91"/>
          <p:cNvSpPr/>
          <p:nvPr/>
        </p:nvSpPr>
        <p:spPr>
          <a:xfrm>
            <a:off x="7383551" y="3337560"/>
            <a:ext cx="18288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C6A01F"/>
            </a:solidFill>
            <a:prstDash val="dash"/>
          </a:ln>
        </p:spPr>
      </p:sp>
      <p:sp>
        <p:nvSpPr>
          <p:cNvPr id="24" name="text-92"/>
          <p:cNvSpPr txBox="1"/>
          <p:nvPr/>
        </p:nvSpPr>
        <p:spPr>
          <a:xfrm>
            <a:off x="7493279" y="3447288"/>
            <a:ext cx="1609344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One task per discipline, twice. Eight tasks for one care-team decision.</a:t>
            </a:r>
            <a:endParaRPr lang="en-US" sz="1300" dirty="0"/>
          </a:p>
        </p:txBody>
      </p:sp>
      <p:sp>
        <p:nvSpPr>
          <p:cNvPr id="25" name="text-93"/>
          <p:cNvSpPr txBox="1"/>
          <p:nvPr/>
        </p:nvSpPr>
        <p:spPr>
          <a:xfrm>
            <a:off x="777240" y="5577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chemeClr val="accent6"/>
                </a:solidFill>
              </a:rPr>
              <a:t>Full current-state flow maps: companion reference packet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THE BOTTLENECKS, RANKED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Push hardest on these four</a:t>
            </a:r>
            <a:endParaRPr lang="en-US" sz="3000" dirty="0"/>
          </a:p>
        </p:txBody>
      </p:sp>
      <p:sp>
        <p:nvSpPr>
          <p:cNvPr id="5" name="card-94"/>
          <p:cNvSpPr/>
          <p:nvPr/>
        </p:nvSpPr>
        <p:spPr>
          <a:xfrm>
            <a:off x="777240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95"/>
          <p:cNvSpPr txBox="1"/>
          <p:nvPr/>
        </p:nvSpPr>
        <p:spPr>
          <a:xfrm>
            <a:off x="822960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authorization cycle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Plans of care are written without the payer's limits, then auth doesn't come.</a:t>
            </a:r>
            <a:endParaRPr lang="en-US" sz="3600" dirty="0"/>
          </a:p>
        </p:txBody>
      </p:sp>
      <p:sp>
        <p:nvSpPr>
          <p:cNvPr id="7" name="card-96"/>
          <p:cNvSpPr/>
          <p:nvPr/>
        </p:nvSpPr>
        <p:spPr>
          <a:xfrm>
            <a:off x="3493694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8" name="card-text-97"/>
          <p:cNvSpPr txBox="1"/>
          <p:nvPr/>
        </p:nvSpPr>
        <p:spPr>
          <a:xfrm>
            <a:off x="3539414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Invisible pending visits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Visits waiting on auth sit on a sticky note. They don't count as load.</a:t>
            </a:r>
            <a:endParaRPr lang="en-US" sz="3600" dirty="0"/>
          </a:p>
        </p:txBody>
      </p:sp>
      <p:sp>
        <p:nvSpPr>
          <p:cNvPr id="9" name="card-98"/>
          <p:cNvSpPr/>
          <p:nvPr/>
        </p:nvSpPr>
        <p:spPr>
          <a:xfrm>
            <a:off x="6210148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0" name="card-text-99"/>
          <p:cNvSpPr txBox="1"/>
          <p:nvPr/>
        </p:nvSpPr>
        <p:spPr>
          <a:xfrm>
            <a:off x="6255868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DCS review backlog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Every order waits on DCS approval before visits can be added.</a:t>
            </a:r>
            <a:endParaRPr lang="en-US" sz="3600" dirty="0"/>
          </a:p>
        </p:txBody>
      </p:sp>
      <p:sp>
        <p:nvSpPr>
          <p:cNvPr id="11" name="card-100"/>
          <p:cNvSpPr/>
          <p:nvPr/>
        </p:nvSpPr>
        <p:spPr>
          <a:xfrm>
            <a:off x="8926601" y="1874520"/>
            <a:ext cx="2468880" cy="242316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card-text-101"/>
          <p:cNvSpPr txBox="1"/>
          <p:nvPr/>
        </p:nvSpPr>
        <p:spPr>
          <a:xfrm>
            <a:off x="8972321" y="1920240"/>
            <a:ext cx="2377440" cy="23317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task explosion</a:t>
            </a:r>
            <a:endParaRPr lang="en-US" sz="3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Eight scheduler tasks for one care-team decision.</a:t>
            </a:r>
            <a:endParaRPr lang="en-US" sz="3600" dirty="0"/>
          </a:p>
        </p:txBody>
      </p:sp>
      <p:sp>
        <p:nvSpPr>
          <p:cNvPr id="13" name="text-102"/>
          <p:cNvSpPr txBox="1"/>
          <p:nvPr/>
        </p:nvSpPr>
        <p:spPr>
          <a:xfrm>
            <a:off x="777240" y="4572000"/>
            <a:ext cx="10637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chemeClr val="accent6"/>
                </a:solidFill>
              </a:rPr>
              <a:t>ALSO ON THE LIST · DETAILS IN THE APPENDIX</a:t>
            </a:r>
            <a:endParaRPr lang="en-US" sz="1100" dirty="0"/>
          </a:p>
        </p:txBody>
      </p:sp>
      <p:sp>
        <p:nvSpPr>
          <p:cNvPr id="14" name="pill-103"/>
          <p:cNvSpPr/>
          <p:nvPr/>
        </p:nvSpPr>
        <p:spPr>
          <a:xfrm>
            <a:off x="777240" y="4919472"/>
            <a:ext cx="1147572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5" name="text-104"/>
          <p:cNvSpPr txBox="1"/>
          <p:nvPr/>
        </p:nvSpPr>
        <p:spPr>
          <a:xfrm>
            <a:off x="777240" y="4919472"/>
            <a:ext cx="11475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Territory</a:t>
            </a:r>
            <a:endParaRPr lang="en-US" sz="1300" dirty="0"/>
          </a:p>
        </p:txBody>
      </p:sp>
      <p:sp>
        <p:nvSpPr>
          <p:cNvPr id="16" name="pill-105"/>
          <p:cNvSpPr/>
          <p:nvPr/>
        </p:nvSpPr>
        <p:spPr>
          <a:xfrm>
            <a:off x="2061972" y="4919472"/>
            <a:ext cx="2189988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7" name="text-106"/>
          <p:cNvSpPr txBox="1"/>
          <p:nvPr/>
        </p:nvSpPr>
        <p:spPr>
          <a:xfrm>
            <a:off x="2061972" y="4919472"/>
            <a:ext cx="21899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Discipline-role match</a:t>
            </a:r>
            <a:endParaRPr lang="en-US" sz="1300" dirty="0"/>
          </a:p>
        </p:txBody>
      </p:sp>
      <p:sp>
        <p:nvSpPr>
          <p:cNvPr id="18" name="pill-107"/>
          <p:cNvSpPr/>
          <p:nvPr/>
        </p:nvSpPr>
        <p:spPr>
          <a:xfrm>
            <a:off x="4389120" y="4919472"/>
            <a:ext cx="1842516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19" name="text-108"/>
          <p:cNvSpPr txBox="1"/>
          <p:nvPr/>
        </p:nvSpPr>
        <p:spPr>
          <a:xfrm>
            <a:off x="4389120" y="4919472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Call-out recovery</a:t>
            </a:r>
            <a:endParaRPr lang="en-US" sz="1300" dirty="0"/>
          </a:p>
        </p:txBody>
      </p:sp>
      <p:sp>
        <p:nvSpPr>
          <p:cNvPr id="20" name="pill-109"/>
          <p:cNvSpPr/>
          <p:nvPr/>
        </p:nvSpPr>
        <p:spPr>
          <a:xfrm>
            <a:off x="6368796" y="4919472"/>
            <a:ext cx="192938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1" name="text-110"/>
          <p:cNvSpPr txBox="1"/>
          <p:nvPr/>
        </p:nvSpPr>
        <p:spPr>
          <a:xfrm>
            <a:off x="6368796" y="491947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Confirmation calls</a:t>
            </a:r>
            <a:endParaRPr lang="en-US" sz="1300" dirty="0"/>
          </a:p>
        </p:txBody>
      </p:sp>
      <p:sp>
        <p:nvSpPr>
          <p:cNvPr id="22" name="pill-111"/>
          <p:cNvSpPr/>
          <p:nvPr/>
        </p:nvSpPr>
        <p:spPr>
          <a:xfrm>
            <a:off x="8435340" y="4919472"/>
            <a:ext cx="192938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3" name="text-112"/>
          <p:cNvSpPr txBox="1"/>
          <p:nvPr/>
        </p:nvSpPr>
        <p:spPr>
          <a:xfrm>
            <a:off x="8435340" y="4919472"/>
            <a:ext cx="1929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The readiness call</a:t>
            </a:r>
            <a:endParaRPr lang="en-US" sz="1300" dirty="0"/>
          </a:p>
        </p:txBody>
      </p:sp>
      <p:sp>
        <p:nvSpPr>
          <p:cNvPr id="24" name="pill-113"/>
          <p:cNvSpPr/>
          <p:nvPr/>
        </p:nvSpPr>
        <p:spPr>
          <a:xfrm>
            <a:off x="777240" y="5376672"/>
            <a:ext cx="1581912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5" name="text-114"/>
          <p:cNvSpPr txBox="1"/>
          <p:nvPr/>
        </p:nvSpPr>
        <p:spPr>
          <a:xfrm>
            <a:off x="777240" y="5376672"/>
            <a:ext cx="1581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Workflow noise</a:t>
            </a:r>
            <a:endParaRPr lang="en-US" sz="1300" dirty="0"/>
          </a:p>
        </p:txBody>
      </p:sp>
      <p:sp>
        <p:nvSpPr>
          <p:cNvPr id="26" name="pill-115"/>
          <p:cNvSpPr/>
          <p:nvPr/>
        </p:nvSpPr>
        <p:spPr>
          <a:xfrm>
            <a:off x="2496312" y="5376672"/>
            <a:ext cx="1842516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7" name="text-116"/>
          <p:cNvSpPr txBox="1"/>
          <p:nvPr/>
        </p:nvSpPr>
        <p:spPr>
          <a:xfrm>
            <a:off x="2496312" y="5376672"/>
            <a:ext cx="18425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Per-diem capacity</a:t>
            </a:r>
            <a:endParaRPr lang="en-US" sz="1300" dirty="0"/>
          </a:p>
        </p:txBody>
      </p:sp>
      <p:sp>
        <p:nvSpPr>
          <p:cNvPr id="28" name="pill-117"/>
          <p:cNvSpPr/>
          <p:nvPr/>
        </p:nvSpPr>
        <p:spPr>
          <a:xfrm>
            <a:off x="4475988" y="5376672"/>
            <a:ext cx="2798064" cy="36576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</p:sp>
      <p:sp>
        <p:nvSpPr>
          <p:cNvPr id="29" name="text-118"/>
          <p:cNvSpPr txBox="1"/>
          <p:nvPr/>
        </p:nvSpPr>
        <p:spPr>
          <a:xfrm>
            <a:off x="4475988" y="5376672"/>
            <a:ext cx="27980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POA status found at the door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PAYER AND EPISODE RULES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You know PDGM. The question is what the tool does with it.</a:t>
            </a:r>
            <a:endParaRPr lang="en-US" sz="3000" dirty="0"/>
          </a:p>
        </p:txBody>
      </p:sp>
      <p:sp>
        <p:nvSpPr>
          <p:cNvPr id="5" name="text-119"/>
          <p:cNvSpPr txBox="1"/>
          <p:nvPr/>
        </p:nvSpPr>
        <p:spPr>
          <a:xfrm>
            <a:off x="777240" y="1874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chemeClr val="tx2"/>
                </a:solidFill>
              </a:rPr>
              <a:t>THE TOOL MUST</a:t>
            </a:r>
            <a:endParaRPr lang="en-US" sz="1100" dirty="0"/>
          </a:p>
        </p:txBody>
      </p:sp>
      <p:sp>
        <p:nvSpPr>
          <p:cNvPr id="6" name="must-120"/>
          <p:cNvSpPr txBox="1"/>
          <p:nvPr/>
        </p:nvSpPr>
        <p:spPr>
          <a:xfrm>
            <a:off x="777240" y="228600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Show the floor and the ceiling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For each 30-day period, at the moment a visit is missed, not in tomorrow's report.</a:t>
            </a:r>
            <a:endParaRPr lang="en-US" sz="1700" dirty="0"/>
          </a:p>
        </p:txBody>
      </p:sp>
      <p:sp>
        <p:nvSpPr>
          <p:cNvPr id="7" name="must-121"/>
          <p:cNvSpPr txBox="1"/>
          <p:nvPr/>
        </p:nvSpPr>
        <p:spPr>
          <a:xfrm>
            <a:off x="777240" y="347472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Surface payer rules early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When the plan of care is written. Auth already captures them in a note.</a:t>
            </a:r>
            <a:endParaRPr lang="en-US" sz="1700" dirty="0"/>
          </a:p>
        </p:txBody>
      </p:sp>
      <p:sp>
        <p:nvSpPr>
          <p:cNvPr id="8" name="must-122"/>
          <p:cNvSpPr txBox="1"/>
          <p:nvPr/>
        </p:nvSpPr>
        <p:spPr>
          <a:xfrm>
            <a:off x="777240" y="4663440"/>
            <a:ext cx="4937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Never outrank clinical need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The visit budget informs the clinician. It never decides for them.</a:t>
            </a:r>
            <a:endParaRPr lang="en-US" sz="1700" dirty="0"/>
          </a:p>
        </p:txBody>
      </p:sp>
      <p:graphicFrame>
        <p:nvGraphicFramePr>
          <p:cNvPr id="13" name="table-1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874520"/>
          <a:ext cx="5239512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26334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Rule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Why scheduling cares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Two 30-day periods per cert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Each has its own LUPA line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LUPA thresholds of 2–6 visits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One missed visit can drop a period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Pending-auth limits of 1, 3, 5 or 10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Caps how far ahead we can book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Shared therapy pools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PT, OT and ST draw on one count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Benefit clock from discharge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Days are lost before we start</a:t>
                      </a:r>
                      <a:endParaRPr lang="en-US" sz="14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CLINICIAN ADOPTION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Adoption decides the outcome</a:t>
            </a:r>
            <a:endParaRPr lang="en-US" sz="3000" dirty="0"/>
          </a:p>
        </p:txBody>
      </p:sp>
      <p:sp>
        <p:nvSpPr>
          <p:cNvPr id="5" name="card-124"/>
          <p:cNvSpPr/>
          <p:nvPr/>
        </p:nvSpPr>
        <p:spPr>
          <a:xfrm>
            <a:off x="777240" y="187452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125"/>
          <p:cNvSpPr txBox="1"/>
          <p:nvPr/>
        </p:nvSpPr>
        <p:spPr>
          <a:xfrm>
            <a:off x="822960" y="192024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An assistant, not a boss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Flexibility is why clinicians choose home health. A tool that takes it away will be worked around.</a:t>
            </a:r>
            <a:endParaRPr lang="en-US" sz="1900" dirty="0"/>
          </a:p>
        </p:txBody>
      </p:sp>
      <p:sp>
        <p:nvSpPr>
          <p:cNvPr id="7" name="card-126"/>
          <p:cNvSpPr/>
          <p:nvPr/>
        </p:nvSpPr>
        <p:spPr>
          <a:xfrm>
            <a:off x="6233008" y="187452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127"/>
          <p:cNvSpPr txBox="1"/>
          <p:nvPr/>
        </p:nvSpPr>
        <p:spPr>
          <a:xfrm>
            <a:off x="6278728" y="192024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Machines get second-guessed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Clinicians turn down a visit from a tool that they'd accept from a scheduler. Trust has to be earned.</a:t>
            </a:r>
            <a:endParaRPr lang="en-US" sz="1900" dirty="0"/>
          </a:p>
        </p:txBody>
      </p:sp>
      <p:sp>
        <p:nvSpPr>
          <p:cNvPr id="9" name="card-128"/>
          <p:cNvSpPr/>
          <p:nvPr/>
        </p:nvSpPr>
        <p:spPr>
          <a:xfrm>
            <a:off x="777240" y="379476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129"/>
          <p:cNvSpPr txBox="1"/>
          <p:nvPr/>
        </p:nvSpPr>
        <p:spPr>
          <a:xfrm>
            <a:off x="822960" y="384048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Most are paid per visit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About 70% of clinicians. Saved drive time doesn't save us money. The case to them is a better day.</a:t>
            </a:r>
            <a:endParaRPr lang="en-US" sz="1900" dirty="0"/>
          </a:p>
        </p:txBody>
      </p:sp>
      <p:sp>
        <p:nvSpPr>
          <p:cNvPr id="11" name="card-130"/>
          <p:cNvSpPr/>
          <p:nvPr/>
        </p:nvSpPr>
        <p:spPr>
          <a:xfrm>
            <a:off x="6233008" y="3794760"/>
            <a:ext cx="5138928" cy="173736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131"/>
          <p:cNvSpPr txBox="1"/>
          <p:nvPr/>
        </p:nvSpPr>
        <p:spPr>
          <a:xfrm>
            <a:off x="6278728" y="3840480"/>
            <a:ext cx="5047488" cy="16459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Incentives aren't one size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Union and salaried staff need different approaches. Regular surge pay teaches people to hold out.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PATIENT ENGAGEMENT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weakest area for most vendors</a:t>
            </a:r>
            <a:endParaRPr lang="en-US" sz="3000" dirty="0"/>
          </a:p>
        </p:txBody>
      </p:sp>
      <p:sp>
        <p:nvSpPr>
          <p:cNvPr id="5" name="card-132"/>
          <p:cNvSpPr/>
          <p:nvPr/>
        </p:nvSpPr>
        <p:spPr>
          <a:xfrm>
            <a:off x="777240" y="1874520"/>
            <a:ext cx="3840480" cy="384048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33"/>
          <p:cNvSpPr txBox="1"/>
          <p:nvPr/>
        </p:nvSpPr>
        <p:spPr>
          <a:xfrm>
            <a:off x="822960" y="1920240"/>
            <a:ext cx="3749040" cy="374904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7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~30</a:t>
            </a:r>
            <a:endParaRPr lang="en-US" sz="7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unpaid minutes each evening a clinician spends confirming tomorrow's visits</a:t>
            </a:r>
            <a:endParaRPr lang="en-US" sz="72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9FB0C8"/>
                </a:solidFill>
              </a:rPr>
              <a:t>Across roughly 3,000 clinicians. Both figures are session estimates.</a:t>
            </a:r>
            <a:endParaRPr lang="en-US" sz="7200" dirty="0"/>
          </a:p>
        </p:txBody>
      </p:sp>
      <p:sp>
        <p:nvSpPr>
          <p:cNvPr id="7" name="item-134"/>
          <p:cNvSpPr txBox="1"/>
          <p:nvPr/>
        </p:nvSpPr>
        <p:spPr>
          <a:xfrm>
            <a:off x="5074920" y="18745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Consent comes at the first visit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Text and email consent isn't signed until start of care, so first contact is still a phone call.</a:t>
            </a:r>
            <a:endParaRPr lang="en-US" sz="1700" dirty="0"/>
          </a:p>
        </p:txBody>
      </p:sp>
      <p:sp>
        <p:nvSpPr>
          <p:cNvPr id="8" name="item-135"/>
          <p:cNvSpPr txBox="1"/>
          <p:nvPr/>
        </p:nvSpPr>
        <p:spPr>
          <a:xfrm>
            <a:off x="5074920" y="3172968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Give a window, never a time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An arrival range keeps the promise one the clinician can keep.</a:t>
            </a:r>
            <a:endParaRPr lang="en-US" sz="1700" dirty="0"/>
          </a:p>
        </p:txBody>
      </p:sp>
      <p:sp>
        <p:nvSpPr>
          <p:cNvPr id="9" name="item-136"/>
          <p:cNvSpPr txBox="1"/>
          <p:nvPr/>
        </p:nvSpPr>
        <p:spPr>
          <a:xfrm>
            <a:off x="5074920" y="4471416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Reliability is the experience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Patients judge us on showing up on time, seeing the same clinician, and hearing about changes before they happen.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3 · OUR SYSTEMS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Our systems weren't built to share information as it happens</a:t>
            </a:r>
            <a:endParaRPr lang="en-US" sz="3000" dirty="0"/>
          </a:p>
        </p:txBody>
      </p:sp>
      <p:sp>
        <p:nvSpPr>
          <p:cNvPr id="5" name="row-137"/>
          <p:cNvSpPr/>
          <p:nvPr/>
        </p:nvSpPr>
        <p:spPr>
          <a:xfrm>
            <a:off x="777240" y="187452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icon-circle-138"/>
          <p:cNvSpPr/>
          <p:nvPr/>
        </p:nvSpPr>
        <p:spPr>
          <a:xfrm>
            <a:off x="1005840" y="21214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-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2258568"/>
            <a:ext cx="274320" cy="274320"/>
          </a:xfrm>
          <a:prstGeom prst="rect">
            <a:avLst/>
          </a:prstGeom>
        </p:spPr>
      </p:pic>
      <p:sp>
        <p:nvSpPr>
          <p:cNvPr id="8" name="text-140"/>
          <p:cNvSpPr txBox="1"/>
          <p:nvPr/>
        </p:nvSpPr>
        <p:spPr>
          <a:xfrm>
            <a:off x="1783080" y="18745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Our main record system updates in batches, not live.</a:t>
            </a:r>
            <a:endParaRPr lang="en-US" sz="1500" dirty="0"/>
          </a:p>
        </p:txBody>
      </p:sp>
      <p:sp>
        <p:nvSpPr>
          <p:cNvPr id="9" name="row-141"/>
          <p:cNvSpPr/>
          <p:nvPr/>
        </p:nvSpPr>
        <p:spPr>
          <a:xfrm>
            <a:off x="6233008" y="187452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icon-circle-142"/>
          <p:cNvSpPr/>
          <p:nvPr/>
        </p:nvSpPr>
        <p:spPr>
          <a:xfrm>
            <a:off x="6461608" y="212140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1" name="icon-1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768" y="2258568"/>
            <a:ext cx="274320" cy="274320"/>
          </a:xfrm>
          <a:prstGeom prst="rect">
            <a:avLst/>
          </a:prstGeom>
        </p:spPr>
      </p:pic>
      <p:sp>
        <p:nvSpPr>
          <p:cNvPr id="12" name="text-144"/>
          <p:cNvSpPr txBox="1"/>
          <p:nvPr/>
        </p:nvSpPr>
        <p:spPr>
          <a:xfrm>
            <a:off x="7238848" y="187452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Visit notes can arrive days late, so a finished visit can look undone.</a:t>
            </a:r>
            <a:endParaRPr lang="en-US" sz="1500" dirty="0"/>
          </a:p>
        </p:txBody>
      </p:sp>
      <p:sp>
        <p:nvSpPr>
          <p:cNvPr id="13" name="row-145"/>
          <p:cNvSpPr/>
          <p:nvPr/>
        </p:nvSpPr>
        <p:spPr>
          <a:xfrm>
            <a:off x="777240" y="310896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icon-circle-146"/>
          <p:cNvSpPr/>
          <p:nvPr/>
        </p:nvSpPr>
        <p:spPr>
          <a:xfrm>
            <a:off x="1005840" y="33558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icon-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93008"/>
            <a:ext cx="274320" cy="274320"/>
          </a:xfrm>
          <a:prstGeom prst="rect">
            <a:avLst/>
          </a:prstGeom>
        </p:spPr>
      </p:pic>
      <p:sp>
        <p:nvSpPr>
          <p:cNvPr id="16" name="text-148"/>
          <p:cNvSpPr txBox="1"/>
          <p:nvPr/>
        </p:nvSpPr>
        <p:spPr>
          <a:xfrm>
            <a:off x="1783080" y="310896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Time off lives in a separate system that isn't connected.</a:t>
            </a:r>
            <a:endParaRPr lang="en-US" sz="1500" dirty="0"/>
          </a:p>
        </p:txBody>
      </p:sp>
      <p:sp>
        <p:nvSpPr>
          <p:cNvPr id="17" name="row-149"/>
          <p:cNvSpPr/>
          <p:nvPr/>
        </p:nvSpPr>
        <p:spPr>
          <a:xfrm>
            <a:off x="6233008" y="3108960"/>
            <a:ext cx="5138928" cy="10515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icon-circle-150"/>
          <p:cNvSpPr/>
          <p:nvPr/>
        </p:nvSpPr>
        <p:spPr>
          <a:xfrm>
            <a:off x="6461608" y="335584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15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768" y="3493008"/>
            <a:ext cx="274320" cy="274320"/>
          </a:xfrm>
          <a:prstGeom prst="rect">
            <a:avLst/>
          </a:prstGeom>
        </p:spPr>
      </p:pic>
      <p:sp>
        <p:nvSpPr>
          <p:cNvPr id="20" name="text-152"/>
          <p:cNvSpPr txBox="1"/>
          <p:nvPr/>
        </p:nvSpPr>
        <p:spPr>
          <a:xfrm>
            <a:off x="7238848" y="3108960"/>
            <a:ext cx="3977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Intake, documentation and utilization each sit in their own tool.</a:t>
            </a:r>
            <a:endParaRPr lang="en-US" sz="1500" dirty="0"/>
          </a:p>
        </p:txBody>
      </p:sp>
      <p:sp>
        <p:nvSpPr>
          <p:cNvPr id="21" name="callout-153"/>
          <p:cNvSpPr/>
          <p:nvPr/>
        </p:nvSpPr>
        <p:spPr>
          <a:xfrm>
            <a:off x="777240" y="4526280"/>
            <a:ext cx="10637215" cy="5943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22" name="callout-text-154"/>
          <p:cNvSpPr txBox="1"/>
          <p:nvPr/>
        </p:nvSpPr>
        <p:spPr>
          <a:xfrm>
            <a:off x="1005840" y="4526280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Ask each vendor: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where does this suggestion get its information, and how current is it?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4 · YOUR ROLE WITH THE TOOL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Picture your day when the tool makes suggestions</a:t>
            </a:r>
            <a:endParaRPr lang="en-US" sz="3000" dirty="0"/>
          </a:p>
        </p:txBody>
      </p:sp>
      <p:sp>
        <p:nvSpPr>
          <p:cNvPr id="5" name="card-155"/>
          <p:cNvSpPr/>
          <p:nvPr/>
        </p:nvSpPr>
        <p:spPr>
          <a:xfrm>
            <a:off x="777240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156"/>
          <p:cNvSpPr txBox="1"/>
          <p:nvPr/>
        </p:nvSpPr>
        <p:spPr>
          <a:xfrm>
            <a:off x="822960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you approve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suggestions need you, which you can ignore, and how fast you can clear them.</a:t>
            </a:r>
            <a:endParaRPr lang="en-US" sz="1900" dirty="0"/>
          </a:p>
        </p:txBody>
      </p:sp>
      <p:sp>
        <p:nvSpPr>
          <p:cNvPr id="7" name="card-157"/>
          <p:cNvSpPr/>
          <p:nvPr/>
        </p:nvSpPr>
        <p:spPr>
          <a:xfrm>
            <a:off x="6233008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158"/>
          <p:cNvSpPr txBox="1"/>
          <p:nvPr/>
        </p:nvSpPr>
        <p:spPr>
          <a:xfrm>
            <a:off x="6278728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it shows up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 queue, an alert, or right inside the work you're already doing.</a:t>
            </a:r>
            <a:endParaRPr lang="en-US" sz="1900" dirty="0"/>
          </a:p>
        </p:txBody>
      </p:sp>
      <p:sp>
        <p:nvSpPr>
          <p:cNvPr id="9" name="card-159"/>
          <p:cNvSpPr/>
          <p:nvPr/>
        </p:nvSpPr>
        <p:spPr>
          <a:xfrm>
            <a:off x="777240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160"/>
          <p:cNvSpPr txBox="1"/>
          <p:nvPr/>
        </p:nvSpPr>
        <p:spPr>
          <a:xfrm>
            <a:off x="822960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When you overrule 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How easy it is, whether it asks why, and whether it learns.</a:t>
            </a:r>
            <a:endParaRPr lang="en-US" sz="1900" dirty="0"/>
          </a:p>
        </p:txBody>
      </p:sp>
      <p:sp>
        <p:nvSpPr>
          <p:cNvPr id="11" name="card-161"/>
          <p:cNvSpPr/>
          <p:nvPr/>
        </p:nvSpPr>
        <p:spPr>
          <a:xfrm>
            <a:off x="6233008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162"/>
          <p:cNvSpPr txBox="1"/>
          <p:nvPr/>
        </p:nvSpPr>
        <p:spPr>
          <a:xfrm>
            <a:off x="6278728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stays yours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Clinical sign-off on call-out triage and coverage stays with the clinical manager.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4 · HOW WE'LL JUDGE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One standard for all three finalists</a:t>
            </a:r>
            <a:endParaRPr lang="en-US" sz="3000" dirty="0"/>
          </a:p>
        </p:txBody>
      </p:sp>
      <p:sp>
        <p:nvSpPr>
          <p:cNvPr id="5" name="card-163"/>
          <p:cNvSpPr/>
          <p:nvPr/>
        </p:nvSpPr>
        <p:spPr>
          <a:xfrm>
            <a:off x="777240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164"/>
          <p:cNvSpPr txBox="1"/>
          <p:nvPr/>
        </p:nvSpPr>
        <p:spPr>
          <a:xfrm>
            <a:off x="822960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explains itself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Every suggestion shows why: points left, distance, continuity, auth status.</a:t>
            </a:r>
            <a:endParaRPr lang="en-US" sz="1900" dirty="0"/>
          </a:p>
        </p:txBody>
      </p:sp>
      <p:sp>
        <p:nvSpPr>
          <p:cNvPr id="7" name="card-165"/>
          <p:cNvSpPr/>
          <p:nvPr/>
        </p:nvSpPr>
        <p:spPr>
          <a:xfrm>
            <a:off x="4414418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166"/>
          <p:cNvSpPr txBox="1"/>
          <p:nvPr/>
        </p:nvSpPr>
        <p:spPr>
          <a:xfrm>
            <a:off x="4460138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respects hard rules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OASIS windows, the 60-day cert, auth limits and scope of practice. It never suggests a violation.</a:t>
            </a:r>
            <a:endParaRPr lang="en-US" sz="1900" dirty="0"/>
          </a:p>
        </p:txBody>
      </p:sp>
      <p:sp>
        <p:nvSpPr>
          <p:cNvPr id="9" name="card-167"/>
          <p:cNvSpPr/>
          <p:nvPr/>
        </p:nvSpPr>
        <p:spPr>
          <a:xfrm>
            <a:off x="8051597" y="187452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168"/>
          <p:cNvSpPr txBox="1"/>
          <p:nvPr/>
        </p:nvSpPr>
        <p:spPr>
          <a:xfrm>
            <a:off x="8097317" y="192024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learns from no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Overrides are captured with a reason and change what it suggests next.</a:t>
            </a:r>
            <a:endParaRPr lang="en-US" sz="1900" dirty="0"/>
          </a:p>
        </p:txBody>
      </p:sp>
      <p:sp>
        <p:nvSpPr>
          <p:cNvPr id="11" name="card-169"/>
          <p:cNvSpPr/>
          <p:nvPr/>
        </p:nvSpPr>
        <p:spPr>
          <a:xfrm>
            <a:off x="777240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card-text-170"/>
          <p:cNvSpPr txBox="1"/>
          <p:nvPr/>
        </p:nvSpPr>
        <p:spPr>
          <a:xfrm>
            <a:off x="822960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Automation is earned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tasks, what safeguards, and who decides to switch each one on.</a:t>
            </a:r>
            <a:endParaRPr lang="en-US" sz="1900" dirty="0"/>
          </a:p>
        </p:txBody>
      </p:sp>
      <p:sp>
        <p:nvSpPr>
          <p:cNvPr id="13" name="card-171"/>
          <p:cNvSpPr/>
          <p:nvPr/>
        </p:nvSpPr>
        <p:spPr>
          <a:xfrm>
            <a:off x="4414418" y="3886200"/>
            <a:ext cx="333756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card-text-172"/>
          <p:cNvSpPr txBox="1"/>
          <p:nvPr/>
        </p:nvSpPr>
        <p:spPr>
          <a:xfrm>
            <a:off x="4460138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It has proof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Acceptance rates and visits per clinician per day at a live customer. Not "% auto-scheduled."</a:t>
            </a:r>
            <a:endParaRPr lang="en-US" sz="1900" dirty="0"/>
          </a:p>
        </p:txBody>
      </p:sp>
      <p:sp>
        <p:nvSpPr>
          <p:cNvPr id="15" name="card-173"/>
          <p:cNvSpPr/>
          <p:nvPr/>
        </p:nvSpPr>
        <p:spPr>
          <a:xfrm>
            <a:off x="8051597" y="3886200"/>
            <a:ext cx="3337560" cy="18288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card-text-174"/>
          <p:cNvSpPr txBox="1"/>
          <p:nvPr/>
        </p:nvSpPr>
        <p:spPr>
          <a:xfrm>
            <a:off x="8097317" y="3931920"/>
            <a:ext cx="3246120" cy="17373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Deal-breakers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Missing a must-have rule rules a product out, however well it scores elsewhere.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PART 5 · THE FINALISTS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One patient, three products</a:t>
            </a:r>
            <a:endParaRPr lang="en-US" sz="4800" dirty="0"/>
          </a:p>
        </p:txBody>
      </p:sp>
      <p:sp>
        <p:nvSpPr>
          <p:cNvPr id="5" name="rule-175"/>
          <p:cNvSpPr/>
          <p:nvPr/>
        </p:nvSpPr>
        <p:spPr>
          <a:xfrm>
            <a:off x="777240" y="4114800"/>
            <a:ext cx="32004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vendor-176"/>
          <p:cNvSpPr txBox="1"/>
          <p:nvPr/>
        </p:nvSpPr>
        <p:spPr>
          <a:xfrm>
            <a:off x="777240" y="4251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Vitalis Care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9FB0C8"/>
                </a:solidFill>
              </a:rPr>
              <a:t>Session [day, time]</a:t>
            </a:r>
            <a:endParaRPr lang="en-US" sz="2600" dirty="0"/>
          </a:p>
        </p:txBody>
      </p:sp>
      <p:sp>
        <p:nvSpPr>
          <p:cNvPr id="7" name="rule-177"/>
          <p:cNvSpPr/>
          <p:nvPr/>
        </p:nvSpPr>
        <p:spPr>
          <a:xfrm>
            <a:off x="4444898" y="4114800"/>
            <a:ext cx="32004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" name="vendor-178"/>
          <p:cNvSpPr txBox="1"/>
          <p:nvPr/>
        </p:nvSpPr>
        <p:spPr>
          <a:xfrm>
            <a:off x="4444898" y="4251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Axle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9FB0C8"/>
                </a:solidFill>
              </a:rPr>
              <a:t>Session [day, time]</a:t>
            </a:r>
            <a:endParaRPr lang="en-US" sz="2600" dirty="0"/>
          </a:p>
        </p:txBody>
      </p:sp>
      <p:sp>
        <p:nvSpPr>
          <p:cNvPr id="9" name="rule-179"/>
          <p:cNvSpPr/>
          <p:nvPr/>
        </p:nvSpPr>
        <p:spPr>
          <a:xfrm>
            <a:off x="8112557" y="4114800"/>
            <a:ext cx="32004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0" name="vendor-180"/>
          <p:cNvSpPr txBox="1"/>
          <p:nvPr/>
        </p:nvSpPr>
        <p:spPr>
          <a:xfrm>
            <a:off x="8112557" y="425196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ARYA</a:t>
            </a:r>
            <a:endParaRPr lang="en-US" sz="2600" dirty="0"/>
          </a:p>
          <a:p>
            <a:pPr indent="0" marL="0">
              <a:buNone/>
            </a:pPr>
            <a:r>
              <a:rPr lang="en-US" sz="1400" dirty="0">
                <a:solidFill>
                  <a:srgbClr val="9FB0C8"/>
                </a:solidFill>
              </a:rPr>
              <a:t>Session [day, time]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THE WALK-THROUGH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One patient, admission to discharge</a:t>
            </a:r>
            <a:endParaRPr lang="en-US" sz="3000" dirty="0"/>
          </a:p>
        </p:txBody>
      </p:sp>
      <p:sp>
        <p:nvSpPr>
          <p:cNvPr id="5" name="card-181"/>
          <p:cNvSpPr/>
          <p:nvPr/>
        </p:nvSpPr>
        <p:spPr>
          <a:xfrm>
            <a:off x="777240" y="1874520"/>
            <a:ext cx="5138928" cy="393192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card-text-182"/>
          <p:cNvSpPr txBox="1"/>
          <p:nvPr/>
        </p:nvSpPr>
        <p:spPr>
          <a:xfrm>
            <a:off x="822960" y="1920240"/>
            <a:ext cx="5047488" cy="3840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THE PATIENT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79 years old, home after surgery for a hip fracture, with heart failure and diabetes. Lives with a spouse who works days.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Orders: skilled nursing, PT and OT.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Payer: [Medicare Advantage, so authorization is in play]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[Draft. Replace with the case script sent to the vendors.]</a:t>
            </a:r>
            <a:endParaRPr lang="en-US" sz="1100" dirty="0"/>
          </a:p>
        </p:txBody>
      </p:sp>
      <p:sp>
        <p:nvSpPr>
          <p:cNvPr id="7" name="card-183"/>
          <p:cNvSpPr/>
          <p:nvPr/>
        </p:nvSpPr>
        <p:spPr>
          <a:xfrm>
            <a:off x="6190488" y="1874520"/>
            <a:ext cx="5138928" cy="3931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184"/>
          <p:cNvSpPr txBox="1"/>
          <p:nvPr/>
        </p:nvSpPr>
        <p:spPr>
          <a:xfrm>
            <a:off x="6236208" y="1920240"/>
            <a:ext cx="5047488" cy="3840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HOW EACH SESSION RUNS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Every vendor walks the same patient through their own product, across two certification periods.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The same events happen in the same order: missed visits, a clinician call-out, a rehospitalization, recert and discharge.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That makes the three sessions directly comparable, moment by moment.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THE TIMELINE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120 days, nine moments to watch</a:t>
            </a:r>
            <a:endParaRPr lang="en-US" sz="3000" dirty="0"/>
          </a:p>
        </p:txBody>
      </p:sp>
      <p:sp>
        <p:nvSpPr>
          <p:cNvPr id="5" name="cert-185"/>
          <p:cNvSpPr/>
          <p:nvPr/>
        </p:nvSpPr>
        <p:spPr>
          <a:xfrm>
            <a:off x="777240" y="1874520"/>
            <a:ext cx="5282032" cy="43891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6" name="text-186"/>
          <p:cNvSpPr txBox="1"/>
          <p:nvPr/>
        </p:nvSpPr>
        <p:spPr>
          <a:xfrm>
            <a:off x="914400" y="1874520"/>
            <a:ext cx="500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Certification period 1 · days 1–60</a:t>
            </a:r>
            <a:endParaRPr lang="en-US" sz="1500" dirty="0"/>
          </a:p>
        </p:txBody>
      </p:sp>
      <p:sp>
        <p:nvSpPr>
          <p:cNvPr id="7" name="cert-187"/>
          <p:cNvSpPr/>
          <p:nvPr/>
        </p:nvSpPr>
        <p:spPr>
          <a:xfrm>
            <a:off x="6132424" y="1874520"/>
            <a:ext cx="5282032" cy="43891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text-188"/>
          <p:cNvSpPr txBox="1"/>
          <p:nvPr/>
        </p:nvSpPr>
        <p:spPr>
          <a:xfrm>
            <a:off x="6269584" y="1874520"/>
            <a:ext cx="50077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chemeClr val="bg1"/>
                </a:solidFill>
              </a:rPr>
              <a:t>Certification period 2 · days 61–120</a:t>
            </a:r>
            <a:endParaRPr lang="en-US" sz="1500" dirty="0"/>
          </a:p>
        </p:txBody>
      </p:sp>
      <p:sp>
        <p:nvSpPr>
          <p:cNvPr id="9" name="period-189"/>
          <p:cNvSpPr/>
          <p:nvPr/>
        </p:nvSpPr>
        <p:spPr>
          <a:xfrm>
            <a:off x="777240" y="2386584"/>
            <a:ext cx="260444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text-190"/>
          <p:cNvSpPr txBox="1"/>
          <p:nvPr/>
        </p:nvSpPr>
        <p:spPr>
          <a:xfrm>
            <a:off x="914400" y="2386584"/>
            <a:ext cx="233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Payment period 1</a:t>
            </a:r>
            <a:endParaRPr lang="en-US" sz="1300" dirty="0"/>
          </a:p>
        </p:txBody>
      </p:sp>
      <p:sp>
        <p:nvSpPr>
          <p:cNvPr id="11" name="period-191"/>
          <p:cNvSpPr/>
          <p:nvPr/>
        </p:nvSpPr>
        <p:spPr>
          <a:xfrm>
            <a:off x="3454832" y="2386584"/>
            <a:ext cx="260444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2" name="text-192"/>
          <p:cNvSpPr txBox="1"/>
          <p:nvPr/>
        </p:nvSpPr>
        <p:spPr>
          <a:xfrm>
            <a:off x="3591992" y="2386584"/>
            <a:ext cx="233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Payment period 2</a:t>
            </a:r>
            <a:endParaRPr lang="en-US" sz="1300" dirty="0"/>
          </a:p>
        </p:txBody>
      </p:sp>
      <p:sp>
        <p:nvSpPr>
          <p:cNvPr id="13" name="period-193"/>
          <p:cNvSpPr/>
          <p:nvPr/>
        </p:nvSpPr>
        <p:spPr>
          <a:xfrm>
            <a:off x="6132424" y="2386584"/>
            <a:ext cx="260444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text-194"/>
          <p:cNvSpPr txBox="1"/>
          <p:nvPr/>
        </p:nvSpPr>
        <p:spPr>
          <a:xfrm>
            <a:off x="6269584" y="2386584"/>
            <a:ext cx="233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Payment period 3</a:t>
            </a:r>
            <a:endParaRPr lang="en-US" sz="1300" dirty="0"/>
          </a:p>
        </p:txBody>
      </p:sp>
      <p:sp>
        <p:nvSpPr>
          <p:cNvPr id="15" name="period-195"/>
          <p:cNvSpPr/>
          <p:nvPr/>
        </p:nvSpPr>
        <p:spPr>
          <a:xfrm>
            <a:off x="8810015" y="2386584"/>
            <a:ext cx="2604440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text-196"/>
          <p:cNvSpPr txBox="1"/>
          <p:nvPr/>
        </p:nvSpPr>
        <p:spPr>
          <a:xfrm>
            <a:off x="8947175" y="2386584"/>
            <a:ext cx="233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tx1"/>
                </a:solidFill>
              </a:rPr>
              <a:t>Payment period 4</a:t>
            </a:r>
            <a:endParaRPr lang="en-US" sz="1300" dirty="0"/>
          </a:p>
        </p:txBody>
      </p:sp>
      <p:sp>
        <p:nvSpPr>
          <p:cNvPr id="17" name="track-197"/>
          <p:cNvSpPr/>
          <p:nvPr/>
        </p:nvSpPr>
        <p:spPr>
          <a:xfrm>
            <a:off x="777240" y="3200400"/>
            <a:ext cx="10637215" cy="3657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8" name="marker-198"/>
          <p:cNvSpPr/>
          <p:nvPr/>
        </p:nvSpPr>
        <p:spPr>
          <a:xfrm>
            <a:off x="777240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9" name="text-199"/>
          <p:cNvSpPr txBox="1"/>
          <p:nvPr/>
        </p:nvSpPr>
        <p:spPr>
          <a:xfrm>
            <a:off x="77724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20" name="marker-200"/>
          <p:cNvSpPr/>
          <p:nvPr/>
        </p:nvSpPr>
        <p:spPr>
          <a:xfrm>
            <a:off x="1639794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1" name="text-201"/>
          <p:cNvSpPr txBox="1"/>
          <p:nvPr/>
        </p:nvSpPr>
        <p:spPr>
          <a:xfrm>
            <a:off x="1639794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2" name="marker-202"/>
          <p:cNvSpPr/>
          <p:nvPr/>
        </p:nvSpPr>
        <p:spPr>
          <a:xfrm>
            <a:off x="2348941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3" name="text-203"/>
          <p:cNvSpPr txBox="1"/>
          <p:nvPr/>
        </p:nvSpPr>
        <p:spPr>
          <a:xfrm>
            <a:off x="2348941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marker-204"/>
          <p:cNvSpPr/>
          <p:nvPr/>
        </p:nvSpPr>
        <p:spPr>
          <a:xfrm>
            <a:off x="4121810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5" name="text-205"/>
          <p:cNvSpPr txBox="1"/>
          <p:nvPr/>
        </p:nvSpPr>
        <p:spPr>
          <a:xfrm>
            <a:off x="412181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6" name="marker-206"/>
          <p:cNvSpPr/>
          <p:nvPr/>
        </p:nvSpPr>
        <p:spPr>
          <a:xfrm>
            <a:off x="4565028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7" name="text-207"/>
          <p:cNvSpPr txBox="1"/>
          <p:nvPr/>
        </p:nvSpPr>
        <p:spPr>
          <a:xfrm>
            <a:off x="4565028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28" name="marker-208"/>
          <p:cNvSpPr/>
          <p:nvPr/>
        </p:nvSpPr>
        <p:spPr>
          <a:xfrm>
            <a:off x="5185532" y="3017520"/>
            <a:ext cx="402336" cy="402336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29" name="text-209"/>
          <p:cNvSpPr txBox="1"/>
          <p:nvPr/>
        </p:nvSpPr>
        <p:spPr>
          <a:xfrm>
            <a:off x="5185532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0" name="marker-210"/>
          <p:cNvSpPr/>
          <p:nvPr/>
        </p:nvSpPr>
        <p:spPr>
          <a:xfrm>
            <a:off x="5717393" y="3017520"/>
            <a:ext cx="402336" cy="40233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-211"/>
          <p:cNvSpPr txBox="1"/>
          <p:nvPr/>
        </p:nvSpPr>
        <p:spPr>
          <a:xfrm>
            <a:off x="5717393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tx1"/>
                </a:solidFill>
              </a:rPr>
              <a:t>7</a:t>
            </a:r>
            <a:endParaRPr lang="en-US" sz="1400" dirty="0"/>
          </a:p>
        </p:txBody>
      </p:sp>
      <p:sp>
        <p:nvSpPr>
          <p:cNvPr id="32" name="marker-212"/>
          <p:cNvSpPr/>
          <p:nvPr/>
        </p:nvSpPr>
        <p:spPr>
          <a:xfrm>
            <a:off x="8110766" y="301752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3" name="text-213"/>
          <p:cNvSpPr txBox="1"/>
          <p:nvPr/>
        </p:nvSpPr>
        <p:spPr>
          <a:xfrm>
            <a:off x="8110766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34" name="marker-214"/>
          <p:cNvSpPr/>
          <p:nvPr/>
        </p:nvSpPr>
        <p:spPr>
          <a:xfrm>
            <a:off x="10504140" y="3017520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5" name="text-215"/>
          <p:cNvSpPr txBox="1"/>
          <p:nvPr/>
        </p:nvSpPr>
        <p:spPr>
          <a:xfrm>
            <a:off x="10504140" y="3017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chemeClr val="bg1"/>
                </a:solidFill>
              </a:rPr>
              <a:t>9</a:t>
            </a:r>
            <a:endParaRPr lang="en-US" sz="1400" dirty="0"/>
          </a:p>
        </p:txBody>
      </p:sp>
      <p:sp>
        <p:nvSpPr>
          <p:cNvPr id="36" name="legend-216"/>
          <p:cNvSpPr txBox="1"/>
          <p:nvPr/>
        </p:nvSpPr>
        <p:spPr>
          <a:xfrm>
            <a:off x="777240" y="3703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 · Days 0–3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Referral, start of care, therapy evals</a:t>
            </a:r>
            <a:endParaRPr lang="en-US" sz="1400" dirty="0"/>
          </a:p>
        </p:txBody>
      </p:sp>
      <p:sp>
        <p:nvSpPr>
          <p:cNvPr id="37" name="legend-217"/>
          <p:cNvSpPr txBox="1"/>
          <p:nvPr/>
        </p:nvSpPr>
        <p:spPr>
          <a:xfrm>
            <a:off x="4414418" y="3703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 · Day 40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Back to the hospital</a:t>
            </a:r>
            <a:endParaRPr lang="en-US" sz="1400" dirty="0"/>
          </a:p>
        </p:txBody>
      </p:sp>
      <p:sp>
        <p:nvSpPr>
          <p:cNvPr id="38" name="legend-218"/>
          <p:cNvSpPr txBox="1"/>
          <p:nvPr/>
        </p:nvSpPr>
        <p:spPr>
          <a:xfrm>
            <a:off x="8051597" y="37033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7 · Days 56–60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Recertification window</a:t>
            </a:r>
            <a:endParaRPr lang="en-US" sz="1400" dirty="0"/>
          </a:p>
        </p:txBody>
      </p:sp>
      <p:sp>
        <p:nvSpPr>
          <p:cNvPr id="39" name="legend-219"/>
          <p:cNvSpPr txBox="1"/>
          <p:nvPr/>
        </p:nvSpPr>
        <p:spPr>
          <a:xfrm>
            <a:off x="777240" y="43891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 · Day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Missed visit</a:t>
            </a:r>
            <a:endParaRPr lang="en-US" sz="1400" dirty="0"/>
          </a:p>
        </p:txBody>
      </p:sp>
      <p:sp>
        <p:nvSpPr>
          <p:cNvPr id="40" name="legend-220"/>
          <p:cNvSpPr txBox="1"/>
          <p:nvPr/>
        </p:nvSpPr>
        <p:spPr>
          <a:xfrm>
            <a:off x="4414418" y="43891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 · Day 45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Resumption of care</a:t>
            </a:r>
            <a:endParaRPr lang="en-US" sz="1400" dirty="0"/>
          </a:p>
        </p:txBody>
      </p:sp>
      <p:sp>
        <p:nvSpPr>
          <p:cNvPr id="41" name="legend-221"/>
          <p:cNvSpPr txBox="1"/>
          <p:nvPr/>
        </p:nvSpPr>
        <p:spPr>
          <a:xfrm>
            <a:off x="8051597" y="43891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8 · Day 85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PT discharge</a:t>
            </a:r>
            <a:endParaRPr lang="en-US" sz="1400" dirty="0"/>
          </a:p>
        </p:txBody>
      </p:sp>
      <p:sp>
        <p:nvSpPr>
          <p:cNvPr id="42" name="legend-222"/>
          <p:cNvSpPr txBox="1"/>
          <p:nvPr/>
        </p:nvSpPr>
        <p:spPr>
          <a:xfrm>
            <a:off x="777240" y="50749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 · Day 20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Clinician call-out</a:t>
            </a:r>
            <a:endParaRPr lang="en-US" sz="1400" dirty="0"/>
          </a:p>
        </p:txBody>
      </p:sp>
      <p:sp>
        <p:nvSpPr>
          <p:cNvPr id="43" name="legend-223"/>
          <p:cNvSpPr txBox="1"/>
          <p:nvPr/>
        </p:nvSpPr>
        <p:spPr>
          <a:xfrm>
            <a:off x="4414418" y="50749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 · Day 52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OT discharge</a:t>
            </a:r>
            <a:endParaRPr lang="en-US" sz="1400" dirty="0"/>
          </a:p>
        </p:txBody>
      </p:sp>
      <p:sp>
        <p:nvSpPr>
          <p:cNvPr id="44" name="legend-224"/>
          <p:cNvSpPr txBox="1"/>
          <p:nvPr/>
        </p:nvSpPr>
        <p:spPr>
          <a:xfrm>
            <a:off x="8051597" y="507492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9 · Day 112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Discharge from care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MOMENTS 1 TO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first month</a:t>
            </a:r>
            <a:endParaRPr lang="en-US" sz="3000" dirty="0"/>
          </a:p>
        </p:txBody>
      </p:sp>
      <p:sp>
        <p:nvSpPr>
          <p:cNvPr id="5" name="card-225"/>
          <p:cNvSpPr/>
          <p:nvPr/>
        </p:nvSpPr>
        <p:spPr>
          <a:xfrm>
            <a:off x="777240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226"/>
          <p:cNvSpPr txBox="1"/>
          <p:nvPr/>
        </p:nvSpPr>
        <p:spPr>
          <a:xfrm>
            <a:off x="822960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1 · DAYS 0–3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Referral to start of care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Whether we can take the patient, the start-of-care slot, the suggested care team, and payer rules before the plan is written.</a:t>
            </a:r>
            <a:endParaRPr lang="en-US" sz="1100" dirty="0"/>
          </a:p>
        </p:txBody>
      </p:sp>
      <p:sp>
        <p:nvSpPr>
          <p:cNvPr id="7" name="ask-227"/>
          <p:cNvSpPr/>
          <p:nvPr/>
        </p:nvSpPr>
        <p:spPr>
          <a:xfrm>
            <a:off x="777240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8" name="text-228"/>
          <p:cNvSpPr txBox="1"/>
          <p:nvPr/>
        </p:nvSpPr>
        <p:spPr>
          <a:xfrm>
            <a:off x="941832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where does this patient count against capacity while auth is pending?</a:t>
            </a:r>
            <a:endParaRPr lang="en-US" sz="1400" dirty="0"/>
          </a:p>
        </p:txBody>
      </p:sp>
      <p:sp>
        <p:nvSpPr>
          <p:cNvPr id="9" name="card-229"/>
          <p:cNvSpPr/>
          <p:nvPr/>
        </p:nvSpPr>
        <p:spPr>
          <a:xfrm>
            <a:off x="4414418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230"/>
          <p:cNvSpPr txBox="1"/>
          <p:nvPr/>
        </p:nvSpPr>
        <p:spPr>
          <a:xfrm>
            <a:off x="4460138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2 · DAY 12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Missed visit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48-hour MD notice prompt, a reschedule inside the Medicare week, and the LUPA line for this period, live.</a:t>
            </a:r>
            <a:endParaRPr lang="en-US" sz="1100" dirty="0"/>
          </a:p>
        </p:txBody>
      </p:sp>
      <p:sp>
        <p:nvSpPr>
          <p:cNvPr id="11" name="ask-231"/>
          <p:cNvSpPr/>
          <p:nvPr/>
        </p:nvSpPr>
        <p:spPr>
          <a:xfrm>
            <a:off x="4414418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text-232"/>
          <p:cNvSpPr txBox="1"/>
          <p:nvPr/>
        </p:nvSpPr>
        <p:spPr>
          <a:xfrm>
            <a:off x="4579010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what does the clinician see, and what's left for the scheduler?</a:t>
            </a:r>
            <a:endParaRPr lang="en-US" sz="1400" dirty="0"/>
          </a:p>
        </p:txBody>
      </p:sp>
      <p:sp>
        <p:nvSpPr>
          <p:cNvPr id="13" name="card-233"/>
          <p:cNvSpPr/>
          <p:nvPr/>
        </p:nvSpPr>
        <p:spPr>
          <a:xfrm>
            <a:off x="8051597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card-text-234"/>
          <p:cNvSpPr txBox="1"/>
          <p:nvPr/>
        </p:nvSpPr>
        <p:spPr>
          <a:xfrm>
            <a:off x="8097317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3 · DAY 20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Clinician call-out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Coverage ranked by clinical priority, distance and continuity, with the clinical manager's sign-off and the patient told.</a:t>
            </a:r>
            <a:endParaRPr lang="en-US" sz="1100" dirty="0"/>
          </a:p>
        </p:txBody>
      </p:sp>
      <p:sp>
        <p:nvSpPr>
          <p:cNvPr id="15" name="ask-235"/>
          <p:cNvSpPr/>
          <p:nvPr/>
        </p:nvSpPr>
        <p:spPr>
          <a:xfrm>
            <a:off x="8051597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6" name="text-236"/>
          <p:cNvSpPr txBox="1"/>
          <p:nvPr/>
        </p:nvSpPr>
        <p:spPr>
          <a:xfrm>
            <a:off x="8216189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how long from the call-out to a covered visit?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MOMENTS 4 TO 6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To the hospital and home again</a:t>
            </a:r>
            <a:endParaRPr lang="en-US" sz="3000" dirty="0"/>
          </a:p>
        </p:txBody>
      </p:sp>
      <p:sp>
        <p:nvSpPr>
          <p:cNvPr id="4" name="card-237"/>
          <p:cNvSpPr/>
          <p:nvPr/>
        </p:nvSpPr>
        <p:spPr>
          <a:xfrm>
            <a:off x="777240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238"/>
          <p:cNvSpPr txBox="1"/>
          <p:nvPr/>
        </p:nvSpPr>
        <p:spPr>
          <a:xfrm>
            <a:off x="822960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4 · DAY 40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Back to the hospital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transfer recorded, visits put on hold, and capacity released, with room held for the return.</a:t>
            </a:r>
            <a:endParaRPr lang="en-US" sz="1100" dirty="0"/>
          </a:p>
        </p:txBody>
      </p:sp>
      <p:sp>
        <p:nvSpPr>
          <p:cNvPr id="6" name="ask-239"/>
          <p:cNvSpPr/>
          <p:nvPr/>
        </p:nvSpPr>
        <p:spPr>
          <a:xfrm>
            <a:off x="777240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text-240"/>
          <p:cNvSpPr txBox="1"/>
          <p:nvPr/>
        </p:nvSpPr>
        <p:spPr>
          <a:xfrm>
            <a:off x="941832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who finds out, and how fast?</a:t>
            </a:r>
            <a:endParaRPr lang="en-US" sz="1400" dirty="0"/>
          </a:p>
        </p:txBody>
      </p:sp>
      <p:sp>
        <p:nvSpPr>
          <p:cNvPr id="8" name="card-241"/>
          <p:cNvSpPr/>
          <p:nvPr/>
        </p:nvSpPr>
        <p:spPr>
          <a:xfrm>
            <a:off x="4414418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242"/>
          <p:cNvSpPr txBox="1"/>
          <p:nvPr/>
        </p:nvSpPr>
        <p:spPr>
          <a:xfrm>
            <a:off x="4460138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5 · DAY 45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Resumption of care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resumption visit within 48 hours of the return home, an updated plan, and auth checked again.</a:t>
            </a:r>
            <a:endParaRPr lang="en-US" sz="1100" dirty="0"/>
          </a:p>
        </p:txBody>
      </p:sp>
      <p:sp>
        <p:nvSpPr>
          <p:cNvPr id="10" name="ask-243"/>
          <p:cNvSpPr/>
          <p:nvPr/>
        </p:nvSpPr>
        <p:spPr>
          <a:xfrm>
            <a:off x="4414418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text-244"/>
          <p:cNvSpPr txBox="1"/>
          <p:nvPr/>
        </p:nvSpPr>
        <p:spPr>
          <a:xfrm>
            <a:off x="4579010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does the same care team come back?</a:t>
            </a:r>
            <a:endParaRPr lang="en-US" sz="1400" dirty="0"/>
          </a:p>
        </p:txBody>
      </p:sp>
      <p:sp>
        <p:nvSpPr>
          <p:cNvPr id="12" name="card-245"/>
          <p:cNvSpPr/>
          <p:nvPr/>
        </p:nvSpPr>
        <p:spPr>
          <a:xfrm>
            <a:off x="8051597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card-text-246"/>
          <p:cNvSpPr txBox="1"/>
          <p:nvPr/>
        </p:nvSpPr>
        <p:spPr>
          <a:xfrm>
            <a:off x="8097317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6 · DAY 52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OT discharge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OT goals met, OT visits closed, and that capacity handed back to the branch.</a:t>
            </a:r>
            <a:endParaRPr lang="en-US" sz="1100" dirty="0"/>
          </a:p>
        </p:txBody>
      </p:sp>
      <p:sp>
        <p:nvSpPr>
          <p:cNvPr id="14" name="ask-247"/>
          <p:cNvSpPr/>
          <p:nvPr/>
        </p:nvSpPr>
        <p:spPr>
          <a:xfrm>
            <a:off x="8051597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-248"/>
          <p:cNvSpPr txBox="1"/>
          <p:nvPr/>
        </p:nvSpPr>
        <p:spPr>
          <a:xfrm>
            <a:off x="8216189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when does the freed slot show up for the next referral?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MOMENTS 7 TO 9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Recertification to discharge</a:t>
            </a:r>
            <a:endParaRPr lang="en-US" sz="3000" dirty="0"/>
          </a:p>
        </p:txBody>
      </p:sp>
      <p:sp>
        <p:nvSpPr>
          <p:cNvPr id="4" name="card-249"/>
          <p:cNvSpPr/>
          <p:nvPr/>
        </p:nvSpPr>
        <p:spPr>
          <a:xfrm>
            <a:off x="777240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250"/>
          <p:cNvSpPr txBox="1"/>
          <p:nvPr/>
        </p:nvSpPr>
        <p:spPr>
          <a:xfrm>
            <a:off x="822960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7 · DAYS 56–60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Recertification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recert window as a hard rule, new frequencies, a new auth, and new LUPA lines for periods 3 and 4.</a:t>
            </a:r>
            <a:endParaRPr lang="en-US" sz="1100" dirty="0"/>
          </a:p>
        </p:txBody>
      </p:sp>
      <p:sp>
        <p:nvSpPr>
          <p:cNvPr id="6" name="ask-251"/>
          <p:cNvSpPr/>
          <p:nvPr/>
        </p:nvSpPr>
        <p:spPr>
          <a:xfrm>
            <a:off x="777240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7" name="text-252"/>
          <p:cNvSpPr txBox="1"/>
          <p:nvPr/>
        </p:nvSpPr>
        <p:spPr>
          <a:xfrm>
            <a:off x="941832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what warns us before the window closes?</a:t>
            </a:r>
            <a:endParaRPr lang="en-US" sz="1400" dirty="0"/>
          </a:p>
        </p:txBody>
      </p:sp>
      <p:sp>
        <p:nvSpPr>
          <p:cNvPr id="8" name="card-253"/>
          <p:cNvSpPr/>
          <p:nvPr/>
        </p:nvSpPr>
        <p:spPr>
          <a:xfrm>
            <a:off x="4414418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254"/>
          <p:cNvSpPr txBox="1"/>
          <p:nvPr/>
        </p:nvSpPr>
        <p:spPr>
          <a:xfrm>
            <a:off x="4460138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8 · DAY 85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PT discharge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Routine visits moved to the PTA along the way, and PT time returned for new starts.</a:t>
            </a:r>
            <a:endParaRPr lang="en-US" sz="1100" dirty="0"/>
          </a:p>
        </p:txBody>
      </p:sp>
      <p:sp>
        <p:nvSpPr>
          <p:cNvPr id="10" name="ask-255"/>
          <p:cNvSpPr/>
          <p:nvPr/>
        </p:nvSpPr>
        <p:spPr>
          <a:xfrm>
            <a:off x="4414418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text-256"/>
          <p:cNvSpPr txBox="1"/>
          <p:nvPr/>
        </p:nvSpPr>
        <p:spPr>
          <a:xfrm>
            <a:off x="4579010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did the product suggest the PTA, or did a person have to?</a:t>
            </a:r>
            <a:endParaRPr lang="en-US" sz="1400" dirty="0"/>
          </a:p>
        </p:txBody>
      </p:sp>
      <p:sp>
        <p:nvSpPr>
          <p:cNvPr id="12" name="card-257"/>
          <p:cNvSpPr/>
          <p:nvPr/>
        </p:nvSpPr>
        <p:spPr>
          <a:xfrm>
            <a:off x="8051597" y="1874520"/>
            <a:ext cx="3337560" cy="25146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card-text-258"/>
          <p:cNvSpPr txBox="1"/>
          <p:nvPr/>
        </p:nvSpPr>
        <p:spPr>
          <a:xfrm>
            <a:off x="8097317" y="1920240"/>
            <a:ext cx="3246120" cy="24231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2"/>
                </a:solidFill>
              </a:rPr>
              <a:t>9 · DAY 112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Discharge from care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The discharge visit, capacity returned, and the patient and family told what happens next.</a:t>
            </a:r>
            <a:endParaRPr lang="en-US" sz="1100" dirty="0"/>
          </a:p>
        </p:txBody>
      </p:sp>
      <p:sp>
        <p:nvSpPr>
          <p:cNvPr id="14" name="ask-259"/>
          <p:cNvSpPr/>
          <p:nvPr/>
        </p:nvSpPr>
        <p:spPr>
          <a:xfrm>
            <a:off x="8051597" y="4480560"/>
            <a:ext cx="3337560" cy="114300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5" name="text-260"/>
          <p:cNvSpPr txBox="1"/>
          <p:nvPr/>
        </p:nvSpPr>
        <p:spPr>
          <a:xfrm>
            <a:off x="8216189" y="448056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tx1"/>
                </a:solidFill>
              </a:rPr>
              <a:t>Ask: what does a branch leader see about this episode afterward?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AT EVERY MOMENT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Note the same four things each time</a:t>
            </a:r>
            <a:endParaRPr lang="en-US" sz="3000" dirty="0"/>
          </a:p>
        </p:txBody>
      </p:sp>
      <p:sp>
        <p:nvSpPr>
          <p:cNvPr id="5" name="card-261"/>
          <p:cNvSpPr/>
          <p:nvPr/>
        </p:nvSpPr>
        <p:spPr>
          <a:xfrm>
            <a:off x="777240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6" name="card-text-262"/>
          <p:cNvSpPr txBox="1"/>
          <p:nvPr/>
        </p:nvSpPr>
        <p:spPr>
          <a:xfrm>
            <a:off x="822960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acts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Does the product do it, suggest it, or leave it to a person?</a:t>
            </a:r>
            <a:endParaRPr lang="en-US" sz="1900" dirty="0"/>
          </a:p>
        </p:txBody>
      </p:sp>
      <p:sp>
        <p:nvSpPr>
          <p:cNvPr id="7" name="card-263"/>
          <p:cNvSpPr/>
          <p:nvPr/>
        </p:nvSpPr>
        <p:spPr>
          <a:xfrm>
            <a:off x="6233008" y="18745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8" name="card-text-264"/>
          <p:cNvSpPr txBox="1"/>
          <p:nvPr/>
        </p:nvSpPr>
        <p:spPr>
          <a:xfrm>
            <a:off x="6278728" y="19202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How many steps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Screens, clicks and handoffs between people to finish the job.</a:t>
            </a:r>
            <a:endParaRPr lang="en-US" sz="1900" dirty="0"/>
          </a:p>
        </p:txBody>
      </p:sp>
      <p:sp>
        <p:nvSpPr>
          <p:cNvPr id="9" name="card-265"/>
          <p:cNvSpPr/>
          <p:nvPr/>
        </p:nvSpPr>
        <p:spPr>
          <a:xfrm>
            <a:off x="777240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0" name="card-text-266"/>
          <p:cNvSpPr txBox="1"/>
          <p:nvPr/>
        </p:nvSpPr>
        <p:spPr>
          <a:xfrm>
            <a:off x="822960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Where the facts come from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Which system it reads, and how old that information is.</a:t>
            </a:r>
            <a:endParaRPr lang="en-US" sz="1900" dirty="0"/>
          </a:p>
        </p:txBody>
      </p:sp>
      <p:sp>
        <p:nvSpPr>
          <p:cNvPr id="11" name="card-267"/>
          <p:cNvSpPr/>
          <p:nvPr/>
        </p:nvSpPr>
        <p:spPr>
          <a:xfrm>
            <a:off x="6233008" y="3703320"/>
            <a:ext cx="5138928" cy="1645920"/>
          </a:xfrm>
          <a:prstGeom prst="rect">
            <a:avLst/>
          </a:prstGeom>
          <a:solidFill>
            <a:schemeClr val="bg1"/>
          </a:solidFill>
          <a:ln/>
        </p:spPr>
      </p:sp>
      <p:sp>
        <p:nvSpPr>
          <p:cNvPr id="12" name="card-text-268"/>
          <p:cNvSpPr txBox="1"/>
          <p:nvPr/>
        </p:nvSpPr>
        <p:spPr>
          <a:xfrm>
            <a:off x="6278728" y="3749040"/>
            <a:ext cx="5047488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Who else sees it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What the clinician, the clinical manager and the patient see as a result.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FINALIST 1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Vitalis Care</a:t>
            </a:r>
            <a:endParaRPr lang="en-US" sz="3000" dirty="0"/>
          </a:p>
        </p:txBody>
      </p:sp>
      <p:sp>
        <p:nvSpPr>
          <p:cNvPr id="5" name="card-269"/>
          <p:cNvSpPr/>
          <p:nvPr/>
        </p:nvSpPr>
        <p:spPr>
          <a:xfrm>
            <a:off x="777240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270"/>
          <p:cNvSpPr txBox="1"/>
          <p:nvPr/>
        </p:nvSpPr>
        <p:spPr>
          <a:xfrm>
            <a:off x="822960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we saw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</p:txBody>
      </p:sp>
      <p:sp>
        <p:nvSpPr>
          <p:cNvPr id="7" name="card-271"/>
          <p:cNvSpPr/>
          <p:nvPr/>
        </p:nvSpPr>
        <p:spPr>
          <a:xfrm>
            <a:off x="4414418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272"/>
          <p:cNvSpPr txBox="1"/>
          <p:nvPr/>
        </p:nvSpPr>
        <p:spPr>
          <a:xfrm>
            <a:off x="4460138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Recommend or automate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[Where it sits today, and what it can automate later]</a:t>
            </a:r>
            <a:endParaRPr lang="en-US" sz="1900" dirty="0"/>
          </a:p>
        </p:txBody>
      </p:sp>
      <p:sp>
        <p:nvSpPr>
          <p:cNvPr id="9" name="card-273"/>
          <p:cNvSpPr/>
          <p:nvPr/>
        </p:nvSpPr>
        <p:spPr>
          <a:xfrm>
            <a:off x="8051597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274"/>
          <p:cNvSpPr txBox="1"/>
          <p:nvPr/>
        </p:nvSpPr>
        <p:spPr>
          <a:xfrm>
            <a:off x="8097317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Open concerns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</p:txBody>
      </p:sp>
      <p:sp>
        <p:nvSpPr>
          <p:cNvPr id="11" name="card-275"/>
          <p:cNvSpPr/>
          <p:nvPr/>
        </p:nvSpPr>
        <p:spPr>
          <a:xfrm>
            <a:off x="777240" y="3749040"/>
            <a:ext cx="10637215" cy="20574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card-text-276"/>
          <p:cNvSpPr txBox="1"/>
          <p:nvPr/>
        </p:nvSpPr>
        <p:spPr>
          <a:xfrm>
            <a:off x="822960" y="3794760"/>
            <a:ext cx="10545775" cy="19659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QUESTIONS ONLY YOU CAN ANSWER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1.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2.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3. [Question]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FINALIST 2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Axle</a:t>
            </a:r>
            <a:endParaRPr lang="en-US" sz="3000" dirty="0"/>
          </a:p>
        </p:txBody>
      </p:sp>
      <p:sp>
        <p:nvSpPr>
          <p:cNvPr id="5" name="card-277"/>
          <p:cNvSpPr/>
          <p:nvPr/>
        </p:nvSpPr>
        <p:spPr>
          <a:xfrm>
            <a:off x="777240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278"/>
          <p:cNvSpPr txBox="1"/>
          <p:nvPr/>
        </p:nvSpPr>
        <p:spPr>
          <a:xfrm>
            <a:off x="822960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we saw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</p:txBody>
      </p:sp>
      <p:sp>
        <p:nvSpPr>
          <p:cNvPr id="7" name="card-279"/>
          <p:cNvSpPr/>
          <p:nvPr/>
        </p:nvSpPr>
        <p:spPr>
          <a:xfrm>
            <a:off x="4414418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280"/>
          <p:cNvSpPr txBox="1"/>
          <p:nvPr/>
        </p:nvSpPr>
        <p:spPr>
          <a:xfrm>
            <a:off x="4460138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Recommend or automate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[Where it sits today, and what it can automate later]</a:t>
            </a:r>
            <a:endParaRPr lang="en-US" sz="1900" dirty="0"/>
          </a:p>
        </p:txBody>
      </p:sp>
      <p:sp>
        <p:nvSpPr>
          <p:cNvPr id="9" name="card-281"/>
          <p:cNvSpPr/>
          <p:nvPr/>
        </p:nvSpPr>
        <p:spPr>
          <a:xfrm>
            <a:off x="8051597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282"/>
          <p:cNvSpPr txBox="1"/>
          <p:nvPr/>
        </p:nvSpPr>
        <p:spPr>
          <a:xfrm>
            <a:off x="8097317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Open concerns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</p:txBody>
      </p:sp>
      <p:sp>
        <p:nvSpPr>
          <p:cNvPr id="11" name="card-283"/>
          <p:cNvSpPr/>
          <p:nvPr/>
        </p:nvSpPr>
        <p:spPr>
          <a:xfrm>
            <a:off x="777240" y="3749040"/>
            <a:ext cx="10637215" cy="20574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card-text-284"/>
          <p:cNvSpPr txBox="1"/>
          <p:nvPr/>
        </p:nvSpPr>
        <p:spPr>
          <a:xfrm>
            <a:off x="822960" y="3794760"/>
            <a:ext cx="10545775" cy="19659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QUESTIONS ONLY YOU CAN ANSWER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1.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2.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3. [Question]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PART 5 · FINALIST 3 OF 3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ARYA</a:t>
            </a:r>
            <a:endParaRPr lang="en-US" sz="3000" dirty="0"/>
          </a:p>
        </p:txBody>
      </p:sp>
      <p:sp>
        <p:nvSpPr>
          <p:cNvPr id="5" name="card-285"/>
          <p:cNvSpPr/>
          <p:nvPr/>
        </p:nvSpPr>
        <p:spPr>
          <a:xfrm>
            <a:off x="777240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card-text-286"/>
          <p:cNvSpPr txBox="1"/>
          <p:nvPr/>
        </p:nvSpPr>
        <p:spPr>
          <a:xfrm>
            <a:off x="822960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What we saw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[Strength from the demo]</a:t>
            </a:r>
            <a:endParaRPr lang="en-US" sz="1900" dirty="0"/>
          </a:p>
        </p:txBody>
      </p:sp>
      <p:sp>
        <p:nvSpPr>
          <p:cNvPr id="7" name="card-287"/>
          <p:cNvSpPr/>
          <p:nvPr/>
        </p:nvSpPr>
        <p:spPr>
          <a:xfrm>
            <a:off x="4414418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8" name="card-text-288"/>
          <p:cNvSpPr txBox="1"/>
          <p:nvPr/>
        </p:nvSpPr>
        <p:spPr>
          <a:xfrm>
            <a:off x="4460138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Recommend or automate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[Where it sits today, and what it can automate later]</a:t>
            </a:r>
            <a:endParaRPr lang="en-US" sz="1900" dirty="0"/>
          </a:p>
        </p:txBody>
      </p:sp>
      <p:sp>
        <p:nvSpPr>
          <p:cNvPr id="9" name="card-289"/>
          <p:cNvSpPr/>
          <p:nvPr/>
        </p:nvSpPr>
        <p:spPr>
          <a:xfrm>
            <a:off x="8051597" y="1600200"/>
            <a:ext cx="333756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card-text-290"/>
          <p:cNvSpPr txBox="1"/>
          <p:nvPr/>
        </p:nvSpPr>
        <p:spPr>
          <a:xfrm>
            <a:off x="8097317" y="1645920"/>
            <a:ext cx="3246120" cy="182880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Open concerns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[Concern from the demo]</a:t>
            </a:r>
            <a:endParaRPr lang="en-US" sz="1900" dirty="0"/>
          </a:p>
        </p:txBody>
      </p:sp>
      <p:sp>
        <p:nvSpPr>
          <p:cNvPr id="11" name="card-291"/>
          <p:cNvSpPr/>
          <p:nvPr/>
        </p:nvSpPr>
        <p:spPr>
          <a:xfrm>
            <a:off x="777240" y="3749040"/>
            <a:ext cx="10637215" cy="20574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12" name="card-text-292"/>
          <p:cNvSpPr txBox="1"/>
          <p:nvPr/>
        </p:nvSpPr>
        <p:spPr>
          <a:xfrm>
            <a:off x="822960" y="3794760"/>
            <a:ext cx="10545775" cy="196596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QUESTIONS ONLY YOU CAN ANSWER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1.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2. [Question]</a:t>
            </a:r>
            <a:endParaRPr lang="en-US" sz="11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3. [Question]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17373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APPENDIX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2194560"/>
            <a:ext cx="10637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For reference</a:t>
            </a:r>
            <a:endParaRPr lang="en-US" sz="4800" dirty="0"/>
          </a:p>
        </p:txBody>
      </p:sp>
      <p:sp>
        <p:nvSpPr>
          <p:cNvPr id="4" name="text-293"/>
          <p:cNvSpPr txBox="1"/>
          <p:nvPr/>
        </p:nvSpPr>
        <p:spPr>
          <a:xfrm>
            <a:off x="777240" y="406908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chemeClr val="bg2"/>
                </a:solidFill>
              </a:rPr>
              <a:t>The companion packet, the scenario sheets, and more detail on the bottlenecks and payer rules. Read as much as you find useful.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A · COMPANION PACKET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full flow maps, in a separate PDF</a:t>
            </a:r>
            <a:endParaRPr lang="en-US" sz="3000" dirty="0"/>
          </a:p>
        </p:txBody>
      </p:sp>
      <p:graphicFrame>
        <p:nvGraphicFramePr>
          <p:cNvPr id="30" name="table-29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83080"/>
          <a:ext cx="106372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34263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Sheet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What it shows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Primary flow map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whole path, referral to discharge, on one page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Start of care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Admission, plan of care, and where the auth and DCS holds sit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Routine visits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How clinicians plot and move their own visits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Authorization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Where auth meets scheduling, and only there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Recert and discharge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end of the episode and capacity handed back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DCS and scheduler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The handoffs between clinical review and scheduling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Detailed composite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Every flow layered into one working view</a:t>
                      </a:r>
                      <a:endParaRPr lang="en-US" sz="1400" dirty="0"/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text-295"/>
          <p:cNvSpPr txBox="1"/>
          <p:nvPr/>
        </p:nvSpPr>
        <p:spPr>
          <a:xfrm>
            <a:off x="777240" y="548640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Read them on screen and zoom in. They are poster-sized, so print only on large-format paper. Every sheet shows how things work today, not a proposal.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B · SCENARIO SHEETS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Six stories, each told today and after</a:t>
            </a:r>
            <a:endParaRPr lang="en-US" sz="3000" dirty="0"/>
          </a:p>
        </p:txBody>
      </p:sp>
      <p:sp>
        <p:nvSpPr>
          <p:cNvPr id="4" name="card-296"/>
          <p:cNvSpPr/>
          <p:nvPr/>
        </p:nvSpPr>
        <p:spPr>
          <a:xfrm>
            <a:off x="777240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297"/>
          <p:cNvSpPr txBox="1"/>
          <p:nvPr/>
        </p:nvSpPr>
        <p:spPr>
          <a:xfrm>
            <a:off x="822960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referral, one episode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Friday afternoon to the close of the first payment period. Four points where money leaves.</a:t>
            </a:r>
            <a:endParaRPr lang="en-US" sz="1600" dirty="0"/>
          </a:p>
        </p:txBody>
      </p:sp>
      <p:sp>
        <p:nvSpPr>
          <p:cNvPr id="6" name="card-298"/>
          <p:cNvSpPr/>
          <p:nvPr/>
        </p:nvSpPr>
        <p:spPr>
          <a:xfrm>
            <a:off x="4414418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299"/>
          <p:cNvSpPr txBox="1"/>
          <p:nvPr/>
        </p:nvSpPr>
        <p:spPr>
          <a:xfrm>
            <a:off x="4460138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clinician's week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An admitting RN paid per visit, Monday to Friday, and what the week actually paid her.</a:t>
            </a:r>
            <a:endParaRPr lang="en-US" sz="1600" dirty="0"/>
          </a:p>
        </p:txBody>
      </p:sp>
      <p:sp>
        <p:nvSpPr>
          <p:cNvPr id="8" name="card-300"/>
          <p:cNvSpPr/>
          <p:nvPr/>
        </p:nvSpPr>
        <p:spPr>
          <a:xfrm>
            <a:off x="8051597" y="18745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card-text-301"/>
          <p:cNvSpPr txBox="1"/>
          <p:nvPr/>
        </p:nvSpPr>
        <p:spPr>
          <a:xfrm>
            <a:off x="8097317" y="19202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One branch's week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 branch at capacity: the queue, the call-out, and the referral it turned down.</a:t>
            </a:r>
            <a:endParaRPr lang="en-US" sz="1600" dirty="0"/>
          </a:p>
        </p:txBody>
      </p:sp>
      <p:sp>
        <p:nvSpPr>
          <p:cNvPr id="10" name="card-302"/>
          <p:cNvSpPr/>
          <p:nvPr/>
        </p:nvSpPr>
        <p:spPr>
          <a:xfrm>
            <a:off x="777240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card-text-303"/>
          <p:cNvSpPr txBox="1"/>
          <p:nvPr/>
        </p:nvSpPr>
        <p:spPr>
          <a:xfrm>
            <a:off x="822960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weekend cascade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Three weekend starts committed on Friday, and what each did to the week after.</a:t>
            </a:r>
            <a:endParaRPr lang="en-US" sz="1600" dirty="0"/>
          </a:p>
        </p:txBody>
      </p:sp>
      <p:sp>
        <p:nvSpPr>
          <p:cNvPr id="12" name="card-304"/>
          <p:cNvSpPr/>
          <p:nvPr/>
        </p:nvSpPr>
        <p:spPr>
          <a:xfrm>
            <a:off x="4414418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card-text-305"/>
          <p:cNvSpPr txBox="1"/>
          <p:nvPr/>
        </p:nvSpPr>
        <p:spPr>
          <a:xfrm>
            <a:off x="4460138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Call-out recovery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A scheduler covering a morning call-out, step by step.</a:t>
            </a:r>
            <a:endParaRPr lang="en-US" sz="1600" dirty="0"/>
          </a:p>
        </p:txBody>
      </p:sp>
      <p:sp>
        <p:nvSpPr>
          <p:cNvPr id="14" name="card-306"/>
          <p:cNvSpPr/>
          <p:nvPr/>
        </p:nvSpPr>
        <p:spPr>
          <a:xfrm>
            <a:off x="8051597" y="3703320"/>
            <a:ext cx="3337560" cy="16459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card-text-307"/>
          <p:cNvSpPr txBox="1"/>
          <p:nvPr/>
        </p:nvSpPr>
        <p:spPr>
          <a:xfrm>
            <a:off x="8097317" y="3749040"/>
            <a:ext cx="3246120" cy="155448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 clinician's day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chemeClr val="accent5"/>
                </a:solidFill>
              </a:rPr>
              <a:t>One day in the field, and the evening work nobody sees.</a:t>
            </a:r>
            <a:endParaRPr lang="en-US" sz="1600" dirty="0"/>
          </a:p>
        </p:txBody>
      </p:sp>
      <p:sp>
        <p:nvSpPr>
          <p:cNvPr id="16" name="text-308"/>
          <p:cNvSpPr txBox="1"/>
          <p:nvPr/>
        </p:nvSpPr>
        <p:spPr>
          <a:xfrm>
            <a:off x="777240" y="562356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In the companion packet, with a branch leader's territory review.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C · BOTTLENECKS 5 TO 12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The rest of the list</a:t>
            </a:r>
            <a:endParaRPr lang="en-US" sz="3000" dirty="0"/>
          </a:p>
        </p:txBody>
      </p:sp>
      <p:graphicFrame>
        <p:nvGraphicFramePr>
          <p:cNvPr id="32" name="table-3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783080"/>
          <a:ext cx="106372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651760"/>
                <a:gridCol w="743407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Bottleneck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What happens today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Territory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Hand-colored maps, no data behind them, and local quirks nobody records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6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Discipline-role match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PTs keep routine visits PTAs could take, which blocks PT starts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7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Call-out recovery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set process. Schedulers triage chart by chart, and it spills into the next days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Confirmation calls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Clinicians confirm tomorrow's visits in the evening, unpaid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9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The readiness call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Done unevenly. A patient still in hospital can cost a clinician half a day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10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Workflow noise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About 50 pending-auth tasks a day per scheduler, so the one that matters gets cleared too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11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Per-diem capacity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Uneven rules by branch. Some branches don't use per diems at all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accent3"/>
                          </a:solidFill>
                        </a:rPr>
                        <a:t>12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POA status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Found out at the door, which wastes a start-of-care visit</a:t>
                      </a:r>
                      <a:endParaRPr lang="en-US" sz="1300" dirty="0"/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77240" y="502920"/>
            <a:ext cx="10637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3"/>
                </a:solidFill>
              </a:rPr>
              <a:t>APPENDIX D · PAYER DETAIL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77240" y="822960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A floor, a ceiling, and payer rules that arrive too late</a:t>
            </a:r>
            <a:endParaRPr lang="en-US" sz="3000" dirty="0"/>
          </a:p>
        </p:txBody>
      </p:sp>
      <p:sp>
        <p:nvSpPr>
          <p:cNvPr id="4" name="card-310"/>
          <p:cNvSpPr/>
          <p:nvPr/>
        </p:nvSpPr>
        <p:spPr>
          <a:xfrm>
            <a:off x="777240" y="1874520"/>
            <a:ext cx="5138928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card-text-311"/>
          <p:cNvSpPr txBox="1"/>
          <p:nvPr/>
        </p:nvSpPr>
        <p:spPr>
          <a:xfrm>
            <a:off x="822960" y="192024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floor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Below the LUPA threshold, a period is paid per visit. Thresholds run 2 to 6 visits by group and change every year.</a:t>
            </a:r>
            <a:endParaRPr lang="en-US" sz="1900" dirty="0"/>
          </a:p>
        </p:txBody>
      </p:sp>
      <p:sp>
        <p:nvSpPr>
          <p:cNvPr id="6" name="card-312"/>
          <p:cNvSpPr/>
          <p:nvPr/>
        </p:nvSpPr>
        <p:spPr>
          <a:xfrm>
            <a:off x="6233008" y="1874520"/>
            <a:ext cx="5138928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7" name="card-text-313"/>
          <p:cNvSpPr txBox="1"/>
          <p:nvPr/>
        </p:nvSpPr>
        <p:spPr>
          <a:xfrm>
            <a:off x="6278728" y="192024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The ceiling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Above it, more episodic visits add cost but no revenue. The aim is the clinically right number for the period.</a:t>
            </a:r>
            <a:endParaRPr lang="en-US" sz="1900" dirty="0"/>
          </a:p>
        </p:txBody>
      </p:sp>
      <p:sp>
        <p:nvSpPr>
          <p:cNvPr id="8" name="card-314"/>
          <p:cNvSpPr/>
          <p:nvPr/>
        </p:nvSpPr>
        <p:spPr>
          <a:xfrm>
            <a:off x="777240" y="3566160"/>
            <a:ext cx="5138928" cy="15087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9" name="card-text-315"/>
          <p:cNvSpPr txBox="1"/>
          <p:nvPr/>
        </p:nvSpPr>
        <p:spPr>
          <a:xfrm>
            <a:off x="822960" y="361188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UHC example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Five nursing visits, then four completed with documentation before a sixth is approved.</a:t>
            </a:r>
            <a:endParaRPr lang="en-US" sz="1900" dirty="0"/>
          </a:p>
        </p:txBody>
      </p:sp>
      <p:sp>
        <p:nvSpPr>
          <p:cNvPr id="10" name="card-316"/>
          <p:cNvSpPr/>
          <p:nvPr/>
        </p:nvSpPr>
        <p:spPr>
          <a:xfrm>
            <a:off x="6233008" y="3566160"/>
            <a:ext cx="5138928" cy="1508760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1" name="card-text-317"/>
          <p:cNvSpPr txBox="1"/>
          <p:nvPr/>
        </p:nvSpPr>
        <p:spPr>
          <a:xfrm>
            <a:off x="6278728" y="3611880"/>
            <a:ext cx="5047488" cy="1417320"/>
          </a:xfrm>
          <a:prstGeom prst="rect">
            <a:avLst/>
          </a:prstGeom>
          <a:noFill/>
          <a:ln/>
        </p:spPr>
        <p:txBody>
          <a:bodyPr wrap="square" lIns="2286" tIns="2286" rIns="2286" bIns="2286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Indiana Medicaid example</a:t>
            </a:r>
            <a:endParaRPr lang="en-US" sz="190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Thirty days from hospital discharge, with eight therapy visits shared across PT, OT and ST.</a:t>
            </a:r>
            <a:endParaRPr lang="en-US" sz="1900" dirty="0"/>
          </a:p>
        </p:txBody>
      </p:sp>
      <p:sp>
        <p:nvSpPr>
          <p:cNvPr id="12" name="text-318"/>
          <p:cNvSpPr txBox="1"/>
          <p:nvPr/>
        </p:nvSpPr>
        <p:spPr>
          <a:xfrm>
            <a:off x="777240" y="5349240"/>
            <a:ext cx="10637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chemeClr val="accent5"/>
                </a:solidFill>
              </a:rPr>
              <a:t>The auth team already records these rules at verification. They just never reach the plan of care.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2764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mpassus Capacity">
  <a:themeElements>
    <a:clrScheme name="Compassus Capacity">
      <a:dk1>
        <a:srgbClr val="1B2433"/>
      </a:dk1>
      <a:lt1>
        <a:srgbClr val="FFFFFF"/>
      </a:lt1>
      <a:dk2>
        <a:srgbClr val="002554"/>
      </a:dk2>
      <a:lt2>
        <a:srgbClr val="EAEEF3"/>
      </a:lt2>
      <a:accent1>
        <a:srgbClr val="CE8E00"/>
      </a:accent1>
      <a:accent2>
        <a:srgbClr val="0E7C7B"/>
      </a:accent2>
      <a:accent3>
        <a:srgbClr val="8A5F00"/>
      </a:accent3>
      <a:accent4>
        <a:srgbClr val="FBEFD3"/>
      </a:accent4>
      <a:accent5>
        <a:srgbClr val="3E4A5C"/>
      </a:accent5>
      <a:accent6>
        <a:srgbClr val="6B7686"/>
      </a:accent6>
      <a:hlink>
        <a:srgbClr val="0E7C7B"/>
      </a:hlink>
      <a:folHlink>
        <a:srgbClr val="002554"/>
      </a:folHlink>
    </a:clrScheme>
    <a:fontScheme name="Compassus Capacity">
      <a:majorFont>
        <a:latin typeface="Roboto Sla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Before Nashville: SME Pre-Read</dc:title>
  <dc:subject>PptxGenJS Presentation</dc:subject>
  <dc:creator>Capacity and Scheduling initiative team</dc:creator>
  <cp:lastModifiedBy>Capacity and Scheduling initiative team</cp:lastModifiedBy>
  <cp:revision>1</cp:revision>
  <dcterms:created xsi:type="dcterms:W3CDTF">2026-10-09T19:14:50Z</dcterms:created>
  <dcterms:modified xsi:type="dcterms:W3CDTF">2026-10-09T19:14:50Z</dcterms:modified>
</cp:coreProperties>
</file>