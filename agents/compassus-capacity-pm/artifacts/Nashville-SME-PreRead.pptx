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y you're here" id="{227ee078-4bcf-0c01-af91-a530187e1dab}">
          <p14:sldIdLst>
            <p14:sldId id="256"/>
            <p14:sldId id="257"/>
            <p14:sldId id="258"/>
          </p14:sldIdLst>
        </p14:section>
        <p14:section name="How we're thinking about the problem" id="{3b867bd9-8a5a-0cfc-f3e1-657fbaf72912}">
          <p14:sldIdLst>
            <p14:sldId id="259"/>
            <p14:sldId id="260"/>
            <p14:sldId id="261"/>
            <p14:sldId id="262"/>
          </p14:sldIdLst>
        </p14:section>
        <p14:section name="What we've already decided" id="{613a8a35-7b89-36bb-1f90-2dc686078e8a}">
          <p14:sldIdLst>
            <p14:sldId id="263"/>
            <p14:sldId id="264"/>
          </p14:sldIdLst>
        </p14:section>
        <p14:section name="Today's reality in the branches" id="{cff2b5b2-e12f-38bb-88d3-447f5f50d34f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How we'll judge the finalists" id="{234197a1-5720-66ac-7295-91e2a8708a6f}">
          <p14:sldIdLst>
            <p14:sldId id="271"/>
            <p14:sldId id="272"/>
          </p14:sldIdLst>
        </p14:section>
        <p14:section name="The three finalists" id="{2cec5e24-ccf2-b351-4771-e1548dc6efc5}">
          <p14:sldIdLst>
            <p14:sldId id="273"/>
            <p14:sldId id="274"/>
            <p14:sldId id="275"/>
            <p14:sldId id="276"/>
          </p14:sldIdLst>
        </p14:section>
        <p14:section name="Appendix" id="{9cc83a38-deb0-d3e8-b0b5-8abe96c85ffc}">
          <p14:sldIdLst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Add the Compassus logo top right if you want it, and fill in the on-site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expectation: operators pressure-testing, not trainees. Questions for the team before the on-site go to [name].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Scheduling gets blamed because it is the last visible step. Most of the inefficiency sits upstream: auth, plan-of-care QA, and capacity nobody can see.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clinician can have room for routine visits and still be unable to admit. That gap is what the capacity tool has to make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before the capacity decision is potential. The capacity decision is the hinge.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finalists turned out more capable than we expected, so we moved past a view-only first release. But the person in the branch stays in charge of every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vendor's product works against any of these, note it. That's a fit problem, not a feature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simplified version of the SOC flow. The full, detailed maps are in the companion packet and are best read on screen, zoomed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Ranked by leverage from the August whiteboard sessions. The first four are upstream of the scheduler's queue.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behind the table: UHC grants 5 nursing visits and needs 4 completed with documentation before visit 6. Indiana Medicaid pays 30 days from hospital discharge, with 8 therapy visits shared across PT, OT and 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vendor what clinicians see, what they can change themselves, and what their adoption looked like in the first 60 days elsewhere.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finalists handle capacity and scheduling well. Fewer have thought through the patient side. Ask what the patient receives, when, and who sends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Kept deliberately simple. A recommendation is only as good as the information behind it, and ours is often hours or days 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and the people you lead will be the ones receiving these suggestions. Judge each workflow as if you had to run it on Monday.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claims of 20 to 40 percent gains are typically two to three times what independent programs deliver. Ask for outcomes, not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session: one hour of demo, then Q&amp;A. The briefs that follow say what our team already saw, so you can spend the demo confirming and probing.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filled from the small team's demo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filled from the small team's demo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be filled from the small team's demo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7772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Capacity &amp; Scheduling · SME pre-read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AL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7772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Capacity &amp; Scheduling · SME pre-read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1737360"/>
            <a:ext cx="106372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2194560"/>
            <a:ext cx="106372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/>
        </p:nvSpPr>
        <p:spPr>
          <a:xfrm>
            <a:off x="7772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Capacity &amp; Scheduling · SME pre-read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685800"/>
            <a:ext cx="106372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2011680"/>
            <a:ext cx="106372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6858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COMPASSUS HOME HEALTH · CAPACITY &amp; SCHEDULING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2011680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Before Nashville</a:t>
            </a:r>
            <a:endParaRPr lang="en-US" sz="6000" dirty="0"/>
          </a:p>
        </p:txBody>
      </p:sp>
      <p:sp>
        <p:nvSpPr>
          <p:cNvPr id="5" name="text-1"/>
          <p:cNvSpPr txBox="1"/>
          <p:nvPr/>
        </p:nvSpPr>
        <p:spPr>
          <a:xfrm>
            <a:off x="777240" y="31546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chemeClr val="bg2"/>
                </a:solidFill>
              </a:rPr>
              <a:t>A pre-read for our subject matter experts ahead of the on-site sessions with Vitalis Care, Axle and ARYA.</a:t>
            </a:r>
            <a:endParaRPr lang="en-US" sz="2200" dirty="0"/>
          </a:p>
        </p:txBody>
      </p:sp>
      <p:sp>
        <p:nvSpPr>
          <p:cNvPr id="6" name="cover-meta-2"/>
          <p:cNvSpPr txBox="1"/>
          <p:nvPr/>
        </p:nvSpPr>
        <p:spPr>
          <a:xfrm>
            <a:off x="777240" y="5120640"/>
            <a:ext cx="2807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PREPARED BY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The Capacity &amp; Scheduling initiative team</a:t>
            </a:r>
            <a:endParaRPr lang="en-US" sz="1100" dirty="0"/>
          </a:p>
        </p:txBody>
      </p:sp>
      <p:sp>
        <p:nvSpPr>
          <p:cNvPr id="7" name="cover-meta-3"/>
          <p:cNvSpPr txBox="1"/>
          <p:nvPr/>
        </p:nvSpPr>
        <p:spPr>
          <a:xfrm>
            <a:off x="3947160" y="5120640"/>
            <a:ext cx="2807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READING TIME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About 45 minutes, plus appendix</a:t>
            </a:r>
            <a:endParaRPr lang="en-US" sz="1100" dirty="0"/>
          </a:p>
        </p:txBody>
      </p:sp>
      <p:sp>
        <p:nvSpPr>
          <p:cNvPr id="8" name="cover-meta-4"/>
          <p:cNvSpPr txBox="1"/>
          <p:nvPr/>
        </p:nvSpPr>
        <p:spPr>
          <a:xfrm>
            <a:off x="7117080" y="5120640"/>
            <a:ext cx="2807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ON-SITE</a:t>
            </a:r>
            <a:endParaRPr lang="en-US" sz="11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Nashville · [date]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WHY YOU'RE HERE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 know the branches. We need you to test these products against them.</a:t>
            </a:r>
            <a:endParaRPr lang="en-US" sz="3000" dirty="0"/>
          </a:p>
        </p:txBody>
      </p:sp>
      <p:sp>
        <p:nvSpPr>
          <p:cNvPr id="5" name="card-5"/>
          <p:cNvSpPr/>
          <p:nvPr/>
        </p:nvSpPr>
        <p:spPr>
          <a:xfrm>
            <a:off x="777240" y="2148840"/>
            <a:ext cx="333756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card-text-6"/>
          <p:cNvSpPr txBox="1"/>
          <p:nvPr/>
        </p:nvSpPr>
        <p:spPr>
          <a:xfrm>
            <a:off x="822960" y="2194560"/>
            <a:ext cx="3246120" cy="22860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Your role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You're here to test the products, not to learn them. Ask what a branch would ask on its worst Friday.</a:t>
            </a:r>
            <a:endParaRPr lang="en-US" sz="1900" dirty="0"/>
          </a:p>
        </p:txBody>
      </p:sp>
      <p:sp>
        <p:nvSpPr>
          <p:cNvPr id="7" name="card-7"/>
          <p:cNvSpPr/>
          <p:nvPr/>
        </p:nvSpPr>
        <p:spPr>
          <a:xfrm>
            <a:off x="4414418" y="2148840"/>
            <a:ext cx="333756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card-text-8"/>
          <p:cNvSpPr txBox="1"/>
          <p:nvPr/>
        </p:nvSpPr>
        <p:spPr>
          <a:xfrm>
            <a:off x="4460138" y="2194560"/>
            <a:ext cx="3246120" cy="22860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it runs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Each vendor demos for one hour, then takes questions. Our team has seen the demos. The questions are where you add the most.</a:t>
            </a:r>
            <a:endParaRPr lang="en-US" sz="1900" dirty="0"/>
          </a:p>
        </p:txBody>
      </p:sp>
      <p:sp>
        <p:nvSpPr>
          <p:cNvPr id="9" name="card-9"/>
          <p:cNvSpPr/>
          <p:nvPr/>
        </p:nvSpPr>
        <p:spPr>
          <a:xfrm>
            <a:off x="8051597" y="2148840"/>
            <a:ext cx="333756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card-text-10"/>
          <p:cNvSpPr txBox="1"/>
          <p:nvPr/>
        </p:nvSpPr>
        <p:spPr>
          <a:xfrm>
            <a:off x="8097317" y="2194560"/>
            <a:ext cx="3246120" cy="22860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This deck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About 45 minutes. It covers how we frame the problem, what we've decided, and how we'll judge. Details are in the appendix.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WHAT'S INSIDE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Five parts, then the appendix</a:t>
            </a:r>
            <a:endParaRPr lang="en-US" sz="3000" dirty="0"/>
          </a:p>
        </p:txBody>
      </p:sp>
      <p:graphicFrame>
        <p:nvGraphicFramePr>
          <p:cNvPr id="4" name="table-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106372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937760"/>
                <a:gridCol w="46908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Part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What it covers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What to take into the room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How we're thinking about the problem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Capacity comes before scheduling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What we've already decided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 tool recommends; people decide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Today's reality in the branches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Where work stalls, and why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How we'll judge the finalists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One standard for all three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accent3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The three finalists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What to confirm and what to probe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1 · THE REFRAME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scheduling problem isn't a scheduling problem</a:t>
            </a:r>
            <a:endParaRPr lang="en-US" sz="3000" dirty="0"/>
          </a:p>
        </p:txBody>
      </p:sp>
      <p:sp>
        <p:nvSpPr>
          <p:cNvPr id="5" name="card-12"/>
          <p:cNvSpPr/>
          <p:nvPr/>
        </p:nvSpPr>
        <p:spPr>
          <a:xfrm>
            <a:off x="777240" y="1874520"/>
            <a:ext cx="5138928" cy="24688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card-text-13"/>
          <p:cNvSpPr txBox="1"/>
          <p:nvPr/>
        </p:nvSpPr>
        <p:spPr>
          <a:xfrm>
            <a:off x="822960" y="1920240"/>
            <a:ext cx="5047488" cy="237744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CAPACITY · PLANNING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much can this branch take on, and where?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Weeks ahead. Owned by branch and clinical leaders. The answer is whether we can accept the next referral.</a:t>
            </a:r>
            <a:endParaRPr lang="en-US" sz="1100" dirty="0"/>
          </a:p>
        </p:txBody>
      </p:sp>
      <p:sp>
        <p:nvSpPr>
          <p:cNvPr id="7" name="card-14"/>
          <p:cNvSpPr/>
          <p:nvPr/>
        </p:nvSpPr>
        <p:spPr>
          <a:xfrm>
            <a:off x="6233008" y="1874520"/>
            <a:ext cx="5138928" cy="2468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card-text-15"/>
          <p:cNvSpPr txBox="1"/>
          <p:nvPr/>
        </p:nvSpPr>
        <p:spPr>
          <a:xfrm>
            <a:off x="6278728" y="1920240"/>
            <a:ext cx="5047488" cy="237744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SCHEDULING · EXECUTION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Who goes where, when?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Today, tomorrow, the next hour. Owned by the scheduler and the clinician. The answer is a visit on someone's day.</a:t>
            </a:r>
            <a:endParaRPr lang="en-US" sz="1100" dirty="0"/>
          </a:p>
        </p:txBody>
      </p:sp>
      <p:sp>
        <p:nvSpPr>
          <p:cNvPr id="9" name="text-16"/>
          <p:cNvSpPr txBox="1"/>
          <p:nvPr/>
        </p:nvSpPr>
        <p:spPr>
          <a:xfrm>
            <a:off x="777240" y="46177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Today both run through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pending list and the other spreadsheets branches use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to track pending referrals, admissions and hospitalizations. Neither job gets done well, and nobody can see weeks ahead.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1 · THE OVERLOAD CYCLE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Start-of-care availability limits how fast a branch can grow</a:t>
            </a:r>
            <a:endParaRPr lang="en-US" sz="3000" dirty="0"/>
          </a:p>
        </p:txBody>
      </p:sp>
      <p:sp>
        <p:nvSpPr>
          <p:cNvPr id="5" name="card-17"/>
          <p:cNvSpPr/>
          <p:nvPr/>
        </p:nvSpPr>
        <p:spPr>
          <a:xfrm>
            <a:off x="777240" y="2148840"/>
            <a:ext cx="228600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sp>
        <p:nvSpPr>
          <p:cNvPr id="6" name="card-text-18"/>
          <p:cNvSpPr txBox="1"/>
          <p:nvPr/>
        </p:nvSpPr>
        <p:spPr>
          <a:xfrm>
            <a:off x="822960" y="2194560"/>
            <a:ext cx="2194560" cy="15087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1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Caseloads stay full of routine visits</a:t>
            </a:r>
            <a:endParaRPr lang="en-US" sz="1100" dirty="0"/>
          </a:p>
        </p:txBody>
      </p:sp>
      <p:sp>
        <p:nvSpPr>
          <p:cNvPr id="7" name="arrow-19"/>
          <p:cNvSpPr/>
          <p:nvPr/>
        </p:nvSpPr>
        <p:spPr>
          <a:xfrm>
            <a:off x="3136392" y="2834640"/>
            <a:ext cx="292608" cy="20116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card-20"/>
          <p:cNvSpPr/>
          <p:nvPr/>
        </p:nvSpPr>
        <p:spPr>
          <a:xfrm>
            <a:off x="3502152" y="2148840"/>
            <a:ext cx="228600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sp>
        <p:nvSpPr>
          <p:cNvPr id="9" name="card-text-21"/>
          <p:cNvSpPr txBox="1"/>
          <p:nvPr/>
        </p:nvSpPr>
        <p:spPr>
          <a:xfrm>
            <a:off x="3547872" y="2194560"/>
            <a:ext cx="2194560" cy="15087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2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room left for start-of-care visits</a:t>
            </a:r>
            <a:endParaRPr lang="en-US" sz="1100" dirty="0"/>
          </a:p>
        </p:txBody>
      </p:sp>
      <p:sp>
        <p:nvSpPr>
          <p:cNvPr id="10" name="arrow-22"/>
          <p:cNvSpPr/>
          <p:nvPr/>
        </p:nvSpPr>
        <p:spPr>
          <a:xfrm>
            <a:off x="5861304" y="2834640"/>
            <a:ext cx="292608" cy="20116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card-23"/>
          <p:cNvSpPr/>
          <p:nvPr/>
        </p:nvSpPr>
        <p:spPr>
          <a:xfrm>
            <a:off x="6227064" y="2148840"/>
            <a:ext cx="228600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sp>
        <p:nvSpPr>
          <p:cNvPr id="12" name="card-text-24"/>
          <p:cNvSpPr txBox="1"/>
          <p:nvPr/>
        </p:nvSpPr>
        <p:spPr>
          <a:xfrm>
            <a:off x="6272784" y="2194560"/>
            <a:ext cx="2194560" cy="15087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3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Referrals are delayed or turned down</a:t>
            </a:r>
            <a:endParaRPr lang="en-US" sz="1100" dirty="0"/>
          </a:p>
        </p:txBody>
      </p:sp>
      <p:sp>
        <p:nvSpPr>
          <p:cNvPr id="13" name="arrow-25"/>
          <p:cNvSpPr/>
          <p:nvPr/>
        </p:nvSpPr>
        <p:spPr>
          <a:xfrm>
            <a:off x="8586216" y="2834640"/>
            <a:ext cx="292608" cy="20116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card-26"/>
          <p:cNvSpPr/>
          <p:nvPr/>
        </p:nvSpPr>
        <p:spPr>
          <a:xfrm>
            <a:off x="8951976" y="2148840"/>
            <a:ext cx="2286000" cy="1600200"/>
          </a:xfrm>
          <a:prstGeom prst="roundRect">
            <a:avLst>
              <a:gd name="adj" fmla="val 4571"/>
            </a:avLst>
          </a:prstGeom>
          <a:solidFill>
            <a:schemeClr val="tx2"/>
          </a:solidFill>
          <a:ln/>
        </p:spPr>
      </p:sp>
      <p:sp>
        <p:nvSpPr>
          <p:cNvPr id="15" name="card-text-27"/>
          <p:cNvSpPr txBox="1"/>
          <p:nvPr/>
        </p:nvSpPr>
        <p:spPr>
          <a:xfrm>
            <a:off x="8997696" y="2194560"/>
            <a:ext cx="2194560" cy="15087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STEP 4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new admissions, so no turnover</a:t>
            </a:r>
            <a:endParaRPr lang="en-US" sz="1100" dirty="0"/>
          </a:p>
        </p:txBody>
      </p:sp>
      <p:sp>
        <p:nvSpPr>
          <p:cNvPr id="16" name="return-line-28"/>
          <p:cNvSpPr/>
          <p:nvPr/>
        </p:nvSpPr>
        <p:spPr>
          <a:xfrm>
            <a:off x="777240" y="4160520"/>
            <a:ext cx="10637215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dash"/>
          </a:ln>
        </p:spPr>
      </p:sp>
      <p:sp>
        <p:nvSpPr>
          <p:cNvPr id="17" name="arrow-29"/>
          <p:cNvSpPr/>
          <p:nvPr/>
        </p:nvSpPr>
        <p:spPr>
          <a:xfrm>
            <a:off x="777240" y="4389120"/>
            <a:ext cx="292608" cy="201168"/>
          </a:xfrm>
          <a:prstGeom prst="leftArrow">
            <a:avLst/>
          </a:prstGeom>
          <a:solidFill>
            <a:schemeClr val="accent1"/>
          </a:solidFill>
          <a:ln/>
        </p:spPr>
      </p:sp>
      <p:sp>
        <p:nvSpPr>
          <p:cNvPr id="18" name="text-30"/>
          <p:cNvSpPr txBox="1"/>
          <p:nvPr/>
        </p:nvSpPr>
        <p:spPr>
          <a:xfrm>
            <a:off x="1234440" y="43159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Back to step 1. The branch stays stuck at its current volume, even with referrals waiting.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1 · WHERE CAPACITY IS WON OR LOST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Three things decide it</a:t>
            </a:r>
            <a:endParaRPr lang="en-US" sz="3000" dirty="0"/>
          </a:p>
        </p:txBody>
      </p:sp>
      <p:sp>
        <p:nvSpPr>
          <p:cNvPr id="4" name="card-31"/>
          <p:cNvSpPr/>
          <p:nvPr/>
        </p:nvSpPr>
        <p:spPr>
          <a:xfrm>
            <a:off x="777240" y="1874520"/>
            <a:ext cx="3337560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card-text-32"/>
          <p:cNvSpPr txBox="1"/>
          <p:nvPr/>
        </p:nvSpPr>
        <p:spPr>
          <a:xfrm>
            <a:off x="822960" y="1920240"/>
            <a:ext cx="3246120" cy="21945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DECIDES GROWTH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Start-of-care slots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Whether an admitting clinician is free when the referral arrives decides if we say yes.</a:t>
            </a:r>
            <a:endParaRPr lang="en-US" sz="1100" dirty="0"/>
          </a:p>
        </p:txBody>
      </p:sp>
      <p:sp>
        <p:nvSpPr>
          <p:cNvPr id="6" name="card-33"/>
          <p:cNvSpPr/>
          <p:nvPr/>
        </p:nvSpPr>
        <p:spPr>
          <a:xfrm>
            <a:off x="4414418" y="1874520"/>
            <a:ext cx="3337560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card-text-34"/>
          <p:cNvSpPr txBox="1"/>
          <p:nvPr/>
        </p:nvSpPr>
        <p:spPr>
          <a:xfrm>
            <a:off x="4460138" y="1920240"/>
            <a:ext cx="3246120" cy="21945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DECIDES WASTE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Recovered cancellations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A cancellation refilled in minutes is capacity kept. One refilled in hours is capacity lost.</a:t>
            </a:r>
            <a:endParaRPr lang="en-US" sz="1100" dirty="0"/>
          </a:p>
        </p:txBody>
      </p:sp>
      <p:sp>
        <p:nvSpPr>
          <p:cNvPr id="8" name="card-35"/>
          <p:cNvSpPr/>
          <p:nvPr/>
        </p:nvSpPr>
        <p:spPr>
          <a:xfrm>
            <a:off x="8051597" y="1874520"/>
            <a:ext cx="3337560" cy="2286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card-text-36"/>
          <p:cNvSpPr txBox="1"/>
          <p:nvPr/>
        </p:nvSpPr>
        <p:spPr>
          <a:xfrm>
            <a:off x="8097317" y="1920240"/>
            <a:ext cx="3246120" cy="21945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THE SHARED UNIT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Our points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Point values are set: a start of care is 2.5 units. Capacity should be counted the way we already count it.</a:t>
            </a:r>
            <a:endParaRPr lang="en-US" sz="1100" dirty="0"/>
          </a:p>
        </p:txBody>
      </p:sp>
      <p:sp>
        <p:nvSpPr>
          <p:cNvPr id="10" name="callout-37"/>
          <p:cNvSpPr/>
          <p:nvPr/>
        </p:nvSpPr>
        <p:spPr>
          <a:xfrm>
            <a:off x="777240" y="4434840"/>
            <a:ext cx="10637215" cy="5943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1" name="callout-text-38"/>
          <p:cNvSpPr txBox="1"/>
          <p:nvPr/>
        </p:nvSpPr>
        <p:spPr>
          <a:xfrm>
            <a:off x="1005840" y="443484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 each vendor: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 you measure capacity in our points, or make us translate into yours?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1 · THE THREE PILLARS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Every referral dollar follows one path</a:t>
            </a:r>
            <a:endParaRPr lang="en-US" sz="3000" dirty="0"/>
          </a:p>
        </p:txBody>
      </p:sp>
      <p:sp>
        <p:nvSpPr>
          <p:cNvPr id="5" name="flow-step-39"/>
          <p:cNvSpPr/>
          <p:nvPr/>
        </p:nvSpPr>
        <p:spPr>
          <a:xfrm>
            <a:off x="777240" y="187452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6" name="text-40"/>
          <p:cNvSpPr txBox="1"/>
          <p:nvPr/>
        </p:nvSpPr>
        <p:spPr>
          <a:xfrm>
            <a:off x="777240" y="18745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Referral</a:t>
            </a:r>
            <a:endParaRPr lang="en-US" sz="1500" dirty="0"/>
          </a:p>
        </p:txBody>
      </p:sp>
      <p:sp>
        <p:nvSpPr>
          <p:cNvPr id="7" name="arrow-41"/>
          <p:cNvSpPr/>
          <p:nvPr/>
        </p:nvSpPr>
        <p:spPr>
          <a:xfrm>
            <a:off x="2629243" y="2157984"/>
            <a:ext cx="292608" cy="201168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8" name="flow-step-42"/>
          <p:cNvSpPr/>
          <p:nvPr/>
        </p:nvSpPr>
        <p:spPr>
          <a:xfrm>
            <a:off x="2990774" y="187452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accent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9" name="text-43"/>
          <p:cNvSpPr txBox="1"/>
          <p:nvPr/>
        </p:nvSpPr>
        <p:spPr>
          <a:xfrm>
            <a:off x="2990774" y="18745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Capacity decision</a:t>
            </a:r>
            <a:endParaRPr lang="en-US" sz="1500" dirty="0"/>
          </a:p>
        </p:txBody>
      </p:sp>
      <p:sp>
        <p:nvSpPr>
          <p:cNvPr id="10" name="arrow-44"/>
          <p:cNvSpPr/>
          <p:nvPr/>
        </p:nvSpPr>
        <p:spPr>
          <a:xfrm>
            <a:off x="4842777" y="2157984"/>
            <a:ext cx="292608" cy="201168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1" name="flow-step-45"/>
          <p:cNvSpPr/>
          <p:nvPr/>
        </p:nvSpPr>
        <p:spPr>
          <a:xfrm>
            <a:off x="5204308" y="187452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2" name="text-46"/>
          <p:cNvSpPr txBox="1"/>
          <p:nvPr/>
        </p:nvSpPr>
        <p:spPr>
          <a:xfrm>
            <a:off x="5204308" y="18745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Schedule</a:t>
            </a:r>
            <a:endParaRPr lang="en-US" sz="1500" dirty="0"/>
          </a:p>
        </p:txBody>
      </p:sp>
      <p:sp>
        <p:nvSpPr>
          <p:cNvPr id="13" name="arrow-47"/>
          <p:cNvSpPr/>
          <p:nvPr/>
        </p:nvSpPr>
        <p:spPr>
          <a:xfrm>
            <a:off x="7056311" y="2157984"/>
            <a:ext cx="292608" cy="201168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4" name="flow-step-48"/>
          <p:cNvSpPr/>
          <p:nvPr/>
        </p:nvSpPr>
        <p:spPr>
          <a:xfrm>
            <a:off x="7417841" y="187452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5" name="text-49"/>
          <p:cNvSpPr txBox="1"/>
          <p:nvPr/>
        </p:nvSpPr>
        <p:spPr>
          <a:xfrm>
            <a:off x="7417841" y="18745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Visit</a:t>
            </a:r>
            <a:endParaRPr lang="en-US" sz="1500" dirty="0"/>
          </a:p>
        </p:txBody>
      </p:sp>
      <p:sp>
        <p:nvSpPr>
          <p:cNvPr id="16" name="arrow-50"/>
          <p:cNvSpPr/>
          <p:nvPr/>
        </p:nvSpPr>
        <p:spPr>
          <a:xfrm>
            <a:off x="9269844" y="2157984"/>
            <a:ext cx="292608" cy="201168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7" name="flow-step-51"/>
          <p:cNvSpPr/>
          <p:nvPr/>
        </p:nvSpPr>
        <p:spPr>
          <a:xfrm>
            <a:off x="9631375" y="1874520"/>
            <a:ext cx="178308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8" name="text-52"/>
          <p:cNvSpPr txBox="1"/>
          <p:nvPr/>
        </p:nvSpPr>
        <p:spPr>
          <a:xfrm>
            <a:off x="9631375" y="18745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chemeClr val="bg1"/>
                </a:solidFill>
              </a:rPr>
              <a:t>Revenue</a:t>
            </a:r>
            <a:endParaRPr lang="en-US" sz="1500" dirty="0"/>
          </a:p>
        </p:txBody>
      </p:sp>
      <p:sp>
        <p:nvSpPr>
          <p:cNvPr id="19" name="card-53"/>
          <p:cNvSpPr/>
          <p:nvPr/>
        </p:nvSpPr>
        <p:spPr>
          <a:xfrm>
            <a:off x="777240" y="2971800"/>
            <a:ext cx="3337560" cy="19202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0" name="card-text-54"/>
          <p:cNvSpPr txBox="1"/>
          <p:nvPr/>
        </p:nvSpPr>
        <p:spPr>
          <a:xfrm>
            <a:off x="822960" y="3017520"/>
            <a:ext cx="3246120" cy="18288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Capacity Management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Sets the envelope.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How much work the branch can take on, given its people, disciplines and territory.</a:t>
            </a:r>
            <a:endParaRPr lang="en-US" sz="1800" dirty="0"/>
          </a:p>
        </p:txBody>
      </p:sp>
      <p:sp>
        <p:nvSpPr>
          <p:cNvPr id="21" name="card-55"/>
          <p:cNvSpPr/>
          <p:nvPr/>
        </p:nvSpPr>
        <p:spPr>
          <a:xfrm>
            <a:off x="4414418" y="2971800"/>
            <a:ext cx="3337560" cy="19202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2" name="card-text-56"/>
          <p:cNvSpPr txBox="1"/>
          <p:nvPr/>
        </p:nvSpPr>
        <p:spPr>
          <a:xfrm>
            <a:off x="4460138" y="3017520"/>
            <a:ext cx="3246120" cy="18288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Scheduling Engine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Fills the envelope.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Which clinician, which day, which route.</a:t>
            </a:r>
            <a:endParaRPr lang="en-US" sz="1800" dirty="0"/>
          </a:p>
        </p:txBody>
      </p:sp>
      <p:sp>
        <p:nvSpPr>
          <p:cNvPr id="23" name="card-57"/>
          <p:cNvSpPr/>
          <p:nvPr/>
        </p:nvSpPr>
        <p:spPr>
          <a:xfrm>
            <a:off x="8051597" y="2971800"/>
            <a:ext cx="3337560" cy="192024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4" name="card-text-58"/>
          <p:cNvSpPr txBox="1"/>
          <p:nvPr/>
        </p:nvSpPr>
        <p:spPr>
          <a:xfrm>
            <a:off x="8097317" y="3017520"/>
            <a:ext cx="3246120" cy="18288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Patient Engagement</a:t>
            </a:r>
            <a:endParaRPr lang="en-US" sz="18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Protects it.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Confirmations, coverage and rebooking that turn a schedule into visits made.</a:t>
            </a:r>
            <a:endParaRPr lang="en-US" sz="1800" dirty="0"/>
          </a:p>
        </p:txBody>
      </p:sp>
      <p:sp>
        <p:nvSpPr>
          <p:cNvPr id="25" name="text-59"/>
          <p:cNvSpPr txBox="1"/>
          <p:nvPr/>
        </p:nvSpPr>
        <p:spPr>
          <a:xfrm>
            <a:off x="777240" y="51663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accent5"/>
                </a:solidFill>
              </a:rPr>
              <a:t>Only a completed visit earns. A discharge hands room back to capacity.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17373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PART 2 · WHAT WE'VE DECIDED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2194560"/>
            <a:ext cx="106372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tool recommends. People decide.</a:t>
            </a:r>
            <a:endParaRPr lang="en-US" sz="4800" dirty="0"/>
          </a:p>
        </p:txBody>
      </p:sp>
      <p:sp>
        <p:nvSpPr>
          <p:cNvPr id="5" name="text-60"/>
          <p:cNvSpPr txBox="1"/>
          <p:nvPr/>
        </p:nvSpPr>
        <p:spPr>
          <a:xfrm>
            <a:off x="777240" y="40690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2"/>
                </a:solidFill>
              </a:rPr>
              <a:t>The first release suggests assignments, coverage and fixes to the scheduler or clinical manager. Safe, controlled automation of tasks comes later, one step at a time.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2 · SETTLED DECISIONS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Six things that are not open for debate</a:t>
            </a:r>
            <a:endParaRPr lang="en-US" sz="3000" dirty="0"/>
          </a:p>
        </p:txBody>
      </p:sp>
      <p:sp>
        <p:nvSpPr>
          <p:cNvPr id="5" name="card-61"/>
          <p:cNvSpPr/>
          <p:nvPr/>
        </p:nvSpPr>
        <p:spPr>
          <a:xfrm>
            <a:off x="777240" y="1874520"/>
            <a:ext cx="3337560" cy="18288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6" name="card-text-62"/>
          <p:cNvSpPr txBox="1"/>
          <p:nvPr/>
        </p:nvSpPr>
        <p:spPr>
          <a:xfrm>
            <a:off x="822960" y="1920240"/>
            <a:ext cx="3246120" cy="17373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People decide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The scheduler or clinical manager accepts or edits each suggestion. Clinicians enter their own availability.</a:t>
            </a:r>
            <a:endParaRPr lang="en-US" sz="1900" dirty="0"/>
          </a:p>
        </p:txBody>
      </p:sp>
      <p:sp>
        <p:nvSpPr>
          <p:cNvPr id="7" name="card-63"/>
          <p:cNvSpPr/>
          <p:nvPr/>
        </p:nvSpPr>
        <p:spPr>
          <a:xfrm>
            <a:off x="4414418" y="1874520"/>
            <a:ext cx="33375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card-text-64"/>
          <p:cNvSpPr txBox="1"/>
          <p:nvPr/>
        </p:nvSpPr>
        <p:spPr>
          <a:xfrm>
            <a:off x="4460138" y="1920240"/>
            <a:ext cx="3246120" cy="17373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Automation by gate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One task at a time, low-risk and rules-based first. Never clinical judgment.</a:t>
            </a:r>
            <a:endParaRPr lang="en-US" sz="1900" dirty="0"/>
          </a:p>
        </p:txBody>
      </p:sp>
      <p:sp>
        <p:nvSpPr>
          <p:cNvPr id="9" name="card-65"/>
          <p:cNvSpPr/>
          <p:nvPr/>
        </p:nvSpPr>
        <p:spPr>
          <a:xfrm>
            <a:off x="8051597" y="1874520"/>
            <a:ext cx="33375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card-text-66"/>
          <p:cNvSpPr txBox="1"/>
          <p:nvPr/>
        </p:nvSpPr>
        <p:spPr>
          <a:xfrm>
            <a:off x="8097317" y="1920240"/>
            <a:ext cx="3246120" cy="17373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place, not two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The capacity tool replaces the pending list and the tracking spreadsheets branches keep today.</a:t>
            </a:r>
            <a:endParaRPr lang="en-US" sz="1900" dirty="0"/>
          </a:p>
        </p:txBody>
      </p:sp>
      <p:sp>
        <p:nvSpPr>
          <p:cNvPr id="11" name="card-67"/>
          <p:cNvSpPr/>
          <p:nvPr/>
        </p:nvSpPr>
        <p:spPr>
          <a:xfrm>
            <a:off x="777240" y="3886200"/>
            <a:ext cx="33375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card-text-68"/>
          <p:cNvSpPr txBox="1"/>
          <p:nvPr/>
        </p:nvSpPr>
        <p:spPr>
          <a:xfrm>
            <a:off x="822960" y="3931920"/>
            <a:ext cx="3246120" cy="17373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Team at referral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The system suggests the whole care team once. A person approves. Visits follow that team.</a:t>
            </a:r>
            <a:endParaRPr lang="en-US" sz="1900" dirty="0"/>
          </a:p>
        </p:txBody>
      </p:sp>
      <p:sp>
        <p:nvSpPr>
          <p:cNvPr id="13" name="card-69"/>
          <p:cNvSpPr/>
          <p:nvPr/>
        </p:nvSpPr>
        <p:spPr>
          <a:xfrm>
            <a:off x="4414418" y="3886200"/>
            <a:ext cx="33375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card-text-70"/>
          <p:cNvSpPr txBox="1"/>
          <p:nvPr/>
        </p:nvSpPr>
        <p:spPr>
          <a:xfrm>
            <a:off x="4460138" y="3931920"/>
            <a:ext cx="3246120" cy="17373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Assistants first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Routine visits go to the LPN or PTA by default. The RN or PT opts out when the patient needs them.</a:t>
            </a:r>
            <a:endParaRPr lang="en-US" sz="1900" dirty="0"/>
          </a:p>
        </p:txBody>
      </p:sp>
      <p:sp>
        <p:nvSpPr>
          <p:cNvPr id="15" name="card-71"/>
          <p:cNvSpPr/>
          <p:nvPr/>
        </p:nvSpPr>
        <p:spPr>
          <a:xfrm>
            <a:off x="8051597" y="3886200"/>
            <a:ext cx="33375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card-text-72"/>
          <p:cNvSpPr txBox="1"/>
          <p:nvPr/>
        </p:nvSpPr>
        <p:spPr>
          <a:xfrm>
            <a:off x="8097317" y="3931920"/>
            <a:ext cx="3246120" cy="17373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Schedulers stay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A smaller team, focused on urgency, local knowledge and the relationships that cover a Friday.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3 · TODAY, SIMPLIFIED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Most delays happen before the scheduler sees the patient</a:t>
            </a:r>
            <a:endParaRPr lang="en-US" sz="3000" dirty="0"/>
          </a:p>
        </p:txBody>
      </p:sp>
      <p:sp>
        <p:nvSpPr>
          <p:cNvPr id="5" name="actor-step-73"/>
          <p:cNvSpPr/>
          <p:nvPr/>
        </p:nvSpPr>
        <p:spPr>
          <a:xfrm>
            <a:off x="777240" y="20574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F6F78"/>
          </a:solidFill>
          <a:ln/>
        </p:spPr>
      </p:sp>
      <p:sp>
        <p:nvSpPr>
          <p:cNvPr id="6" name="actor-text-74"/>
          <p:cNvSpPr txBox="1"/>
          <p:nvPr/>
        </p:nvSpPr>
        <p:spPr>
          <a:xfrm>
            <a:off x="777240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Intake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Referral received</a:t>
            </a:r>
            <a:endParaRPr lang="en-US" sz="1200" dirty="0"/>
          </a:p>
        </p:txBody>
      </p:sp>
      <p:sp>
        <p:nvSpPr>
          <p:cNvPr id="7" name="arrow-75"/>
          <p:cNvSpPr/>
          <p:nvPr/>
        </p:nvSpPr>
        <p:spPr>
          <a:xfrm>
            <a:off x="2655532" y="2459736"/>
            <a:ext cx="274320" cy="201168"/>
          </a:xfrm>
          <a:prstGeom prst="rightArrow">
            <a:avLst/>
          </a:prstGeom>
          <a:solidFill>
            <a:srgbClr val="5A6560"/>
          </a:solidFill>
          <a:ln/>
        </p:spPr>
      </p:sp>
      <p:sp>
        <p:nvSpPr>
          <p:cNvPr id="8" name="actor-step-76"/>
          <p:cNvSpPr/>
          <p:nvPr/>
        </p:nvSpPr>
        <p:spPr>
          <a:xfrm>
            <a:off x="2979344" y="20574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DF751D"/>
          </a:solidFill>
          <a:ln/>
        </p:spPr>
      </p:sp>
      <p:sp>
        <p:nvSpPr>
          <p:cNvPr id="9" name="actor-text-77"/>
          <p:cNvSpPr txBox="1"/>
          <p:nvPr/>
        </p:nvSpPr>
        <p:spPr>
          <a:xfrm>
            <a:off x="2979344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1208"/>
                </a:solidFill>
              </a:rPr>
              <a:t>Auth team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1208"/>
                </a:solidFill>
              </a:rPr>
              <a:t>Eligibility and authorization</a:t>
            </a:r>
            <a:endParaRPr lang="en-US" sz="1200" dirty="0"/>
          </a:p>
        </p:txBody>
      </p:sp>
      <p:sp>
        <p:nvSpPr>
          <p:cNvPr id="10" name="arrow-78"/>
          <p:cNvSpPr/>
          <p:nvPr/>
        </p:nvSpPr>
        <p:spPr>
          <a:xfrm>
            <a:off x="4857636" y="2459736"/>
            <a:ext cx="274320" cy="201168"/>
          </a:xfrm>
          <a:prstGeom prst="rightArrow">
            <a:avLst/>
          </a:prstGeom>
          <a:solidFill>
            <a:srgbClr val="5A6560"/>
          </a:solidFill>
          <a:ln/>
        </p:spPr>
      </p:sp>
      <p:sp>
        <p:nvSpPr>
          <p:cNvPr id="11" name="actor-step-79"/>
          <p:cNvSpPr/>
          <p:nvPr/>
        </p:nvSpPr>
        <p:spPr>
          <a:xfrm>
            <a:off x="5181448" y="20574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792E2E"/>
          </a:solidFill>
          <a:ln/>
        </p:spPr>
      </p:sp>
      <p:sp>
        <p:nvSpPr>
          <p:cNvPr id="12" name="actor-text-80"/>
          <p:cNvSpPr txBox="1"/>
          <p:nvPr/>
        </p:nvSpPr>
        <p:spPr>
          <a:xfrm>
            <a:off x="5181448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DCS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Plan-of-care review</a:t>
            </a:r>
            <a:endParaRPr lang="en-US" sz="1200" dirty="0"/>
          </a:p>
        </p:txBody>
      </p:sp>
      <p:sp>
        <p:nvSpPr>
          <p:cNvPr id="13" name="arrow-81"/>
          <p:cNvSpPr/>
          <p:nvPr/>
        </p:nvSpPr>
        <p:spPr>
          <a:xfrm>
            <a:off x="7059740" y="2459736"/>
            <a:ext cx="274320" cy="201168"/>
          </a:xfrm>
          <a:prstGeom prst="rightArrow">
            <a:avLst/>
          </a:prstGeom>
          <a:solidFill>
            <a:srgbClr val="5A6560"/>
          </a:solidFill>
          <a:ln/>
        </p:spPr>
      </p:sp>
      <p:sp>
        <p:nvSpPr>
          <p:cNvPr id="14" name="actor-step-82"/>
          <p:cNvSpPr/>
          <p:nvPr/>
        </p:nvSpPr>
        <p:spPr>
          <a:xfrm>
            <a:off x="7383551" y="20574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C6A01F"/>
          </a:solidFill>
          <a:ln/>
        </p:spPr>
      </p:sp>
      <p:sp>
        <p:nvSpPr>
          <p:cNvPr id="15" name="actor-text-83"/>
          <p:cNvSpPr txBox="1"/>
          <p:nvPr/>
        </p:nvSpPr>
        <p:spPr>
          <a:xfrm>
            <a:off x="7383551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B1503"/>
                </a:solidFill>
              </a:rPr>
              <a:t>Scheduler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1503"/>
                </a:solidFill>
              </a:rPr>
              <a:t>Assign the care team</a:t>
            </a:r>
            <a:endParaRPr lang="en-US" sz="1200" dirty="0"/>
          </a:p>
        </p:txBody>
      </p:sp>
      <p:sp>
        <p:nvSpPr>
          <p:cNvPr id="16" name="arrow-84"/>
          <p:cNvSpPr/>
          <p:nvPr/>
        </p:nvSpPr>
        <p:spPr>
          <a:xfrm>
            <a:off x="9261843" y="2459736"/>
            <a:ext cx="274320" cy="201168"/>
          </a:xfrm>
          <a:prstGeom prst="rightArrow">
            <a:avLst/>
          </a:prstGeom>
          <a:solidFill>
            <a:srgbClr val="5A6560"/>
          </a:solidFill>
          <a:ln/>
        </p:spPr>
      </p:sp>
      <p:sp>
        <p:nvSpPr>
          <p:cNvPr id="17" name="actor-step-85"/>
          <p:cNvSpPr/>
          <p:nvPr/>
        </p:nvSpPr>
        <p:spPr>
          <a:xfrm>
            <a:off x="9585655" y="20574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2E599D"/>
          </a:solidFill>
          <a:ln/>
        </p:spPr>
      </p:sp>
      <p:sp>
        <p:nvSpPr>
          <p:cNvPr id="18" name="actor-text-86"/>
          <p:cNvSpPr txBox="1"/>
          <p:nvPr/>
        </p:nvSpPr>
        <p:spPr>
          <a:xfrm>
            <a:off x="9585655" y="2057400"/>
            <a:ext cx="1828800" cy="100584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Clinician</a:t>
            </a:r>
            <a:endParaRPr lang="en-US" sz="12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Plot and make visits</a:t>
            </a:r>
            <a:endParaRPr lang="en-US" sz="1200" dirty="0"/>
          </a:p>
        </p:txBody>
      </p:sp>
      <p:sp>
        <p:nvSpPr>
          <p:cNvPr id="19" name="stall-87"/>
          <p:cNvSpPr/>
          <p:nvPr/>
        </p:nvSpPr>
        <p:spPr>
          <a:xfrm>
            <a:off x="2979344" y="3337560"/>
            <a:ext cx="18288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F751D"/>
            </a:solidFill>
            <a:prstDash val="dash"/>
          </a:ln>
        </p:spPr>
      </p:sp>
      <p:sp>
        <p:nvSpPr>
          <p:cNvPr id="20" name="text-88"/>
          <p:cNvSpPr txBox="1"/>
          <p:nvPr/>
        </p:nvSpPr>
        <p:spPr>
          <a:xfrm>
            <a:off x="3089072" y="3447288"/>
            <a:ext cx="1609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Stuck in auth before it reaches scheduling. Pending visits are invisible and don't count.</a:t>
            </a:r>
            <a:endParaRPr lang="en-US" sz="1300" dirty="0"/>
          </a:p>
        </p:txBody>
      </p:sp>
      <p:sp>
        <p:nvSpPr>
          <p:cNvPr id="21" name="stall-89"/>
          <p:cNvSpPr/>
          <p:nvPr/>
        </p:nvSpPr>
        <p:spPr>
          <a:xfrm>
            <a:off x="5181448" y="3337560"/>
            <a:ext cx="18288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792E2E"/>
            </a:solidFill>
            <a:prstDash val="dash"/>
          </a:ln>
        </p:spPr>
      </p:sp>
      <p:sp>
        <p:nvSpPr>
          <p:cNvPr id="22" name="text-90"/>
          <p:cNvSpPr txBox="1"/>
          <p:nvPr/>
        </p:nvSpPr>
        <p:spPr>
          <a:xfrm>
            <a:off x="5291176" y="3447288"/>
            <a:ext cx="1609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Every order routes here. When review is behind, an LPN sits idle and three days of visits land on one.</a:t>
            </a:r>
            <a:endParaRPr lang="en-US" sz="1300" dirty="0"/>
          </a:p>
        </p:txBody>
      </p:sp>
      <p:sp>
        <p:nvSpPr>
          <p:cNvPr id="23" name="stall-91"/>
          <p:cNvSpPr/>
          <p:nvPr/>
        </p:nvSpPr>
        <p:spPr>
          <a:xfrm>
            <a:off x="7383551" y="3337560"/>
            <a:ext cx="182880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6A01F"/>
            </a:solidFill>
            <a:prstDash val="dash"/>
          </a:ln>
        </p:spPr>
      </p:sp>
      <p:sp>
        <p:nvSpPr>
          <p:cNvPr id="24" name="text-92"/>
          <p:cNvSpPr txBox="1"/>
          <p:nvPr/>
        </p:nvSpPr>
        <p:spPr>
          <a:xfrm>
            <a:off x="7493279" y="3447288"/>
            <a:ext cx="16093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One task per discipline, twice. Eight tasks for one care-team decision.</a:t>
            </a:r>
            <a:endParaRPr lang="en-US" sz="1300" dirty="0"/>
          </a:p>
        </p:txBody>
      </p:sp>
      <p:sp>
        <p:nvSpPr>
          <p:cNvPr id="25" name="text-93"/>
          <p:cNvSpPr txBox="1"/>
          <p:nvPr/>
        </p:nvSpPr>
        <p:spPr>
          <a:xfrm>
            <a:off x="777240" y="5577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chemeClr val="accent6"/>
                </a:solidFill>
              </a:rPr>
              <a:t>Full current-state flow maps: companion reference packet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3 · THE BOTTLENECKS, RANKED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Push hardest on these four</a:t>
            </a:r>
            <a:endParaRPr lang="en-US" sz="3000" dirty="0"/>
          </a:p>
        </p:txBody>
      </p:sp>
      <p:sp>
        <p:nvSpPr>
          <p:cNvPr id="5" name="card-94"/>
          <p:cNvSpPr/>
          <p:nvPr/>
        </p:nvSpPr>
        <p:spPr>
          <a:xfrm>
            <a:off x="777240" y="1874520"/>
            <a:ext cx="2468880" cy="24231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card-text-95"/>
          <p:cNvSpPr txBox="1"/>
          <p:nvPr/>
        </p:nvSpPr>
        <p:spPr>
          <a:xfrm>
            <a:off x="822960" y="1920240"/>
            <a:ext cx="2377440" cy="23317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3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authorization cycle</a:t>
            </a:r>
            <a:endParaRPr lang="en-US" sz="3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Plans of care are written without the payer's limits, then auth doesn't come.</a:t>
            </a:r>
            <a:endParaRPr lang="en-US" sz="3600" dirty="0"/>
          </a:p>
        </p:txBody>
      </p:sp>
      <p:sp>
        <p:nvSpPr>
          <p:cNvPr id="7" name="card-96"/>
          <p:cNvSpPr/>
          <p:nvPr/>
        </p:nvSpPr>
        <p:spPr>
          <a:xfrm>
            <a:off x="3493694" y="1874520"/>
            <a:ext cx="2468880" cy="24231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card-text-97"/>
          <p:cNvSpPr txBox="1"/>
          <p:nvPr/>
        </p:nvSpPr>
        <p:spPr>
          <a:xfrm>
            <a:off x="3539414" y="1920240"/>
            <a:ext cx="2377440" cy="23317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3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Invisible pending visits</a:t>
            </a:r>
            <a:endParaRPr lang="en-US" sz="3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Visits waiting on auth sit on a sticky note. They don't count as load.</a:t>
            </a:r>
            <a:endParaRPr lang="en-US" sz="3600" dirty="0"/>
          </a:p>
        </p:txBody>
      </p:sp>
      <p:sp>
        <p:nvSpPr>
          <p:cNvPr id="9" name="card-98"/>
          <p:cNvSpPr/>
          <p:nvPr/>
        </p:nvSpPr>
        <p:spPr>
          <a:xfrm>
            <a:off x="6210148" y="1874520"/>
            <a:ext cx="2468880" cy="24231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card-text-99"/>
          <p:cNvSpPr txBox="1"/>
          <p:nvPr/>
        </p:nvSpPr>
        <p:spPr>
          <a:xfrm>
            <a:off x="6255868" y="1920240"/>
            <a:ext cx="2377440" cy="23317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DCS review backlog</a:t>
            </a:r>
            <a:endParaRPr lang="en-US" sz="3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Every order waits on DCS approval before visits can be added.</a:t>
            </a:r>
            <a:endParaRPr lang="en-US" sz="3600" dirty="0"/>
          </a:p>
        </p:txBody>
      </p:sp>
      <p:sp>
        <p:nvSpPr>
          <p:cNvPr id="11" name="card-100"/>
          <p:cNvSpPr/>
          <p:nvPr/>
        </p:nvSpPr>
        <p:spPr>
          <a:xfrm>
            <a:off x="8926601" y="1874520"/>
            <a:ext cx="2468880" cy="24231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card-text-101"/>
          <p:cNvSpPr txBox="1"/>
          <p:nvPr/>
        </p:nvSpPr>
        <p:spPr>
          <a:xfrm>
            <a:off x="8972321" y="1920240"/>
            <a:ext cx="2377440" cy="23317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3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task explosion</a:t>
            </a:r>
            <a:endParaRPr lang="en-US" sz="3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Eight scheduler tasks for one care-team decision.</a:t>
            </a:r>
            <a:endParaRPr lang="en-US" sz="3600" dirty="0"/>
          </a:p>
        </p:txBody>
      </p:sp>
      <p:sp>
        <p:nvSpPr>
          <p:cNvPr id="13" name="text-102"/>
          <p:cNvSpPr txBox="1"/>
          <p:nvPr/>
        </p:nvSpPr>
        <p:spPr>
          <a:xfrm>
            <a:off x="777240" y="45720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chemeClr val="accent6"/>
                </a:solidFill>
              </a:rPr>
              <a:t>ALSO ON THE LIST · DETAILS IN THE APPENDIX</a:t>
            </a:r>
            <a:endParaRPr lang="en-US" sz="1100" dirty="0"/>
          </a:p>
        </p:txBody>
      </p:sp>
      <p:sp>
        <p:nvSpPr>
          <p:cNvPr id="14" name="pill-103"/>
          <p:cNvSpPr/>
          <p:nvPr/>
        </p:nvSpPr>
        <p:spPr>
          <a:xfrm>
            <a:off x="777240" y="4919472"/>
            <a:ext cx="114757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text-104"/>
          <p:cNvSpPr txBox="1"/>
          <p:nvPr/>
        </p:nvSpPr>
        <p:spPr>
          <a:xfrm>
            <a:off x="777240" y="4919472"/>
            <a:ext cx="11475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Territory</a:t>
            </a:r>
            <a:endParaRPr lang="en-US" sz="1300" dirty="0"/>
          </a:p>
        </p:txBody>
      </p:sp>
      <p:sp>
        <p:nvSpPr>
          <p:cNvPr id="16" name="pill-105"/>
          <p:cNvSpPr/>
          <p:nvPr/>
        </p:nvSpPr>
        <p:spPr>
          <a:xfrm>
            <a:off x="2061972" y="4919472"/>
            <a:ext cx="2189988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text-106"/>
          <p:cNvSpPr txBox="1"/>
          <p:nvPr/>
        </p:nvSpPr>
        <p:spPr>
          <a:xfrm>
            <a:off x="2061972" y="4919472"/>
            <a:ext cx="218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Discipline-role match</a:t>
            </a:r>
            <a:endParaRPr lang="en-US" sz="1300" dirty="0"/>
          </a:p>
        </p:txBody>
      </p:sp>
      <p:sp>
        <p:nvSpPr>
          <p:cNvPr id="18" name="pill-107"/>
          <p:cNvSpPr/>
          <p:nvPr/>
        </p:nvSpPr>
        <p:spPr>
          <a:xfrm>
            <a:off x="4389120" y="4919472"/>
            <a:ext cx="184251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9" name="text-108"/>
          <p:cNvSpPr txBox="1"/>
          <p:nvPr/>
        </p:nvSpPr>
        <p:spPr>
          <a:xfrm>
            <a:off x="4389120" y="4919472"/>
            <a:ext cx="1842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Call-out recovery</a:t>
            </a:r>
            <a:endParaRPr lang="en-US" sz="1300" dirty="0"/>
          </a:p>
        </p:txBody>
      </p:sp>
      <p:sp>
        <p:nvSpPr>
          <p:cNvPr id="20" name="pill-109"/>
          <p:cNvSpPr/>
          <p:nvPr/>
        </p:nvSpPr>
        <p:spPr>
          <a:xfrm>
            <a:off x="6368796" y="4919472"/>
            <a:ext cx="192938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1" name="text-110"/>
          <p:cNvSpPr txBox="1"/>
          <p:nvPr/>
        </p:nvSpPr>
        <p:spPr>
          <a:xfrm>
            <a:off x="6368796" y="4919472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Confirmation calls</a:t>
            </a:r>
            <a:endParaRPr lang="en-US" sz="1300" dirty="0"/>
          </a:p>
        </p:txBody>
      </p:sp>
      <p:sp>
        <p:nvSpPr>
          <p:cNvPr id="22" name="pill-111"/>
          <p:cNvSpPr/>
          <p:nvPr/>
        </p:nvSpPr>
        <p:spPr>
          <a:xfrm>
            <a:off x="8435340" y="4919472"/>
            <a:ext cx="192938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3" name="text-112"/>
          <p:cNvSpPr txBox="1"/>
          <p:nvPr/>
        </p:nvSpPr>
        <p:spPr>
          <a:xfrm>
            <a:off x="8435340" y="4919472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The readiness call</a:t>
            </a:r>
            <a:endParaRPr lang="en-US" sz="1300" dirty="0"/>
          </a:p>
        </p:txBody>
      </p:sp>
      <p:sp>
        <p:nvSpPr>
          <p:cNvPr id="24" name="pill-113"/>
          <p:cNvSpPr/>
          <p:nvPr/>
        </p:nvSpPr>
        <p:spPr>
          <a:xfrm>
            <a:off x="777240" y="5376672"/>
            <a:ext cx="1581912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5" name="text-114"/>
          <p:cNvSpPr txBox="1"/>
          <p:nvPr/>
        </p:nvSpPr>
        <p:spPr>
          <a:xfrm>
            <a:off x="777240" y="537667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Workflow noise</a:t>
            </a:r>
            <a:endParaRPr lang="en-US" sz="1300" dirty="0"/>
          </a:p>
        </p:txBody>
      </p:sp>
      <p:sp>
        <p:nvSpPr>
          <p:cNvPr id="26" name="pill-115"/>
          <p:cNvSpPr/>
          <p:nvPr/>
        </p:nvSpPr>
        <p:spPr>
          <a:xfrm>
            <a:off x="2496312" y="5376672"/>
            <a:ext cx="1842516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7" name="text-116"/>
          <p:cNvSpPr txBox="1"/>
          <p:nvPr/>
        </p:nvSpPr>
        <p:spPr>
          <a:xfrm>
            <a:off x="2496312" y="5376672"/>
            <a:ext cx="18425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Per-diem capacity</a:t>
            </a:r>
            <a:endParaRPr lang="en-US" sz="1300" dirty="0"/>
          </a:p>
        </p:txBody>
      </p:sp>
      <p:sp>
        <p:nvSpPr>
          <p:cNvPr id="28" name="pill-117"/>
          <p:cNvSpPr/>
          <p:nvPr/>
        </p:nvSpPr>
        <p:spPr>
          <a:xfrm>
            <a:off x="4475988" y="5376672"/>
            <a:ext cx="2798064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9" name="text-118"/>
          <p:cNvSpPr txBox="1"/>
          <p:nvPr/>
        </p:nvSpPr>
        <p:spPr>
          <a:xfrm>
            <a:off x="4475988" y="5376672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tx1"/>
                </a:solidFill>
              </a:rPr>
              <a:t>POA status found at the door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3 · PAYER AND EPISODE RULES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You know PDGM. The question is what the tool does with it.</a:t>
            </a:r>
            <a:endParaRPr lang="en-US" sz="3000" dirty="0"/>
          </a:p>
        </p:txBody>
      </p:sp>
      <p:sp>
        <p:nvSpPr>
          <p:cNvPr id="5" name="text-119"/>
          <p:cNvSpPr txBox="1"/>
          <p:nvPr/>
        </p:nvSpPr>
        <p:spPr>
          <a:xfrm>
            <a:off x="7772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chemeClr val="tx2"/>
                </a:solidFill>
              </a:rPr>
              <a:t>THE TOOL MUST</a:t>
            </a:r>
            <a:endParaRPr lang="en-US" sz="1100" dirty="0"/>
          </a:p>
        </p:txBody>
      </p:sp>
      <p:sp>
        <p:nvSpPr>
          <p:cNvPr id="6" name="must-120"/>
          <p:cNvSpPr txBox="1"/>
          <p:nvPr/>
        </p:nvSpPr>
        <p:spPr>
          <a:xfrm>
            <a:off x="777240" y="22860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Show the floor and the ceiling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For each 30-day period, at the moment a visit is missed, not in tomorrow's report.</a:t>
            </a:r>
            <a:endParaRPr lang="en-US" sz="1700" dirty="0"/>
          </a:p>
        </p:txBody>
      </p:sp>
      <p:sp>
        <p:nvSpPr>
          <p:cNvPr id="7" name="must-121"/>
          <p:cNvSpPr txBox="1"/>
          <p:nvPr/>
        </p:nvSpPr>
        <p:spPr>
          <a:xfrm>
            <a:off x="777240" y="34747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Surface payer rules early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When the plan of care is written. Auth already captures them in a note.</a:t>
            </a:r>
            <a:endParaRPr lang="en-US" sz="1700" dirty="0"/>
          </a:p>
        </p:txBody>
      </p:sp>
      <p:sp>
        <p:nvSpPr>
          <p:cNvPr id="8" name="must-122"/>
          <p:cNvSpPr txBox="1"/>
          <p:nvPr/>
        </p:nvSpPr>
        <p:spPr>
          <a:xfrm>
            <a:off x="777240" y="46634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Never outrank clinical need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visit budget informs the clinician. It never decides for them.</a:t>
            </a:r>
            <a:endParaRPr lang="en-US" sz="1700" dirty="0"/>
          </a:p>
        </p:txBody>
      </p:sp>
      <p:graphicFrame>
        <p:nvGraphicFramePr>
          <p:cNvPr id="13" name="table-1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874520"/>
          <a:ext cx="523951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6334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Why scheduling cares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Two 30-day periods per cert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Each has its own LUPA line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LUPA thresholds of 2–6 visits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missed visit can drop a period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Pending-auth limits of 1, 3, 5 or 10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Caps how far ahead we can book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Shared therapy pools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PT, OT and ST draw on one count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Benefit clock from discharge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Days are lost before we start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3 · CLINICIAN ADOPTION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Adoption decides the outcome</a:t>
            </a:r>
            <a:endParaRPr lang="en-US" sz="3000" dirty="0"/>
          </a:p>
        </p:txBody>
      </p:sp>
      <p:sp>
        <p:nvSpPr>
          <p:cNvPr id="5" name="card-124"/>
          <p:cNvSpPr/>
          <p:nvPr/>
        </p:nvSpPr>
        <p:spPr>
          <a:xfrm>
            <a:off x="777240" y="1874520"/>
            <a:ext cx="5138928" cy="17373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6" name="card-text-125"/>
          <p:cNvSpPr txBox="1"/>
          <p:nvPr/>
        </p:nvSpPr>
        <p:spPr>
          <a:xfrm>
            <a:off x="822960" y="1920240"/>
            <a:ext cx="5047488" cy="16459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An assistant, not a boss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Flexibility is why clinicians choose home health. A tool that takes it away will be worked around.</a:t>
            </a:r>
            <a:endParaRPr lang="en-US" sz="1900" dirty="0"/>
          </a:p>
        </p:txBody>
      </p:sp>
      <p:sp>
        <p:nvSpPr>
          <p:cNvPr id="7" name="card-126"/>
          <p:cNvSpPr/>
          <p:nvPr/>
        </p:nvSpPr>
        <p:spPr>
          <a:xfrm>
            <a:off x="6233008" y="1874520"/>
            <a:ext cx="5138928" cy="17373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card-text-127"/>
          <p:cNvSpPr txBox="1"/>
          <p:nvPr/>
        </p:nvSpPr>
        <p:spPr>
          <a:xfrm>
            <a:off x="6278728" y="1920240"/>
            <a:ext cx="5047488" cy="16459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Machines get second-guessed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Clinicians turn down a visit from a tool that they'd accept from a scheduler. Trust has to be earned.</a:t>
            </a:r>
            <a:endParaRPr lang="en-US" sz="1900" dirty="0"/>
          </a:p>
        </p:txBody>
      </p:sp>
      <p:sp>
        <p:nvSpPr>
          <p:cNvPr id="9" name="card-128"/>
          <p:cNvSpPr/>
          <p:nvPr/>
        </p:nvSpPr>
        <p:spPr>
          <a:xfrm>
            <a:off x="777240" y="3794760"/>
            <a:ext cx="5138928" cy="17373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card-text-129"/>
          <p:cNvSpPr txBox="1"/>
          <p:nvPr/>
        </p:nvSpPr>
        <p:spPr>
          <a:xfrm>
            <a:off x="822960" y="3840480"/>
            <a:ext cx="5047488" cy="16459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Most are paid per visit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About 70% of clinicians. Saved drive time doesn't save us money. The case to them is a better day.</a:t>
            </a:r>
            <a:endParaRPr lang="en-US" sz="1900" dirty="0"/>
          </a:p>
        </p:txBody>
      </p:sp>
      <p:sp>
        <p:nvSpPr>
          <p:cNvPr id="11" name="card-130"/>
          <p:cNvSpPr/>
          <p:nvPr/>
        </p:nvSpPr>
        <p:spPr>
          <a:xfrm>
            <a:off x="6233008" y="3794760"/>
            <a:ext cx="5138928" cy="173736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2" name="card-text-131"/>
          <p:cNvSpPr txBox="1"/>
          <p:nvPr/>
        </p:nvSpPr>
        <p:spPr>
          <a:xfrm>
            <a:off x="6278728" y="3840480"/>
            <a:ext cx="5047488" cy="16459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Incentives aren't one size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Union and salaried staff need different approaches. Regular surge pay teaches people to hold out.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3 · PATIENT ENGAGEMENT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weakest area for most vendors</a:t>
            </a:r>
            <a:endParaRPr lang="en-US" sz="3000" dirty="0"/>
          </a:p>
        </p:txBody>
      </p:sp>
      <p:sp>
        <p:nvSpPr>
          <p:cNvPr id="5" name="card-132"/>
          <p:cNvSpPr/>
          <p:nvPr/>
        </p:nvSpPr>
        <p:spPr>
          <a:xfrm>
            <a:off x="777240" y="1874520"/>
            <a:ext cx="3840480" cy="3840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card-text-133"/>
          <p:cNvSpPr txBox="1"/>
          <p:nvPr/>
        </p:nvSpPr>
        <p:spPr>
          <a:xfrm>
            <a:off x="822960" y="1920240"/>
            <a:ext cx="3749040" cy="374904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7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~30</a:t>
            </a:r>
            <a:endParaRPr lang="en-US" sz="72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unpaid minutes each evening a clinician spends confirming tomorrow's visits</a:t>
            </a:r>
            <a:endParaRPr lang="en-US" sz="72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9FB0C8"/>
                </a:solidFill>
              </a:rPr>
              <a:t>Across roughly 3,000 clinicians. Both figures are session estimates.</a:t>
            </a:r>
            <a:endParaRPr lang="en-US" sz="7200" dirty="0"/>
          </a:p>
        </p:txBody>
      </p:sp>
      <p:sp>
        <p:nvSpPr>
          <p:cNvPr id="7" name="item-134"/>
          <p:cNvSpPr txBox="1"/>
          <p:nvPr/>
        </p:nvSpPr>
        <p:spPr>
          <a:xfrm>
            <a:off x="5074920" y="187452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Consent comes at the first visit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Text and email consent isn't signed until start of care, so first contact is still a phone call.</a:t>
            </a:r>
            <a:endParaRPr lang="en-US" sz="1700" dirty="0"/>
          </a:p>
        </p:txBody>
      </p:sp>
      <p:sp>
        <p:nvSpPr>
          <p:cNvPr id="8" name="item-135"/>
          <p:cNvSpPr txBox="1"/>
          <p:nvPr/>
        </p:nvSpPr>
        <p:spPr>
          <a:xfrm>
            <a:off x="5074920" y="3172968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Give a window, never a time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 arrival range keeps the promise one the clinician can keep.</a:t>
            </a:r>
            <a:endParaRPr lang="en-US" sz="1700" dirty="0"/>
          </a:p>
        </p:txBody>
      </p:sp>
      <p:sp>
        <p:nvSpPr>
          <p:cNvPr id="9" name="item-136"/>
          <p:cNvSpPr txBox="1"/>
          <p:nvPr/>
        </p:nvSpPr>
        <p:spPr>
          <a:xfrm>
            <a:off x="5074920" y="4471416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Reliability is the experience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Patients judge us on showing up on time, seeing the same clinician, and hearing about changes before they happen.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3 · OUR SYSTEMS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systems weren't built to share information as it happens</a:t>
            </a:r>
            <a:endParaRPr lang="en-US" sz="3000" dirty="0"/>
          </a:p>
        </p:txBody>
      </p:sp>
      <p:sp>
        <p:nvSpPr>
          <p:cNvPr id="5" name="row-137"/>
          <p:cNvSpPr/>
          <p:nvPr/>
        </p:nvSpPr>
        <p:spPr>
          <a:xfrm>
            <a:off x="777240" y="1874520"/>
            <a:ext cx="5138928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icon-circle-138"/>
          <p:cNvSpPr/>
          <p:nvPr/>
        </p:nvSpPr>
        <p:spPr>
          <a:xfrm>
            <a:off x="1005840" y="212140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con-1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58568"/>
            <a:ext cx="274320" cy="274320"/>
          </a:xfrm>
          <a:prstGeom prst="rect">
            <a:avLst/>
          </a:prstGeom>
        </p:spPr>
      </p:pic>
      <p:sp>
        <p:nvSpPr>
          <p:cNvPr id="8" name="text-140"/>
          <p:cNvSpPr txBox="1"/>
          <p:nvPr/>
        </p:nvSpPr>
        <p:spPr>
          <a:xfrm>
            <a:off x="1783080" y="187452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Our main record system updates in batches, not live.</a:t>
            </a:r>
            <a:endParaRPr lang="en-US" sz="1500" dirty="0"/>
          </a:p>
        </p:txBody>
      </p:sp>
      <p:sp>
        <p:nvSpPr>
          <p:cNvPr id="9" name="row-141"/>
          <p:cNvSpPr/>
          <p:nvPr/>
        </p:nvSpPr>
        <p:spPr>
          <a:xfrm>
            <a:off x="6233008" y="1874520"/>
            <a:ext cx="5138928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icon-circle-142"/>
          <p:cNvSpPr/>
          <p:nvPr/>
        </p:nvSpPr>
        <p:spPr>
          <a:xfrm>
            <a:off x="6461608" y="212140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-14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8" y="2258568"/>
            <a:ext cx="274320" cy="274320"/>
          </a:xfrm>
          <a:prstGeom prst="rect">
            <a:avLst/>
          </a:prstGeom>
        </p:spPr>
      </p:pic>
      <p:sp>
        <p:nvSpPr>
          <p:cNvPr id="12" name="text-144"/>
          <p:cNvSpPr txBox="1"/>
          <p:nvPr/>
        </p:nvSpPr>
        <p:spPr>
          <a:xfrm>
            <a:off x="7238848" y="187452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Visit notes can arrive days late, so a finished visit can look undone.</a:t>
            </a:r>
            <a:endParaRPr lang="en-US" sz="1500" dirty="0"/>
          </a:p>
        </p:txBody>
      </p:sp>
      <p:sp>
        <p:nvSpPr>
          <p:cNvPr id="13" name="row-145"/>
          <p:cNvSpPr/>
          <p:nvPr/>
        </p:nvSpPr>
        <p:spPr>
          <a:xfrm>
            <a:off x="777240" y="3108960"/>
            <a:ext cx="5138928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icon-circle-146"/>
          <p:cNvSpPr/>
          <p:nvPr/>
        </p:nvSpPr>
        <p:spPr>
          <a:xfrm>
            <a:off x="1005840" y="33558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con-14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493008"/>
            <a:ext cx="274320" cy="274320"/>
          </a:xfrm>
          <a:prstGeom prst="rect">
            <a:avLst/>
          </a:prstGeom>
        </p:spPr>
      </p:pic>
      <p:sp>
        <p:nvSpPr>
          <p:cNvPr id="16" name="text-148"/>
          <p:cNvSpPr txBox="1"/>
          <p:nvPr/>
        </p:nvSpPr>
        <p:spPr>
          <a:xfrm>
            <a:off x="1783080" y="310896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Time off lives in a separate system that isn't connected.</a:t>
            </a:r>
            <a:endParaRPr lang="en-US" sz="1500" dirty="0"/>
          </a:p>
        </p:txBody>
      </p:sp>
      <p:sp>
        <p:nvSpPr>
          <p:cNvPr id="17" name="row-149"/>
          <p:cNvSpPr/>
          <p:nvPr/>
        </p:nvSpPr>
        <p:spPr>
          <a:xfrm>
            <a:off x="6233008" y="3108960"/>
            <a:ext cx="5138928" cy="10515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icon-circle-150"/>
          <p:cNvSpPr/>
          <p:nvPr/>
        </p:nvSpPr>
        <p:spPr>
          <a:xfrm>
            <a:off x="6461608" y="335584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con-15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68" y="3493008"/>
            <a:ext cx="274320" cy="274320"/>
          </a:xfrm>
          <a:prstGeom prst="rect">
            <a:avLst/>
          </a:prstGeom>
        </p:spPr>
      </p:pic>
      <p:sp>
        <p:nvSpPr>
          <p:cNvPr id="20" name="text-152"/>
          <p:cNvSpPr txBox="1"/>
          <p:nvPr/>
        </p:nvSpPr>
        <p:spPr>
          <a:xfrm>
            <a:off x="7238848" y="310896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Intake, documentation and utilization each sit in their own tool.</a:t>
            </a:r>
            <a:endParaRPr lang="en-US" sz="1500" dirty="0"/>
          </a:p>
        </p:txBody>
      </p:sp>
      <p:sp>
        <p:nvSpPr>
          <p:cNvPr id="21" name="callout-153"/>
          <p:cNvSpPr/>
          <p:nvPr/>
        </p:nvSpPr>
        <p:spPr>
          <a:xfrm>
            <a:off x="777240" y="4526280"/>
            <a:ext cx="10637215" cy="5943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2" name="callout-text-154"/>
          <p:cNvSpPr txBox="1"/>
          <p:nvPr/>
        </p:nvSpPr>
        <p:spPr>
          <a:xfrm>
            <a:off x="1005840" y="452628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Ask each vendor: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where does this suggestion get its information, and how current is it?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4 · YOUR ROLE WITH THE TOOL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Picture your day when the tool makes suggestions</a:t>
            </a:r>
            <a:endParaRPr lang="en-US" sz="3000" dirty="0"/>
          </a:p>
        </p:txBody>
      </p:sp>
      <p:sp>
        <p:nvSpPr>
          <p:cNvPr id="5" name="card-155"/>
          <p:cNvSpPr/>
          <p:nvPr/>
        </p:nvSpPr>
        <p:spPr>
          <a:xfrm>
            <a:off x="777240" y="1874520"/>
            <a:ext cx="5138928" cy="16459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6" name="card-text-156"/>
          <p:cNvSpPr txBox="1"/>
          <p:nvPr/>
        </p:nvSpPr>
        <p:spPr>
          <a:xfrm>
            <a:off x="822960" y="1920240"/>
            <a:ext cx="5047488" cy="15544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you approve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Which suggestions need you, which you can ignore, and how fast you can clear them.</a:t>
            </a:r>
            <a:endParaRPr lang="en-US" sz="1900" dirty="0"/>
          </a:p>
        </p:txBody>
      </p:sp>
      <p:sp>
        <p:nvSpPr>
          <p:cNvPr id="7" name="card-157"/>
          <p:cNvSpPr/>
          <p:nvPr/>
        </p:nvSpPr>
        <p:spPr>
          <a:xfrm>
            <a:off x="6233008" y="1874520"/>
            <a:ext cx="5138928" cy="16459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card-text-158"/>
          <p:cNvSpPr txBox="1"/>
          <p:nvPr/>
        </p:nvSpPr>
        <p:spPr>
          <a:xfrm>
            <a:off x="6278728" y="1920240"/>
            <a:ext cx="5047488" cy="15544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Where it shows up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A queue, an alert, or right inside the work you're already doing.</a:t>
            </a:r>
            <a:endParaRPr lang="en-US" sz="1900" dirty="0"/>
          </a:p>
        </p:txBody>
      </p:sp>
      <p:sp>
        <p:nvSpPr>
          <p:cNvPr id="9" name="card-159"/>
          <p:cNvSpPr/>
          <p:nvPr/>
        </p:nvSpPr>
        <p:spPr>
          <a:xfrm>
            <a:off x="777240" y="3703320"/>
            <a:ext cx="5138928" cy="16459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card-text-160"/>
          <p:cNvSpPr txBox="1"/>
          <p:nvPr/>
        </p:nvSpPr>
        <p:spPr>
          <a:xfrm>
            <a:off x="822960" y="3749040"/>
            <a:ext cx="5047488" cy="15544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When you overrule it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How easy it is, whether it asks why, and whether it learns.</a:t>
            </a:r>
            <a:endParaRPr lang="en-US" sz="1900" dirty="0"/>
          </a:p>
        </p:txBody>
      </p:sp>
      <p:sp>
        <p:nvSpPr>
          <p:cNvPr id="11" name="card-161"/>
          <p:cNvSpPr/>
          <p:nvPr/>
        </p:nvSpPr>
        <p:spPr>
          <a:xfrm>
            <a:off x="6233008" y="3703320"/>
            <a:ext cx="5138928" cy="16459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2" name="card-text-162"/>
          <p:cNvSpPr txBox="1"/>
          <p:nvPr/>
        </p:nvSpPr>
        <p:spPr>
          <a:xfrm>
            <a:off x="6278728" y="3749040"/>
            <a:ext cx="5047488" cy="15544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stays yours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Clinical sign-off on call-out triage and coverage stays with the clinical manager.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4 · HOW WE'LL JUDGE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One standard for all three finalists</a:t>
            </a:r>
            <a:endParaRPr lang="en-US" sz="3000" dirty="0"/>
          </a:p>
        </p:txBody>
      </p:sp>
      <p:sp>
        <p:nvSpPr>
          <p:cNvPr id="5" name="card-163"/>
          <p:cNvSpPr/>
          <p:nvPr/>
        </p:nvSpPr>
        <p:spPr>
          <a:xfrm>
            <a:off x="777240" y="1874520"/>
            <a:ext cx="33375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card-text-164"/>
          <p:cNvSpPr txBox="1"/>
          <p:nvPr/>
        </p:nvSpPr>
        <p:spPr>
          <a:xfrm>
            <a:off x="822960" y="1920240"/>
            <a:ext cx="3246120" cy="17373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 explains itself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Every suggestion shows why: points left, distance, continuity, auth status.</a:t>
            </a:r>
            <a:endParaRPr lang="en-US" sz="1900" dirty="0"/>
          </a:p>
        </p:txBody>
      </p:sp>
      <p:sp>
        <p:nvSpPr>
          <p:cNvPr id="7" name="card-165"/>
          <p:cNvSpPr/>
          <p:nvPr/>
        </p:nvSpPr>
        <p:spPr>
          <a:xfrm>
            <a:off x="4414418" y="1874520"/>
            <a:ext cx="33375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card-text-166"/>
          <p:cNvSpPr txBox="1"/>
          <p:nvPr/>
        </p:nvSpPr>
        <p:spPr>
          <a:xfrm>
            <a:off x="4460138" y="1920240"/>
            <a:ext cx="3246120" cy="17373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 respects hard rules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OASIS windows, the 60-day cert, auth limits and scope of practice. It never suggests a violation.</a:t>
            </a:r>
            <a:endParaRPr lang="en-US" sz="1900" dirty="0"/>
          </a:p>
        </p:txBody>
      </p:sp>
      <p:sp>
        <p:nvSpPr>
          <p:cNvPr id="9" name="card-167"/>
          <p:cNvSpPr/>
          <p:nvPr/>
        </p:nvSpPr>
        <p:spPr>
          <a:xfrm>
            <a:off x="8051597" y="1874520"/>
            <a:ext cx="33375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card-text-168"/>
          <p:cNvSpPr txBox="1"/>
          <p:nvPr/>
        </p:nvSpPr>
        <p:spPr>
          <a:xfrm>
            <a:off x="8097317" y="1920240"/>
            <a:ext cx="3246120" cy="17373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 learns from no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Overrides are captured with a reason and change what it suggests next.</a:t>
            </a:r>
            <a:endParaRPr lang="en-US" sz="1900" dirty="0"/>
          </a:p>
        </p:txBody>
      </p:sp>
      <p:sp>
        <p:nvSpPr>
          <p:cNvPr id="11" name="card-169"/>
          <p:cNvSpPr/>
          <p:nvPr/>
        </p:nvSpPr>
        <p:spPr>
          <a:xfrm>
            <a:off x="777240" y="3886200"/>
            <a:ext cx="33375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2" name="card-text-170"/>
          <p:cNvSpPr txBox="1"/>
          <p:nvPr/>
        </p:nvSpPr>
        <p:spPr>
          <a:xfrm>
            <a:off x="822960" y="3931920"/>
            <a:ext cx="3246120" cy="17373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Automation is earned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Which tasks, what safeguards, and who decides to switch each one on.</a:t>
            </a:r>
            <a:endParaRPr lang="en-US" sz="1900" dirty="0"/>
          </a:p>
        </p:txBody>
      </p:sp>
      <p:sp>
        <p:nvSpPr>
          <p:cNvPr id="13" name="card-171"/>
          <p:cNvSpPr/>
          <p:nvPr/>
        </p:nvSpPr>
        <p:spPr>
          <a:xfrm>
            <a:off x="4414418" y="3886200"/>
            <a:ext cx="333756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card-text-172"/>
          <p:cNvSpPr txBox="1"/>
          <p:nvPr/>
        </p:nvSpPr>
        <p:spPr>
          <a:xfrm>
            <a:off x="4460138" y="3931920"/>
            <a:ext cx="3246120" cy="17373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It has proof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Acceptance rates and visits per clinician per day at a live customer. Not "% auto-scheduled."</a:t>
            </a:r>
            <a:endParaRPr lang="en-US" sz="1900" dirty="0"/>
          </a:p>
        </p:txBody>
      </p:sp>
      <p:sp>
        <p:nvSpPr>
          <p:cNvPr id="15" name="card-173"/>
          <p:cNvSpPr/>
          <p:nvPr/>
        </p:nvSpPr>
        <p:spPr>
          <a:xfrm>
            <a:off x="8051597" y="3886200"/>
            <a:ext cx="3337560" cy="182880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card-text-174"/>
          <p:cNvSpPr txBox="1"/>
          <p:nvPr/>
        </p:nvSpPr>
        <p:spPr>
          <a:xfrm>
            <a:off x="8097317" y="3931920"/>
            <a:ext cx="3246120" cy="17373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Deal-breakers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Missing a must-have rule rules a product out, however well it scores elsewhere.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17373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PART 5 · THE FINALISTS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2194560"/>
            <a:ext cx="106372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Three sessions, one standard</a:t>
            </a:r>
            <a:endParaRPr lang="en-US" sz="4800" dirty="0"/>
          </a:p>
        </p:txBody>
      </p:sp>
      <p:sp>
        <p:nvSpPr>
          <p:cNvPr id="5" name="rule-175"/>
          <p:cNvSpPr/>
          <p:nvPr/>
        </p:nvSpPr>
        <p:spPr>
          <a:xfrm>
            <a:off x="777240" y="4114800"/>
            <a:ext cx="32004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vendor-176"/>
          <p:cNvSpPr txBox="1"/>
          <p:nvPr/>
        </p:nvSpPr>
        <p:spPr>
          <a:xfrm>
            <a:off x="777240" y="4251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Vitalis Care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9FB0C8"/>
                </a:solidFill>
              </a:rPr>
              <a:t>Session [day, time]</a:t>
            </a:r>
            <a:endParaRPr lang="en-US" sz="2600" dirty="0"/>
          </a:p>
        </p:txBody>
      </p:sp>
      <p:sp>
        <p:nvSpPr>
          <p:cNvPr id="7" name="rule-177"/>
          <p:cNvSpPr/>
          <p:nvPr/>
        </p:nvSpPr>
        <p:spPr>
          <a:xfrm>
            <a:off x="4444898" y="4114800"/>
            <a:ext cx="32004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vendor-178"/>
          <p:cNvSpPr txBox="1"/>
          <p:nvPr/>
        </p:nvSpPr>
        <p:spPr>
          <a:xfrm>
            <a:off x="4444898" y="4251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Axle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9FB0C8"/>
                </a:solidFill>
              </a:rPr>
              <a:t>Session [day, time]</a:t>
            </a:r>
            <a:endParaRPr lang="en-US" sz="2600" dirty="0"/>
          </a:p>
        </p:txBody>
      </p:sp>
      <p:sp>
        <p:nvSpPr>
          <p:cNvPr id="9" name="rule-179"/>
          <p:cNvSpPr/>
          <p:nvPr/>
        </p:nvSpPr>
        <p:spPr>
          <a:xfrm>
            <a:off x="8112557" y="4114800"/>
            <a:ext cx="320040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vendor-180"/>
          <p:cNvSpPr txBox="1"/>
          <p:nvPr/>
        </p:nvSpPr>
        <p:spPr>
          <a:xfrm>
            <a:off x="8112557" y="42519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ARYA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9FB0C8"/>
                </a:solidFill>
              </a:rPr>
              <a:t>Session [day, time]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5 · FINALIST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Vitalis Care</a:t>
            </a:r>
            <a:endParaRPr lang="en-US" sz="3000" dirty="0"/>
          </a:p>
        </p:txBody>
      </p:sp>
      <p:sp>
        <p:nvSpPr>
          <p:cNvPr id="5" name="card-181"/>
          <p:cNvSpPr/>
          <p:nvPr/>
        </p:nvSpPr>
        <p:spPr>
          <a:xfrm>
            <a:off x="777240" y="1600200"/>
            <a:ext cx="333756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card-text-182"/>
          <p:cNvSpPr txBox="1"/>
          <p:nvPr/>
        </p:nvSpPr>
        <p:spPr>
          <a:xfrm>
            <a:off x="822960" y="1645920"/>
            <a:ext cx="3246120" cy="18288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we saw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[Strength from the demo]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[Strength from the demo]</a:t>
            </a:r>
            <a:endParaRPr lang="en-US" sz="1900" dirty="0"/>
          </a:p>
        </p:txBody>
      </p:sp>
      <p:sp>
        <p:nvSpPr>
          <p:cNvPr id="7" name="card-183"/>
          <p:cNvSpPr/>
          <p:nvPr/>
        </p:nvSpPr>
        <p:spPr>
          <a:xfrm>
            <a:off x="4414418" y="1600200"/>
            <a:ext cx="333756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card-text-184"/>
          <p:cNvSpPr txBox="1"/>
          <p:nvPr/>
        </p:nvSpPr>
        <p:spPr>
          <a:xfrm>
            <a:off x="4460138" y="1645920"/>
            <a:ext cx="3246120" cy="18288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Recommend or automate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[Where it sits today, and what it can automate later]</a:t>
            </a:r>
            <a:endParaRPr lang="en-US" sz="1900" dirty="0"/>
          </a:p>
        </p:txBody>
      </p:sp>
      <p:sp>
        <p:nvSpPr>
          <p:cNvPr id="9" name="card-185"/>
          <p:cNvSpPr/>
          <p:nvPr/>
        </p:nvSpPr>
        <p:spPr>
          <a:xfrm>
            <a:off x="8051597" y="1600200"/>
            <a:ext cx="333756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card-text-186"/>
          <p:cNvSpPr txBox="1"/>
          <p:nvPr/>
        </p:nvSpPr>
        <p:spPr>
          <a:xfrm>
            <a:off x="8097317" y="1645920"/>
            <a:ext cx="3246120" cy="18288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Open concerns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[Concern from the demo]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[Concern from the demo]</a:t>
            </a:r>
            <a:endParaRPr lang="en-US" sz="1900" dirty="0"/>
          </a:p>
        </p:txBody>
      </p:sp>
      <p:sp>
        <p:nvSpPr>
          <p:cNvPr id="11" name="card-187"/>
          <p:cNvSpPr/>
          <p:nvPr/>
        </p:nvSpPr>
        <p:spPr>
          <a:xfrm>
            <a:off x="777240" y="3749040"/>
            <a:ext cx="10637215" cy="20574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card-text-188"/>
          <p:cNvSpPr txBox="1"/>
          <p:nvPr/>
        </p:nvSpPr>
        <p:spPr>
          <a:xfrm>
            <a:off x="822960" y="3794760"/>
            <a:ext cx="10545775" cy="19659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QUESTIONS ONLY YOU CAN ANSWER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1. [Question]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2. [Question]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3. [Question]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5 · FINALIST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Axle</a:t>
            </a:r>
            <a:endParaRPr lang="en-US" sz="3000" dirty="0"/>
          </a:p>
        </p:txBody>
      </p:sp>
      <p:sp>
        <p:nvSpPr>
          <p:cNvPr id="5" name="card-189"/>
          <p:cNvSpPr/>
          <p:nvPr/>
        </p:nvSpPr>
        <p:spPr>
          <a:xfrm>
            <a:off x="777240" y="1600200"/>
            <a:ext cx="333756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card-text-190"/>
          <p:cNvSpPr txBox="1"/>
          <p:nvPr/>
        </p:nvSpPr>
        <p:spPr>
          <a:xfrm>
            <a:off x="822960" y="1645920"/>
            <a:ext cx="3246120" cy="18288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we saw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[Strength from the demo]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[Strength from the demo]</a:t>
            </a:r>
            <a:endParaRPr lang="en-US" sz="1900" dirty="0"/>
          </a:p>
        </p:txBody>
      </p:sp>
      <p:sp>
        <p:nvSpPr>
          <p:cNvPr id="7" name="card-191"/>
          <p:cNvSpPr/>
          <p:nvPr/>
        </p:nvSpPr>
        <p:spPr>
          <a:xfrm>
            <a:off x="4414418" y="1600200"/>
            <a:ext cx="333756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card-text-192"/>
          <p:cNvSpPr txBox="1"/>
          <p:nvPr/>
        </p:nvSpPr>
        <p:spPr>
          <a:xfrm>
            <a:off x="4460138" y="1645920"/>
            <a:ext cx="3246120" cy="18288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Recommend or automate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[Where it sits today, and what it can automate later]</a:t>
            </a:r>
            <a:endParaRPr lang="en-US" sz="1900" dirty="0"/>
          </a:p>
        </p:txBody>
      </p:sp>
      <p:sp>
        <p:nvSpPr>
          <p:cNvPr id="9" name="card-193"/>
          <p:cNvSpPr/>
          <p:nvPr/>
        </p:nvSpPr>
        <p:spPr>
          <a:xfrm>
            <a:off x="8051597" y="1600200"/>
            <a:ext cx="333756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card-text-194"/>
          <p:cNvSpPr txBox="1"/>
          <p:nvPr/>
        </p:nvSpPr>
        <p:spPr>
          <a:xfrm>
            <a:off x="8097317" y="1645920"/>
            <a:ext cx="3246120" cy="18288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Open concerns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[Concern from the demo]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[Concern from the demo]</a:t>
            </a:r>
            <a:endParaRPr lang="en-US" sz="1900" dirty="0"/>
          </a:p>
        </p:txBody>
      </p:sp>
      <p:sp>
        <p:nvSpPr>
          <p:cNvPr id="11" name="card-195"/>
          <p:cNvSpPr/>
          <p:nvPr/>
        </p:nvSpPr>
        <p:spPr>
          <a:xfrm>
            <a:off x="777240" y="3749040"/>
            <a:ext cx="10637215" cy="20574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card-text-196"/>
          <p:cNvSpPr txBox="1"/>
          <p:nvPr/>
        </p:nvSpPr>
        <p:spPr>
          <a:xfrm>
            <a:off x="822960" y="3794760"/>
            <a:ext cx="10545775" cy="19659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QUESTIONS ONLY YOU CAN ANSWER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1. [Question]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2. [Question]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3. [Question]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PART 5 · FINALIST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ARYA</a:t>
            </a:r>
            <a:endParaRPr lang="en-US" sz="3000" dirty="0"/>
          </a:p>
        </p:txBody>
      </p:sp>
      <p:sp>
        <p:nvSpPr>
          <p:cNvPr id="5" name="card-197"/>
          <p:cNvSpPr/>
          <p:nvPr/>
        </p:nvSpPr>
        <p:spPr>
          <a:xfrm>
            <a:off x="777240" y="1600200"/>
            <a:ext cx="333756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card-text-198"/>
          <p:cNvSpPr txBox="1"/>
          <p:nvPr/>
        </p:nvSpPr>
        <p:spPr>
          <a:xfrm>
            <a:off x="822960" y="1645920"/>
            <a:ext cx="3246120" cy="18288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What we saw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[Strength from the demo]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[Strength from the demo]</a:t>
            </a:r>
            <a:endParaRPr lang="en-US" sz="1900" dirty="0"/>
          </a:p>
        </p:txBody>
      </p:sp>
      <p:sp>
        <p:nvSpPr>
          <p:cNvPr id="7" name="card-199"/>
          <p:cNvSpPr/>
          <p:nvPr/>
        </p:nvSpPr>
        <p:spPr>
          <a:xfrm>
            <a:off x="4414418" y="1600200"/>
            <a:ext cx="333756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card-text-200"/>
          <p:cNvSpPr txBox="1"/>
          <p:nvPr/>
        </p:nvSpPr>
        <p:spPr>
          <a:xfrm>
            <a:off x="4460138" y="1645920"/>
            <a:ext cx="3246120" cy="18288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Recommend or automate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[Where it sits today, and what it can automate later]</a:t>
            </a:r>
            <a:endParaRPr lang="en-US" sz="1900" dirty="0"/>
          </a:p>
        </p:txBody>
      </p:sp>
      <p:sp>
        <p:nvSpPr>
          <p:cNvPr id="9" name="card-201"/>
          <p:cNvSpPr/>
          <p:nvPr/>
        </p:nvSpPr>
        <p:spPr>
          <a:xfrm>
            <a:off x="8051597" y="1600200"/>
            <a:ext cx="333756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card-text-202"/>
          <p:cNvSpPr txBox="1"/>
          <p:nvPr/>
        </p:nvSpPr>
        <p:spPr>
          <a:xfrm>
            <a:off x="8097317" y="1645920"/>
            <a:ext cx="3246120" cy="182880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Open concerns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[Concern from the demo]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[Concern from the demo]</a:t>
            </a:r>
            <a:endParaRPr lang="en-US" sz="1900" dirty="0"/>
          </a:p>
        </p:txBody>
      </p:sp>
      <p:sp>
        <p:nvSpPr>
          <p:cNvPr id="11" name="card-203"/>
          <p:cNvSpPr/>
          <p:nvPr/>
        </p:nvSpPr>
        <p:spPr>
          <a:xfrm>
            <a:off x="777240" y="3749040"/>
            <a:ext cx="10637215" cy="20574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card-text-204"/>
          <p:cNvSpPr txBox="1"/>
          <p:nvPr/>
        </p:nvSpPr>
        <p:spPr>
          <a:xfrm>
            <a:off x="822960" y="3794760"/>
            <a:ext cx="10545775" cy="196596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QUESTIONS ONLY YOU CAN ANSWER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1. [Question]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2. [Question]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3. [Question]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17373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APPENDIX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2194560"/>
            <a:ext cx="106372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 reference</a:t>
            </a:r>
            <a:endParaRPr lang="en-US" sz="4800" dirty="0"/>
          </a:p>
        </p:txBody>
      </p:sp>
      <p:sp>
        <p:nvSpPr>
          <p:cNvPr id="4" name="text-205"/>
          <p:cNvSpPr txBox="1"/>
          <p:nvPr/>
        </p:nvSpPr>
        <p:spPr>
          <a:xfrm>
            <a:off x="777240" y="4069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chemeClr val="bg2"/>
                </a:solidFill>
              </a:rPr>
              <a:t>The companion packet, the scenario sheets, and more detail on the bottlenecks and payer rules. Read as much as you find useful.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APPENDIX A · COMPANION PACKET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full flow maps, in a separate PDF</a:t>
            </a:r>
            <a:endParaRPr lang="en-US" sz="3000" dirty="0"/>
          </a:p>
        </p:txBody>
      </p:sp>
      <p:graphicFrame>
        <p:nvGraphicFramePr>
          <p:cNvPr id="24" name="table-2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372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34263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Sheet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What it shows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Primary flow map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whole path, referral to discharge, on one page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Start of care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Admission, plan of care, and where the auth and DCS holds sit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Routine visits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How clinicians plot and move their own visits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Authorization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Where auth meets scheduling, and only there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Recert and discharge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end of the episode and capacity handed back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DCS and scheduler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The handoffs between clinical review and scheduling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Detailed composite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Every flow layered into one working view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-207"/>
          <p:cNvSpPr txBox="1"/>
          <p:nvPr/>
        </p:nvSpPr>
        <p:spPr>
          <a:xfrm>
            <a:off x="777240" y="54864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Read them on screen and zoom in. They are poster-sized, so print only on large-format paper. Every sheet shows how things work today, not a proposal.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APPENDIX B · SCENARIO SHEETS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Six stories, each told today and after</a:t>
            </a:r>
            <a:endParaRPr lang="en-US" sz="3000" dirty="0"/>
          </a:p>
        </p:txBody>
      </p:sp>
      <p:sp>
        <p:nvSpPr>
          <p:cNvPr id="4" name="card-208"/>
          <p:cNvSpPr/>
          <p:nvPr/>
        </p:nvSpPr>
        <p:spPr>
          <a:xfrm>
            <a:off x="777240" y="1874520"/>
            <a:ext cx="3337560" cy="1645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card-text-209"/>
          <p:cNvSpPr txBox="1"/>
          <p:nvPr/>
        </p:nvSpPr>
        <p:spPr>
          <a:xfrm>
            <a:off x="822960" y="1920240"/>
            <a:ext cx="3246120" cy="15544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referral, one episode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Friday afternoon to the close of the first payment period. Four points where money leaves.</a:t>
            </a:r>
            <a:endParaRPr lang="en-US" sz="1600" dirty="0"/>
          </a:p>
        </p:txBody>
      </p:sp>
      <p:sp>
        <p:nvSpPr>
          <p:cNvPr id="6" name="card-210"/>
          <p:cNvSpPr/>
          <p:nvPr/>
        </p:nvSpPr>
        <p:spPr>
          <a:xfrm>
            <a:off x="4414418" y="1874520"/>
            <a:ext cx="3337560" cy="1645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card-text-211"/>
          <p:cNvSpPr txBox="1"/>
          <p:nvPr/>
        </p:nvSpPr>
        <p:spPr>
          <a:xfrm>
            <a:off x="4460138" y="1920240"/>
            <a:ext cx="3246120" cy="15544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clinician's week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An admitting RN paid per visit, Monday to Friday, and what the week actually paid her.</a:t>
            </a:r>
            <a:endParaRPr lang="en-US" sz="1600" dirty="0"/>
          </a:p>
        </p:txBody>
      </p:sp>
      <p:sp>
        <p:nvSpPr>
          <p:cNvPr id="8" name="card-212"/>
          <p:cNvSpPr/>
          <p:nvPr/>
        </p:nvSpPr>
        <p:spPr>
          <a:xfrm>
            <a:off x="8051597" y="1874520"/>
            <a:ext cx="3337560" cy="1645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card-text-213"/>
          <p:cNvSpPr txBox="1"/>
          <p:nvPr/>
        </p:nvSpPr>
        <p:spPr>
          <a:xfrm>
            <a:off x="8097317" y="1920240"/>
            <a:ext cx="3246120" cy="15544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branch's week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A branch at capacity: the queue, the call-out, and the referral it turned down.</a:t>
            </a:r>
            <a:endParaRPr lang="en-US" sz="1600" dirty="0"/>
          </a:p>
        </p:txBody>
      </p:sp>
      <p:sp>
        <p:nvSpPr>
          <p:cNvPr id="10" name="card-214"/>
          <p:cNvSpPr/>
          <p:nvPr/>
        </p:nvSpPr>
        <p:spPr>
          <a:xfrm>
            <a:off x="777240" y="3703320"/>
            <a:ext cx="3337560" cy="1645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card-text-215"/>
          <p:cNvSpPr txBox="1"/>
          <p:nvPr/>
        </p:nvSpPr>
        <p:spPr>
          <a:xfrm>
            <a:off x="822960" y="3749040"/>
            <a:ext cx="3246120" cy="15544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weekend cascade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Three weekend starts committed on Friday, and what each did to the week after.</a:t>
            </a:r>
            <a:endParaRPr lang="en-US" sz="1600" dirty="0"/>
          </a:p>
        </p:txBody>
      </p:sp>
      <p:sp>
        <p:nvSpPr>
          <p:cNvPr id="12" name="card-216"/>
          <p:cNvSpPr/>
          <p:nvPr/>
        </p:nvSpPr>
        <p:spPr>
          <a:xfrm>
            <a:off x="4414418" y="3703320"/>
            <a:ext cx="3337560" cy="1645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card-text-217"/>
          <p:cNvSpPr txBox="1"/>
          <p:nvPr/>
        </p:nvSpPr>
        <p:spPr>
          <a:xfrm>
            <a:off x="4460138" y="3749040"/>
            <a:ext cx="3246120" cy="15544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Call-out recovery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A scheduler covering a morning call-out, step by step.</a:t>
            </a:r>
            <a:endParaRPr lang="en-US" sz="1600" dirty="0"/>
          </a:p>
        </p:txBody>
      </p:sp>
      <p:sp>
        <p:nvSpPr>
          <p:cNvPr id="14" name="card-218"/>
          <p:cNvSpPr/>
          <p:nvPr/>
        </p:nvSpPr>
        <p:spPr>
          <a:xfrm>
            <a:off x="8051597" y="3703320"/>
            <a:ext cx="3337560" cy="1645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card-text-219"/>
          <p:cNvSpPr txBox="1"/>
          <p:nvPr/>
        </p:nvSpPr>
        <p:spPr>
          <a:xfrm>
            <a:off x="8097317" y="3749040"/>
            <a:ext cx="3246120" cy="155448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clinician's day</a:t>
            </a:r>
            <a:endParaRPr lang="en-US" sz="16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One day in the field, and the evening work nobody sees.</a:t>
            </a:r>
            <a:endParaRPr lang="en-US" sz="1600" dirty="0"/>
          </a:p>
        </p:txBody>
      </p:sp>
      <p:sp>
        <p:nvSpPr>
          <p:cNvPr id="16" name="text-220"/>
          <p:cNvSpPr txBox="1"/>
          <p:nvPr/>
        </p:nvSpPr>
        <p:spPr>
          <a:xfrm>
            <a:off x="777240" y="562356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chemeClr val="accent5"/>
                </a:solidFill>
              </a:rPr>
              <a:t>In the companion packet, with a branch leader's territory review.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APPENDIX C · BOTTLENECKS 5 TO 12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rest of the list</a:t>
            </a:r>
            <a:endParaRPr lang="en-US" sz="3000" dirty="0"/>
          </a:p>
        </p:txBody>
      </p:sp>
      <p:graphicFrame>
        <p:nvGraphicFramePr>
          <p:cNvPr id="26" name="table-2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37215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651760"/>
                <a:gridCol w="743407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Bottleneck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happens today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Territory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Hand-colored maps, no data behind them, and local quirks nobody records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Discipline-role match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PTs keep routine visits PTAs could take, which blocks PT starts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Call-out recovery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 set process. Schedulers triage chart by chart, and it spills into the next days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Confirmation calls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Clinicians confirm tomorrow's visits in the evening, unpaid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readiness call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Done unevenly. A patient still in hospital can cost a clinician half a day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Workflow noise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About 50 pending-auth tasks a day per scheduler, so the one that matters gets cleared too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Per-diem capacity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Uneven rules by branch. Some branches don't use per diems at all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POA status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Found out at the door, which wastes a start-of-care visit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77240" y="50292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APPENDIX D · PAYER DETAIL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77240" y="82296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floor, a ceiling, and payer rules that arrive too late</a:t>
            </a:r>
            <a:endParaRPr lang="en-US" sz="3000" dirty="0"/>
          </a:p>
        </p:txBody>
      </p:sp>
      <p:sp>
        <p:nvSpPr>
          <p:cNvPr id="4" name="card-222"/>
          <p:cNvSpPr/>
          <p:nvPr/>
        </p:nvSpPr>
        <p:spPr>
          <a:xfrm>
            <a:off x="777240" y="1874520"/>
            <a:ext cx="5138928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card-text-223"/>
          <p:cNvSpPr txBox="1"/>
          <p:nvPr/>
        </p:nvSpPr>
        <p:spPr>
          <a:xfrm>
            <a:off x="822960" y="1920240"/>
            <a:ext cx="5047488" cy="14173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floor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Below the LUPA threshold, a period is paid per visit. Thresholds run 2 to 6 visits by group and change every year.</a:t>
            </a:r>
            <a:endParaRPr lang="en-US" sz="1900" dirty="0"/>
          </a:p>
        </p:txBody>
      </p:sp>
      <p:sp>
        <p:nvSpPr>
          <p:cNvPr id="6" name="card-224"/>
          <p:cNvSpPr/>
          <p:nvPr/>
        </p:nvSpPr>
        <p:spPr>
          <a:xfrm>
            <a:off x="6233008" y="1874520"/>
            <a:ext cx="5138928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card-text-225"/>
          <p:cNvSpPr txBox="1"/>
          <p:nvPr/>
        </p:nvSpPr>
        <p:spPr>
          <a:xfrm>
            <a:off x="6278728" y="1920240"/>
            <a:ext cx="5047488" cy="14173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ceiling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Above it, more episodic visits add cost but no revenue. The aim is the clinically right number for the period.</a:t>
            </a:r>
            <a:endParaRPr lang="en-US" sz="1900" dirty="0"/>
          </a:p>
        </p:txBody>
      </p:sp>
      <p:sp>
        <p:nvSpPr>
          <p:cNvPr id="8" name="card-226"/>
          <p:cNvSpPr/>
          <p:nvPr/>
        </p:nvSpPr>
        <p:spPr>
          <a:xfrm>
            <a:off x="777240" y="3566160"/>
            <a:ext cx="5138928" cy="15087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9" name="card-text-227"/>
          <p:cNvSpPr txBox="1"/>
          <p:nvPr/>
        </p:nvSpPr>
        <p:spPr>
          <a:xfrm>
            <a:off x="822960" y="3611880"/>
            <a:ext cx="5047488" cy="14173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UHC example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Five nursing visits, then four completed with documentation before a sixth is approved.</a:t>
            </a:r>
            <a:endParaRPr lang="en-US" sz="1900" dirty="0"/>
          </a:p>
        </p:txBody>
      </p:sp>
      <p:sp>
        <p:nvSpPr>
          <p:cNvPr id="10" name="card-228"/>
          <p:cNvSpPr/>
          <p:nvPr/>
        </p:nvSpPr>
        <p:spPr>
          <a:xfrm>
            <a:off x="6233008" y="3566160"/>
            <a:ext cx="5138928" cy="150876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1" name="card-text-229"/>
          <p:cNvSpPr txBox="1"/>
          <p:nvPr/>
        </p:nvSpPr>
        <p:spPr>
          <a:xfrm>
            <a:off x="6278728" y="3611880"/>
            <a:ext cx="5047488" cy="1417320"/>
          </a:xfrm>
          <a:prstGeom prst="rect">
            <a:avLst/>
          </a:prstGeom>
          <a:noFill/>
          <a:ln/>
        </p:spPr>
        <p:txBody>
          <a:bodyPr wrap="square" lIns="2286" tIns="2286" rIns="2286" bIns="2286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Indiana Medicaid example</a:t>
            </a:r>
            <a:endParaRPr lang="en-US" sz="19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Thirty days from hospital discharge, with eight therapy visits shared across PT, OT and ST.</a:t>
            </a:r>
            <a:endParaRPr lang="en-US" sz="1900" dirty="0"/>
          </a:p>
        </p:txBody>
      </p:sp>
      <p:sp>
        <p:nvSpPr>
          <p:cNvPr id="12" name="text-230"/>
          <p:cNvSpPr txBox="1"/>
          <p:nvPr/>
        </p:nvSpPr>
        <p:spPr>
          <a:xfrm>
            <a:off x="777240" y="534924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The auth team already records these rules at verification. They just never reach the plan of care.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2764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assus Capacity">
  <a:themeElements>
    <a:clrScheme name="Compassus Capacity">
      <a:dk1>
        <a:srgbClr val="1B2433"/>
      </a:dk1>
      <a:lt1>
        <a:srgbClr val="FFFFFF"/>
      </a:lt1>
      <a:dk2>
        <a:srgbClr val="002554"/>
      </a:dk2>
      <a:lt2>
        <a:srgbClr val="EAEEF3"/>
      </a:lt2>
      <a:accent1>
        <a:srgbClr val="CE8E00"/>
      </a:accent1>
      <a:accent2>
        <a:srgbClr val="0E7C7B"/>
      </a:accent2>
      <a:accent3>
        <a:srgbClr val="8A5F00"/>
      </a:accent3>
      <a:accent4>
        <a:srgbClr val="FBEFD3"/>
      </a:accent4>
      <a:accent5>
        <a:srgbClr val="3E4A5C"/>
      </a:accent5>
      <a:accent6>
        <a:srgbClr val="6B7686"/>
      </a:accent6>
      <a:hlink>
        <a:srgbClr val="0E7C7B"/>
      </a:hlink>
      <a:folHlink>
        <a:srgbClr val="002554"/>
      </a:folHlink>
    </a:clrScheme>
    <a:fontScheme name="Compassus Capacity">
      <a:majorFont>
        <a:latin typeface="Roboto Sla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Nashville: SME Pre-Read</dc:title>
  <dc:subject>PptxGenJS Presentation</dc:subject>
  <dc:creator>Capacity and Scheduling initiative team</dc:creator>
  <cp:lastModifiedBy>Capacity and Scheduling initiative team</cp:lastModifiedBy>
  <cp:revision>1</cp:revision>
  <dcterms:created xsi:type="dcterms:W3CDTF">2026-10-08T19:52:47Z</dcterms:created>
  <dcterms:modified xsi:type="dcterms:W3CDTF">2026-10-08T19:52:47Z</dcterms:modified>
</cp:coreProperties>
</file>