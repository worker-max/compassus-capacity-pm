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frame in order: 1 Problem, 2 Solution, 3 Approach, 4 Result. Problem: capacity information is fragmented across spreadsheets, systems and individual memory, and PCCs and clinicians absorb the cost. Solution: one clear view of capacity, with automation and recommendations that explain themselves. Approach: field-led, with our SMEs testing vendors on real scenarios, capacity first, then a measured pilot. Result: growth, as branches accept referrals with confidence and people get time back for the work that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ssus · Light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mpassus-logo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6197600"/>
            <a:ext cx="6604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25600" y="61976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&amp; Scheduling · SME Introduction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rgbClr val="8A5F0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200" kern="0" dirty="0">
                <a:solidFill>
                  <a:srgbClr val="8A5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EYEBROW LABEL</a:t>
            </a: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812800" y="1117600"/>
            <a:ext cx="10566400" cy="63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rgbClr val="002554"/>
                </a:solidFill>
                <a:latin typeface="Maven Pro" pitchFamily="34" charset="0"/>
                <a:ea typeface="Maven Pro" pitchFamily="34" charset="-122"/>
                <a:cs typeface="Maven Pro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dirty="0">
                <a:solidFill>
                  <a:srgbClr val="002554"/>
                </a:solidFill>
                <a:latin typeface="Maven Pro" pitchFamily="34" charset="0"/>
                <a:ea typeface="Maven Pro" pitchFamily="34" charset="-122"/>
                <a:cs typeface="Maven Pro" pitchFamily="34" charset="-120"/>
              </a:rPr>
              <a:t>Slide title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197600"/>
            <a:ext cx="1270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200">
                <a:solidFill>
                  <a:srgbClr val="5A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197600"/>
            <a:ext cx="1270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200">
                <a:solidFill>
                  <a:srgbClr val="5A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5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FRAME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812800" y="11176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rgbClr val="002554"/>
                </a:solidFill>
                <a:latin typeface="Maven Pro" pitchFamily="34" charset="0"/>
                <a:ea typeface="Maven Pro" pitchFamily="34" charset="-122"/>
                <a:cs typeface="Maven Pro" pitchFamily="34" charset="-120"/>
              </a:rPr>
              <a:t>Our key words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3429000" y="4064000"/>
            <a:ext cx="2413000" cy="1333500"/>
          </a:xfrm>
          <a:prstGeom prst="rect">
            <a:avLst/>
          </a:prstGeom>
          <a:solidFill>
            <a:srgbClr val="00255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3632200" y="4267200"/>
            <a:ext cx="2006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E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·  PROBLEM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632200" y="4584700"/>
            <a:ext cx="2006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8F6F1"/>
                </a:solidFill>
                <a:latin typeface="Maven Pro" pitchFamily="34" charset="0"/>
                <a:ea typeface="Maven Pro" pitchFamily="34" charset="-122"/>
                <a:cs typeface="Maven Pro" pitchFamily="34" charset="-120"/>
              </a:rPr>
              <a:t>Fragmented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429000" y="2095500"/>
            <a:ext cx="2413000" cy="1333500"/>
          </a:xfrm>
          <a:prstGeom prst="rect">
            <a:avLst/>
          </a:prstGeom>
          <a:solidFill>
            <a:srgbClr val="00255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32200" y="2298700"/>
            <a:ext cx="2006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E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·  SOLUTION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632200" y="2616200"/>
            <a:ext cx="2006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8F6F1"/>
                </a:solidFill>
                <a:latin typeface="Maven Pro" pitchFamily="34" charset="0"/>
                <a:ea typeface="Maven Pro" pitchFamily="34" charset="-122"/>
                <a:cs typeface="Maven Pro" pitchFamily="34" charset="-120"/>
              </a:rPr>
              <a:t>Visibility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350000" y="2095500"/>
            <a:ext cx="2413000" cy="1333500"/>
          </a:xfrm>
          <a:prstGeom prst="rect">
            <a:avLst/>
          </a:prstGeom>
          <a:solidFill>
            <a:srgbClr val="00255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53200" y="2298700"/>
            <a:ext cx="2006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E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·  APPROACH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53200" y="2616200"/>
            <a:ext cx="2006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8F6F1"/>
                </a:solidFill>
                <a:latin typeface="Maven Pro" pitchFamily="34" charset="0"/>
                <a:ea typeface="Maven Pro" pitchFamily="34" charset="-122"/>
                <a:cs typeface="Maven Pro" pitchFamily="34" charset="-120"/>
              </a:rPr>
              <a:t>Field-led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350000" y="4064000"/>
            <a:ext cx="2413000" cy="1333500"/>
          </a:xfrm>
          <a:prstGeom prst="rect">
            <a:avLst/>
          </a:prstGeom>
          <a:solidFill>
            <a:srgbClr val="0025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53200" y="4267200"/>
            <a:ext cx="2006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E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·  RESULT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53200" y="4584700"/>
            <a:ext cx="2006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8F6F1"/>
                </a:solidFill>
                <a:latin typeface="Maven Pro" pitchFamily="34" charset="0"/>
                <a:ea typeface="Maven Pro" pitchFamily="34" charset="-122"/>
                <a:cs typeface="Maven Pro" pitchFamily="34" charset="-120"/>
              </a:rPr>
              <a:t>Growth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4635500" y="3467100"/>
            <a:ext cx="0" cy="558800"/>
          </a:xfrm>
          <a:prstGeom prst="line">
            <a:avLst/>
          </a:prstGeom>
          <a:noFill/>
          <a:ln w="25400">
            <a:solidFill>
              <a:srgbClr val="CE8E00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5880100" y="2762250"/>
            <a:ext cx="431800" cy="0"/>
          </a:xfrm>
          <a:prstGeom prst="line">
            <a:avLst/>
          </a:prstGeom>
          <a:noFill/>
          <a:ln w="25400">
            <a:solidFill>
              <a:srgbClr val="CE8E0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556500" y="3467100"/>
            <a:ext cx="0" cy="558800"/>
          </a:xfrm>
          <a:prstGeom prst="line">
            <a:avLst/>
          </a:prstGeom>
          <a:noFill/>
          <a:ln w="25400">
            <a:solidFill>
              <a:srgbClr val="CE8E0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812800" y="4064000"/>
            <a:ext cx="2349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lives in spreadsheets, systems and memory</a:t>
            </a:r>
            <a:endParaRPr lang="en-US" sz="1300" dirty="0"/>
          </a:p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PCCs re-key the same data across tools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12800" y="2095500"/>
            <a:ext cx="2349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by discipline and territory in one view</a:t>
            </a:r>
            <a:endParaRPr lang="en-US" sz="1300" dirty="0"/>
          </a:p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 and recommendations that show their reasoning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017000" y="2095500"/>
            <a:ext cx="2362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SMEs test vendors on real scenarios</a:t>
            </a:r>
            <a:endParaRPr lang="en-US" sz="1300" dirty="0"/>
          </a:p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first, then a measured pilot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017000" y="4064000"/>
            <a:ext cx="2362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Branches say yes to referrals with confidence</a:t>
            </a:r>
            <a:endParaRPr lang="en-US" sz="1300" dirty="0"/>
          </a:p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PCCs and clinicians get time back every day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197600"/>
            <a:ext cx="1270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200">
                <a:solidFill>
                  <a:srgbClr val="5A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Message Frame — Our Key Words</dc:title>
  <dc:subject>PptxGenJS Presentation</dc:subject>
  <dc:creator>PptxGenJS</dc:creator>
  <cp:lastModifiedBy>PptxGenJS</cp:lastModifiedBy>
  <cp:revision>1</cp:revision>
  <dcterms:created xsi:type="dcterms:W3CDTF">2026-10-01T19:22:50Z</dcterms:created>
  <dcterms:modified xsi:type="dcterms:W3CDTF">2026-10-01T19:22:50Z</dcterms:modified>
</cp:coreProperties>
</file>