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anchor words stay the same, always: Decisions, Optimized, Clinician-Centered, Growth. What changes is how you illustrate them for the listener. Problem: decisions are hard, disjointed and complex. Solution: optimized. Approach: clinician-centered. Result: growth, in the business, in employee retention, and in patients 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four anchor words, read left to right as one sentence: today every branch runs on decisions that are hard, disjointed and complex; our solution must be optimized; our approach is clinician-centered; the result is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model, not a script. Keep the four anchor words exactly as they are, and swap in facts and examples from your own branch: a decision that went wrong last week, the spreadsheet you maintain, the clinician who stayed because the schedule worked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ssus · Light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passus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6197600"/>
            <a:ext cx="660400" cy="25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25600" y="61976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&amp; Scheduling · SME Introduction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8A5F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200" kern="0" dirty="0">
                <a:solidFill>
                  <a:srgbClr val="8A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EYEBROW LABEL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Slide title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1976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1976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FRAME · OUR ANCHOR WORDS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Four words every leader can repeat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302000" y="4127500"/>
            <a:ext cx="2413000" cy="1333500"/>
          </a:xfrm>
          <a:prstGeom prst="rect">
            <a:avLst/>
          </a:prstGeom>
          <a:solidFill>
            <a:srgbClr val="0025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505200" y="4318000"/>
            <a:ext cx="200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E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505200" y="4533900"/>
            <a:ext cx="200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F8F6F1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DECISIONS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302000" y="2095500"/>
            <a:ext cx="2413000" cy="1333500"/>
          </a:xfrm>
          <a:prstGeom prst="rect">
            <a:avLst/>
          </a:prstGeom>
          <a:solidFill>
            <a:srgbClr val="0025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5200" y="2286000"/>
            <a:ext cx="200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E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05200" y="2501900"/>
            <a:ext cx="200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F8F6F1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OPTIMIZED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77000" y="2095500"/>
            <a:ext cx="2413000" cy="1333500"/>
          </a:xfrm>
          <a:prstGeom prst="rect">
            <a:avLst/>
          </a:prstGeom>
          <a:solidFill>
            <a:srgbClr val="0025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80200" y="2286000"/>
            <a:ext cx="200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E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80200" y="2501900"/>
            <a:ext cx="200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100" dirty="0">
                <a:solidFill>
                  <a:srgbClr val="F8F6F1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CLINICIAN-</a:t>
            </a:r>
            <a:endParaRPr lang="en-US" sz="2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2100" dirty="0">
                <a:solidFill>
                  <a:srgbClr val="F8F6F1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CENTERED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477000" y="4127500"/>
            <a:ext cx="2413000" cy="1333500"/>
          </a:xfrm>
          <a:prstGeom prst="rect">
            <a:avLst/>
          </a:prstGeom>
          <a:solidFill>
            <a:srgbClr val="0025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80200" y="4318000"/>
            <a:ext cx="200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CE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80200" y="4533900"/>
            <a:ext cx="200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F8F6F1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GROWTH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508500" y="3479800"/>
            <a:ext cx="0" cy="596900"/>
          </a:xfrm>
          <a:prstGeom prst="line">
            <a:avLst/>
          </a:prstGeom>
          <a:noFill/>
          <a:ln w="25400">
            <a:solidFill>
              <a:srgbClr val="CE8E00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5765800" y="2762250"/>
            <a:ext cx="660400" cy="0"/>
          </a:xfrm>
          <a:prstGeom prst="line">
            <a:avLst/>
          </a:prstGeom>
          <a:noFill/>
          <a:ln w="25400">
            <a:solidFill>
              <a:srgbClr val="CE8E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3500" y="3479800"/>
            <a:ext cx="0" cy="596900"/>
          </a:xfrm>
          <a:prstGeom prst="line">
            <a:avLst/>
          </a:prstGeom>
          <a:noFill/>
          <a:ln w="25400">
            <a:solidFill>
              <a:srgbClr val="CE8E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12800" y="4127500"/>
            <a:ext cx="2235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Disjointed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2095500"/>
            <a:ext cx="2235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visible by discipline and territory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scheduling steps automated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that show their reasoning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2095500"/>
            <a:ext cx="2235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experts help choose the tool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and continuity protected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first, then a measured pilot before scaling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4127500"/>
            <a:ext cx="2235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growth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retention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served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1976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FRAME · WHAT IT MEANS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From hard decisions to growth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1905000"/>
            <a:ext cx="2527300" cy="3873500"/>
          </a:xfrm>
          <a:prstGeom prst="rect">
            <a:avLst/>
          </a:prstGeom>
          <a:solidFill>
            <a:srgbClr val="002554"/>
          </a:solidFill>
          <a:ln w="9525">
            <a:solidFill>
              <a:srgbClr val="0025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1400" y="2108200"/>
            <a:ext cx="207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2311400"/>
            <a:ext cx="207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every branch runs 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1400" y="2540000"/>
            <a:ext cx="2070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CE8E00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DECISIONS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41400" y="3302000"/>
            <a:ext cx="2070100" cy="0"/>
          </a:xfrm>
          <a:prstGeom prst="line">
            <a:avLst/>
          </a:prstGeom>
          <a:noFill/>
          <a:ln w="19050">
            <a:solidFill>
              <a:srgbClr val="2A4A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1400" y="3479800"/>
            <a:ext cx="2070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Hard: too many visits, windows, authorizations and territories to weigh by hand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Disjointed: spread across HCHB, spreadsheets, Workday and memory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Complex: every choice ripples across patients, clinicians and compliance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92500" y="1905000"/>
            <a:ext cx="2527300" cy="3873500"/>
          </a:xfrm>
          <a:prstGeom prst="rect">
            <a:avLst/>
          </a:prstGeom>
          <a:solidFill>
            <a:srgbClr val="FDFCFA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1100" y="2108200"/>
            <a:ext cx="207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721100" y="2311400"/>
            <a:ext cx="207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must be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21100" y="2540000"/>
            <a:ext cx="2070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OPTIMIZED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721100" y="3302000"/>
            <a:ext cx="2070100" cy="0"/>
          </a:xfrm>
          <a:prstGeom prst="line">
            <a:avLst/>
          </a:prstGeom>
          <a:noFill/>
          <a:ln w="19050">
            <a:solidFill>
              <a:srgbClr val="D6D0C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21100" y="3479800"/>
            <a:ext cx="2070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visible by discipline and territory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scheduling steps automated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that show their reasoning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905000"/>
            <a:ext cx="2527300" cy="3873500"/>
          </a:xfrm>
          <a:prstGeom prst="rect">
            <a:avLst/>
          </a:prstGeom>
          <a:solidFill>
            <a:srgbClr val="002554"/>
          </a:solidFill>
          <a:ln w="9525">
            <a:solidFill>
              <a:srgbClr val="0025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108200"/>
            <a:ext cx="207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311400"/>
            <a:ext cx="207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 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40000"/>
            <a:ext cx="2070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CE8E00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CLINICIAN-</a:t>
            </a:r>
            <a:endParaRPr lang="en-US" sz="2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CE8E00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CENTERED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0" y="3302000"/>
            <a:ext cx="2070100" cy="0"/>
          </a:xfrm>
          <a:prstGeom prst="line">
            <a:avLst/>
          </a:prstGeom>
          <a:noFill/>
          <a:ln w="19050">
            <a:solidFill>
              <a:srgbClr val="2A4A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479800"/>
            <a:ext cx="2070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experts help choose the tool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and continuity protected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first, then a measured pilot before scaling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51900" y="1905000"/>
            <a:ext cx="2527300" cy="3873500"/>
          </a:xfrm>
          <a:prstGeom prst="rect">
            <a:avLst/>
          </a:prstGeom>
          <a:solidFill>
            <a:srgbClr val="FDFCFA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80500" y="2108200"/>
            <a:ext cx="207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080500" y="2311400"/>
            <a:ext cx="207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080500" y="2540000"/>
            <a:ext cx="2070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GROWTH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9080500" y="3302000"/>
            <a:ext cx="2070100" cy="0"/>
          </a:xfrm>
          <a:prstGeom prst="line">
            <a:avLst/>
          </a:prstGeom>
          <a:noFill/>
          <a:ln w="19050">
            <a:solidFill>
              <a:srgbClr val="D6D0C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80500" y="3479800"/>
            <a:ext cx="20701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growth: more referrals accepted with confidence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retention: time back for PCCs and clinicians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patients served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1976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FRAME · EXAMPLE STORY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812800" y="11176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How it sounds out loud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15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anchor words stay the same, always. The facts and examples change to fit the listener.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70000" y="2222500"/>
            <a:ext cx="965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“Every day, our branches make hundreds of capacity and scheduling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8A5F00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decisions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. Today those decisions are hard, disjointed and complex. The information lives in HCHB, spreadsheets, Workday and people's memories, so our PCCs and clinicians spend their time piecing it together.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We need those decisions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8A5F00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optimized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: capacity visible at a glance, the repetitive steps automated, and clear recommendations that show their reasoning.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Our approach is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8A5F00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clinician-centered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. The people who do the work are helping choose the tool, we are protecting the flexibility clinicians value, and we will prove it in a measured pilot before we scale.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The result is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8A5F00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growth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002554"/>
                </a:solidFill>
                <a:latin typeface="Maven Pro" pitchFamily="34" charset="0"/>
                <a:ea typeface="Maven Pro" pitchFamily="34" charset="-122"/>
                <a:cs typeface="Maven Pro" pitchFamily="34" charset="-120"/>
              </a:rPr>
              <a:t>: branches that can say yes to more referrals, teams that want to stay, and more patients served.”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197600"/>
            <a:ext cx="1270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Message Frame — Our Anchor Words</dc:title>
  <dc:subject>PptxGenJS Presentation</dc:subject>
  <dc:creator>PptxGenJS</dc:creator>
  <cp:lastModifiedBy>PptxGenJS</cp:lastModifiedBy>
  <cp:revision>1</cp:revision>
  <dcterms:created xsi:type="dcterms:W3CDTF">2026-10-01T20:13:11Z</dcterms:created>
  <dcterms:modified xsi:type="dcterms:W3CDTF">2026-10-01T20:13:11Z</dcterms:modified>
</cp:coreProperties>
</file>