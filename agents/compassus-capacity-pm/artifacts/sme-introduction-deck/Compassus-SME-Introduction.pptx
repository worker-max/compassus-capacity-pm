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purpose, not technology. This group is here because the people who run branches, coordinate care and see patients every day are the best judges of whether a tool will actually help. The graphic is a grid of visit slots: capacity filled deliberately, with room held open for the next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initiative in three sentences. Keep the language on capacity, growth and time back. Branches get the data to manage capacity and grow. PCCs get relief from redundant scheduling steps so they can work at the top of their skills. Clinicians spend less of each day confirming and arranging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one aim. For branches: visibility and data to manage capacity and drive growth. For PCCs: automation, visuals and recommendations that remove redundant steps. For clinicians: less of the daily back-and-forth of confirming and scheduling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principles are the filter for every vendor and every design choice. Local knowledge and judgment stay in the branch. Any tool we choose must be transparent, must respect how clinicians work, and must get capacity right before it tries to automate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prior efforts directly and respectfully. The earlier scheduling pilot did not fall short because of the technology; it was configured to mirror existing manual habits, and it never had the conditions to prove itself. That is why this effort starts with capacity, involves the field from the start, and pilots with clear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path left to right. We have listened and mapped the current state across the branch and the field. The RFP narrowed the field to six, and three advance to on-site sessions in Nashville. That is where this group comes in. Two finalists then move to contract negotiations, and nothing moves forward at scale without a measured pilot, guided by a second group of SMEs from the pilot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a Gantt view. Conceptualization, vendor identification and the RFP are behind us. Six narrow to three for on-site sessions in Nashville, Wednesday through Friday, October 21 to 23. Within one to two weeks we narrow to two finalists; contract negotiations run through November, alongside product scoping and pilot site identification through December. The shaded space across Q1 and Q2 2027 is for pilot milestones, led by a second group of pilot-branch SMEs.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a milestone road. Read left to right: two stages complete, the Nashville on-site sessions up next, then selection and contract in November, scoping and pilot site identification through December, and the pilot across the first half of 2027. The bands at the bottom show which group of SMEs leads each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quarter by quarter. Q3 is done. Q4 is where this group works: three finalists on-site in Nashville October 21 to 23, two finalists within one to two weeks, contract negotiations in November, and product scoping and pilot site identification through December. Q1 and Q2 2027 are open for pilot milestones, led by pilot-branch SMEs.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deck. The people in this room carry knowledge no vendor demo can show: how branches really run, where scheduling breaks, and what earns a clinician's trust. Their role is to make sure Compassus chooses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scope. This group is here for vendor identification and selection. Once pilot branches are identified, a second group of SMEs from those locations will guide the pilot of one of the two selected platforms. What this group learns is handed forward, so the pilot team starts with the full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perspective sees a different layer of capacity: the staffing model, clinical operations, the daily schedule and the clinician's day. Together they cover the full picture. Roster is a draft; confirm roles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expert by name, role and years in home health, and say in one line what they bring to the assessment. Replace the circles with headshots if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scenario prompts: a start-of-care request late on a Friday in a full territory; a clinician calling out at 7 a.m.; a pending authorization holding up a visit. Encourage candor. The most valuable input is often "this would never work in my branch, and here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criteria mirror the functional scorecard every vendor is rated against. Note that a product that tries to decide where we have said people decide is a poor fit, even if it scores well on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is described in human terms on purpose. Measures will be set with the pilot design, and our experts will help define what good looks like in their own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Narrowing to two takes one to two weeks after the on-site sessions. This group's role concludes with the selection; pilot-branch SMEs pick up from there. Discretion matters because vendor conversations are commercially sensitive.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group and opening the floor. Invite questions and concerns now, and share how to reach the initiative team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slide. Replace the sample text, or delete this slide. More slides like it: Home &gt; New Slide &gt; choose a Compassus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slide. Replace the sample text, or delete this slide. More slides like it: Home &gt; New Slide &gt; choose a Compassus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slide. Replace the sample text, or delete this slide. More slides like it: Home &gt; New Slide &gt; choose a Compassus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slide. Replace the sample text, or delete this slide. More slides like it: Home &gt; New Slide &gt; choose a Compassus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slide. Replace the sample text, or delete this slide. More slides like it: Home &gt; New Slide &gt; choose a Compassus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slide. Replace the sample text, or delete this slide. More slides like it: Home &gt; New Slide &gt; choose a Compassus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slide. Replace the sample text, or delete this slide. More slides like it: Home &gt; New Slide &gt; choose a Compassus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passus · Light">
    <p:bg>
      <p:bgPr>
        <a:solidFill>
          <a:srgbClr val="F8F6F1"/>
        </a:solidFill>
      </p:bgPr>
    </p:bg>
    <p:spTree>
      <p:nvGrpSpPr>
        <p:cNvPr id="1" name=""/>
        <p:cNvGrpSpPr/>
        <p:nvPr/>
      </p:nvGrpSpPr>
      <p:grpSpPr>
        <a:xfrm>
          <a:off x="0" y="0"/>
          <a:ext cx="0" cy="0"/>
          <a:chOff x="0" y="0"/>
          <a:chExt cx="0" cy="0"/>
        </a:xfrm>
      </p:grpSpPr>
      <p:pic>
        <p:nvPicPr>
          <p:cNvPr id="2" name="Image 0" descr="compassus-logo-color.png">    </p:cNvPr>
          <p:cNvPicPr>
            <a:picLocks noChangeAspect="1"/>
          </p:cNvPicPr>
          <p:nvPr/>
        </p:nvPicPr>
        <p:blipFill>
          <a:blip r:embed="rId1"/>
          <a:stretch>
            <a:fillRect/>
          </a:stretch>
        </p:blipFill>
        <p:spPr>
          <a:xfrm>
            <a:off x="812800" y="6197600"/>
            <a:ext cx="660400" cy="254000"/>
          </a:xfrm>
          <a:prstGeom prst="rect">
            <a:avLst/>
          </a:prstGeom>
        </p:spPr>
      </p:pic>
      <p:sp>
        <p:nvSpPr>
          <p:cNvPr id="3" name="Text 0"/>
          <p:cNvSpPr/>
          <p:nvPr/>
        </p:nvSpPr>
        <p:spPr>
          <a:xfrm>
            <a:off x="1625600" y="6197600"/>
            <a:ext cx="5715000" cy="254000"/>
          </a:xfrm>
          <a:prstGeom prst="rect">
            <a:avLst/>
          </a:prstGeom>
          <a:noFill/>
          <a:ln/>
        </p:spPr>
        <p:txBody>
          <a:bodyPr wrap="square" lIns="0" tIns="0" rIns="0" bIns="0" rtlCol="0" anchor="ctr"/>
          <a:lstStyle/>
          <a:p>
            <a:pPr indent="0" marL="0">
              <a:buNone/>
            </a:pPr>
            <a:r>
              <a:rPr lang="en-US" sz="1200" dirty="0">
                <a:solidFill>
                  <a:srgbClr val="5A6472"/>
                </a:solidFill>
                <a:latin typeface="Arial" pitchFamily="34" charset="0"/>
                <a:ea typeface="Arial" pitchFamily="34" charset="-122"/>
                <a:cs typeface="Arial" pitchFamily="34" charset="-120"/>
              </a:rPr>
              <a:t>Capacity &amp; Scheduling · SME Introduction</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indent="0" marL="0">
              <a:buNone/>
              <a:defRPr lang="en-US" sz="1200" b="1" spc="200" kern="0" dirty="0">
                <a:solidFill>
                  <a:srgbClr val="8A5F00"/>
                </a:solidFill>
                <a:latin typeface="Arial" pitchFamily="34" charset="0"/>
                <a:ea typeface="Arial" pitchFamily="34" charset="-122"/>
                <a:cs typeface="Arial" pitchFamily="34" charset="-120"/>
              </a:defRPr>
            </a:lvl1pPr>
          </a:lstStyle>
          <a:p>
            <a:pPr indent="0" marL="0">
              <a:buNone/>
            </a:pPr>
            <a:r>
              <a:rPr lang="en-US" sz="1200" b="1" spc="200" kern="0" dirty="0">
                <a:solidFill>
                  <a:srgbClr val="8A5F00"/>
                </a:solidFill>
                <a:latin typeface="Arial" pitchFamily="34" charset="0"/>
                <a:ea typeface="Arial" pitchFamily="34" charset="-122"/>
                <a:cs typeface="Arial" pitchFamily="34" charset="-120"/>
              </a:rPr>
              <a:t>EYEBROW LABEL</a:t>
            </a:r>
            <a:endParaRPr lang="en-US" sz="1200" dirty="0"/>
          </a:p>
        </p:txBody>
      </p:sp>
      <p:sp>
        <p:nvSpPr>
          <p:cNvPr id="5" name="Text 1"/>
          <p:cNvSpPr/>
          <p:nvPr>
            <p:ph idx="103" type="title" hasCustomPrompt="1"/>
          </p:nvPr>
        </p:nvSpPr>
        <p:spPr>
          <a:xfrm>
            <a:off x="812800" y="1117600"/>
            <a:ext cx="10566400" cy="635000"/>
          </a:xfrm>
          <a:prstGeom prst="rect">
            <a:avLst/>
          </a:prstGeom>
          <a:noFill/>
          <a:ln/>
        </p:spPr>
        <p:txBody>
          <a:bodyPr wrap="square" rtlCol="0"/>
          <a:lstStyle>
            <a:lvl1pPr algn="l" indent="0" marL="0">
              <a:buNone/>
              <a:defRPr lang="en-US" sz="4000" dirty="0">
                <a:solidFill>
                  <a:srgbClr val="002554"/>
                </a:solidFill>
                <a:latin typeface="Maven Pro" pitchFamily="34" charset="0"/>
                <a:ea typeface="Maven Pro" pitchFamily="34" charset="-122"/>
                <a:cs typeface="Maven Pro" pitchFamily="34" charset="-120"/>
              </a:defRPr>
            </a:lvl1pPr>
          </a:lstStyle>
          <a:p>
            <a:pPr algn="l" indent="0" marL="0">
              <a:buNone/>
            </a:pPr>
            <a:r>
              <a:rPr lang="en-US" sz="4000" dirty="0">
                <a:solidFill>
                  <a:srgbClr val="002554"/>
                </a:solidFill>
                <a:latin typeface="Maven Pro" pitchFamily="34" charset="0"/>
                <a:ea typeface="Maven Pro" pitchFamily="34" charset="-122"/>
                <a:cs typeface="Maven Pro" pitchFamily="34" charset="-120"/>
              </a:rPr>
              <a:t>Slide title</a:t>
            </a:r>
            <a:endParaRPr lang="en-US" sz="40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mpassus · Navy">
    <p:bg>
      <p:bgPr>
        <a:solidFill>
          <a:srgbClr val="002554"/>
        </a:solidFill>
      </p:bgPr>
    </p:bg>
    <p:spTree>
      <p:nvGrpSpPr>
        <p:cNvPr id="1" name=""/>
        <p:cNvGrpSpPr/>
        <p:nvPr/>
      </p:nvGrpSpPr>
      <p:grpSpPr>
        <a:xfrm>
          <a:off x="0" y="0"/>
          <a:ext cx="0" cy="0"/>
          <a:chOff x="0" y="0"/>
          <a:chExt cx="0" cy="0"/>
        </a:xfrm>
      </p:grpSpPr>
      <p:pic>
        <p:nvPicPr>
          <p:cNvPr id="2" name="Image 0" descr="compassus-logo-reverse.png">    </p:cNvPr>
          <p:cNvPicPr>
            <a:picLocks noChangeAspect="1"/>
          </p:cNvPicPr>
          <p:nvPr/>
        </p:nvPicPr>
        <p:blipFill>
          <a:blip r:embed="rId1"/>
          <a:stretch>
            <a:fillRect/>
          </a:stretch>
        </p:blipFill>
        <p:spPr>
          <a:xfrm>
            <a:off x="812800" y="6197600"/>
            <a:ext cx="660400" cy="254000"/>
          </a:xfrm>
          <a:prstGeom prst="rect">
            <a:avLst/>
          </a:prstGeom>
        </p:spPr>
      </p:pic>
      <p:sp>
        <p:nvSpPr>
          <p:cNvPr id="3" name="Text 0"/>
          <p:cNvSpPr/>
          <p:nvPr/>
        </p:nvSpPr>
        <p:spPr>
          <a:xfrm>
            <a:off x="1625600" y="6197600"/>
            <a:ext cx="5715000" cy="254000"/>
          </a:xfrm>
          <a:prstGeom prst="rect">
            <a:avLst/>
          </a:prstGeom>
          <a:noFill/>
          <a:ln/>
        </p:spPr>
        <p:txBody>
          <a:bodyPr wrap="square" lIns="0" tIns="0" rIns="0" bIns="0" rtlCol="0" anchor="ctr"/>
          <a:lstStyle/>
          <a:p>
            <a:pPr indent="0" marL="0">
              <a:buNone/>
            </a:pPr>
            <a:r>
              <a:rPr lang="en-US" sz="1200" dirty="0">
                <a:solidFill>
                  <a:srgbClr val="9AAAC0"/>
                </a:solidFill>
                <a:latin typeface="Arial" pitchFamily="34" charset="0"/>
                <a:ea typeface="Arial" pitchFamily="34" charset="-122"/>
                <a:cs typeface="Arial" pitchFamily="34" charset="-120"/>
              </a:rPr>
              <a:t>Capacity &amp; Scheduling · SME Introduction</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indent="0" marL="0">
              <a:buNone/>
              <a:defRPr lang="en-US" sz="1200" b="1" spc="200" kern="0" dirty="0">
                <a:solidFill>
                  <a:srgbClr val="CE8E00"/>
                </a:solidFill>
                <a:latin typeface="Arial" pitchFamily="34" charset="0"/>
                <a:ea typeface="Arial" pitchFamily="34" charset="-122"/>
                <a:cs typeface="Arial" pitchFamily="34" charset="-120"/>
              </a:defRPr>
            </a:lvl1pPr>
          </a:lstStyle>
          <a:p>
            <a:pPr indent="0" marL="0">
              <a:buNone/>
            </a:pPr>
            <a:r>
              <a:rPr lang="en-US" sz="1200" b="1" spc="200" kern="0" dirty="0">
                <a:solidFill>
                  <a:srgbClr val="CE8E00"/>
                </a:solidFill>
                <a:latin typeface="Arial" pitchFamily="34" charset="0"/>
                <a:ea typeface="Arial" pitchFamily="34" charset="-122"/>
                <a:cs typeface="Arial" pitchFamily="34" charset="-120"/>
              </a:rPr>
              <a:t>EYEBROW LABEL</a:t>
            </a:r>
            <a:endParaRPr lang="en-US" sz="1200" dirty="0"/>
          </a:p>
        </p:txBody>
      </p:sp>
      <p:sp>
        <p:nvSpPr>
          <p:cNvPr id="5" name="Text 1"/>
          <p:cNvSpPr/>
          <p:nvPr>
            <p:ph idx="103" type="title" hasCustomPrompt="1"/>
          </p:nvPr>
        </p:nvSpPr>
        <p:spPr>
          <a:xfrm>
            <a:off x="812800" y="1117600"/>
            <a:ext cx="10566400" cy="635000"/>
          </a:xfrm>
          <a:prstGeom prst="rect">
            <a:avLst/>
          </a:prstGeom>
          <a:noFill/>
          <a:ln/>
        </p:spPr>
        <p:txBody>
          <a:bodyPr wrap="square" rtlCol="0"/>
          <a:lstStyle>
            <a:lvl1pPr algn="l" indent="0" marL="0">
              <a:buNone/>
              <a:defRPr lang="en-US" sz="4000" dirty="0">
                <a:solidFill>
                  <a:srgbClr val="F8F6F1"/>
                </a:solidFill>
                <a:latin typeface="Maven Pro" pitchFamily="34" charset="0"/>
                <a:ea typeface="Maven Pro" pitchFamily="34" charset="-122"/>
                <a:cs typeface="Maven Pro" pitchFamily="34" charset="-120"/>
              </a:defRPr>
            </a:lvl1pPr>
          </a:lstStyle>
          <a:p>
            <a:pPr algn="l" indent="0" marL="0">
              <a:buNone/>
            </a:pPr>
            <a:r>
              <a:rPr lang="en-US" sz="4000" dirty="0">
                <a:solidFill>
                  <a:srgbClr val="F8F6F1"/>
                </a:solidFill>
                <a:latin typeface="Maven Pro" pitchFamily="34" charset="0"/>
                <a:ea typeface="Maven Pro" pitchFamily="34" charset="-122"/>
                <a:cs typeface="Maven Pro" pitchFamily="34" charset="-120"/>
              </a:rPr>
              <a:t>Slide title</a:t>
            </a:r>
            <a:endParaRPr lang="en-US" sz="40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9AAAC0"/>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ssus · Gold">
    <p:bg>
      <p:bgPr>
        <a:solidFill>
          <a:srgbClr val="CE8E00"/>
        </a:solidFill>
      </p:bgPr>
    </p:bg>
    <p:spTree>
      <p:nvGrpSpPr>
        <p:cNvPr id="1" name=""/>
        <p:cNvGrpSpPr/>
        <p:nvPr/>
      </p:nvGrpSpPr>
      <p:grpSpPr>
        <a:xfrm>
          <a:off x="0" y="0"/>
          <a:ext cx="0" cy="0"/>
          <a:chOff x="0" y="0"/>
          <a:chExt cx="0" cy="0"/>
        </a:xfrm>
      </p:grpSpPr>
      <p:pic>
        <p:nvPicPr>
          <p:cNvPr id="2" name="Image 0" descr="compassus-logo-color.png">    </p:cNvPr>
          <p:cNvPicPr>
            <a:picLocks noChangeAspect="1"/>
          </p:cNvPicPr>
          <p:nvPr/>
        </p:nvPicPr>
        <p:blipFill>
          <a:blip r:embed="rId1"/>
          <a:stretch>
            <a:fillRect/>
          </a:stretch>
        </p:blipFill>
        <p:spPr>
          <a:xfrm>
            <a:off x="812800" y="6197600"/>
            <a:ext cx="660400" cy="254000"/>
          </a:xfrm>
          <a:prstGeom prst="rect">
            <a:avLst/>
          </a:prstGeom>
        </p:spPr>
      </p:pic>
      <p:sp>
        <p:nvSpPr>
          <p:cNvPr id="3" name="Text 0"/>
          <p:cNvSpPr/>
          <p:nvPr/>
        </p:nvSpPr>
        <p:spPr>
          <a:xfrm>
            <a:off x="1625600" y="6197600"/>
            <a:ext cx="5715000" cy="254000"/>
          </a:xfrm>
          <a:prstGeom prst="rect">
            <a:avLst/>
          </a:prstGeom>
          <a:noFill/>
          <a:ln/>
        </p:spPr>
        <p:txBody>
          <a:bodyPr wrap="square" lIns="0" tIns="0" rIns="0" bIns="0" rtlCol="0" anchor="ctr"/>
          <a:lstStyle/>
          <a:p>
            <a:pPr indent="0" marL="0">
              <a:buNone/>
            </a:pPr>
            <a:r>
              <a:rPr lang="en-US" sz="1200" dirty="0">
                <a:solidFill>
                  <a:srgbClr val="002554"/>
                </a:solidFill>
                <a:latin typeface="Arial" pitchFamily="34" charset="0"/>
                <a:ea typeface="Arial" pitchFamily="34" charset="-122"/>
                <a:cs typeface="Arial" pitchFamily="34" charset="-120"/>
              </a:rPr>
              <a:t>Capacity &amp; Scheduling · SME Introduction</a:t>
            </a:r>
            <a:endParaRPr lang="en-US" sz="12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002554"/>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ssus · Navy plain">
    <p:bg>
      <p:bgPr>
        <a:solidFill>
          <a:srgbClr val="002554"/>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ssus · Section divider">
    <p:bg>
      <p:bgPr>
        <a:solidFill>
          <a:srgbClr val="002554"/>
        </a:solidFill>
      </p:bgPr>
    </p:bg>
    <p:spTree>
      <p:nvGrpSpPr>
        <p:cNvPr id="1" name=""/>
        <p:cNvGrpSpPr/>
        <p:nvPr/>
      </p:nvGrpSpPr>
      <p:grpSpPr>
        <a:xfrm>
          <a:off x="0" y="0"/>
          <a:ext cx="0" cy="0"/>
          <a:chOff x="0" y="0"/>
          <a:chExt cx="0" cy="0"/>
        </a:xfrm>
      </p:grpSpPr>
      <p:pic>
        <p:nvPicPr>
          <p:cNvPr id="2" name="Image 0" descr="compassus-logo-reverse.png">    </p:cNvPr>
          <p:cNvPicPr>
            <a:picLocks noChangeAspect="1"/>
          </p:cNvPicPr>
          <p:nvPr/>
        </p:nvPicPr>
        <p:blipFill>
          <a:blip r:embed="rId1"/>
          <a:stretch>
            <a:fillRect/>
          </a:stretch>
        </p:blipFill>
        <p:spPr>
          <a:xfrm>
            <a:off x="812800" y="812800"/>
            <a:ext cx="1905000" cy="730250"/>
          </a:xfrm>
          <a:prstGeom prst="rect">
            <a:avLst/>
          </a:prstGeom>
        </p:spPr>
      </p:pic>
      <p:pic>
        <p:nvPicPr>
          <p:cNvPr id="3" name="Image 1" descr="dotgrid.png">    </p:cNvPr>
          <p:cNvPicPr>
            <a:picLocks noChangeAspect="1"/>
          </p:cNvPicPr>
          <p:nvPr/>
        </p:nvPicPr>
        <p:blipFill>
          <a:blip r:embed="rId2"/>
          <a:stretch>
            <a:fillRect/>
          </a:stretch>
        </p:blipFill>
        <p:spPr>
          <a:xfrm>
            <a:off x="7823200" y="1524000"/>
            <a:ext cx="3556000" cy="3556000"/>
          </a:xfrm>
          <a:prstGeom prst="rect">
            <a:avLst/>
          </a:prstGeom>
        </p:spPr>
      </p:pic>
      <p:sp>
        <p:nvSpPr>
          <p:cNvPr id="4" name="Text 0"/>
          <p:cNvSpPr/>
          <p:nvPr>
            <p:ph idx="102" type="body" hasCustomPrompt="1"/>
          </p:nvPr>
        </p:nvSpPr>
        <p:spPr>
          <a:xfrm>
            <a:off x="812800" y="3302000"/>
            <a:ext cx="6604000" cy="254000"/>
          </a:xfrm>
          <a:prstGeom prst="rect">
            <a:avLst/>
          </a:prstGeom>
          <a:noFill/>
          <a:ln/>
        </p:spPr>
        <p:txBody>
          <a:bodyPr wrap="square" rtlCol="0"/>
          <a:lstStyle>
            <a:lvl1pPr indent="0" marL="0">
              <a:buNone/>
              <a:defRPr lang="en-US" sz="1200" b="1" spc="200" kern="0" dirty="0">
                <a:solidFill>
                  <a:srgbClr val="CE8E00"/>
                </a:solidFill>
                <a:latin typeface="Arial" pitchFamily="34" charset="0"/>
                <a:ea typeface="Arial" pitchFamily="34" charset="-122"/>
                <a:cs typeface="Arial" pitchFamily="34" charset="-120"/>
              </a:defRPr>
            </a:lvl1pPr>
          </a:lstStyle>
          <a:p>
            <a:pPr indent="0" marL="0">
              <a:buNone/>
            </a:pPr>
            <a:r>
              <a:rPr lang="en-US" sz="1200" b="1" spc="200" kern="0" dirty="0">
                <a:solidFill>
                  <a:srgbClr val="CE8E00"/>
                </a:solidFill>
                <a:latin typeface="Arial" pitchFamily="34" charset="0"/>
                <a:ea typeface="Arial" pitchFamily="34" charset="-122"/>
                <a:cs typeface="Arial" pitchFamily="34" charset="-120"/>
              </a:rPr>
              <a:t>SECTION LABEL</a:t>
            </a:r>
            <a:endParaRPr lang="en-US" sz="1200" dirty="0"/>
          </a:p>
        </p:txBody>
      </p:sp>
      <p:sp>
        <p:nvSpPr>
          <p:cNvPr id="5" name="Text 0"/>
          <p:cNvSpPr/>
          <p:nvPr>
            <p:ph idx="103" type="title" hasCustomPrompt="1"/>
          </p:nvPr>
        </p:nvSpPr>
        <p:spPr>
          <a:xfrm>
            <a:off x="812800" y="3556000"/>
            <a:ext cx="6604000" cy="1651000"/>
          </a:xfrm>
          <a:prstGeom prst="rect">
            <a:avLst/>
          </a:prstGeom>
          <a:noFill/>
          <a:ln/>
        </p:spPr>
        <p:txBody>
          <a:bodyPr wrap="square" rtlCol="0"/>
          <a:lstStyle>
            <a:lvl1pPr algn="l" indent="0" marL="0">
              <a:buNone/>
              <a:defRPr lang="en-US" sz="5200" dirty="0">
                <a:solidFill>
                  <a:srgbClr val="F8F6F1"/>
                </a:solidFill>
                <a:latin typeface="Maven Pro" pitchFamily="34" charset="0"/>
                <a:ea typeface="Maven Pro" pitchFamily="34" charset="-122"/>
                <a:cs typeface="Maven Pro" pitchFamily="34" charset="-120"/>
              </a:defRPr>
            </a:lvl1pPr>
          </a:lstStyle>
          <a:p>
            <a:pPr algn="l" indent="0" marL="0">
              <a:buNone/>
            </a:pPr>
            <a:r>
              <a:rPr lang="en-US" sz="5200" dirty="0">
                <a:solidFill>
                  <a:srgbClr val="F8F6F1"/>
                </a:solidFill>
                <a:latin typeface="Maven Pro" pitchFamily="34" charset="0"/>
                <a:ea typeface="Maven Pro" pitchFamily="34" charset="-122"/>
                <a:cs typeface="Maven Pro" pitchFamily="34" charset="-120"/>
              </a:rPr>
              <a:t>Section title</a:t>
            </a:r>
            <a:endParaRPr lang="en-US" sz="5200" dirty="0"/>
          </a:p>
        </p:txBody>
      </p:sp>
      <p:sp>
        <p:nvSpPr>
          <p:cNvPr id="6" name="Text 0"/>
          <p:cNvSpPr/>
          <p:nvPr>
            <p:ph idx="104" type="body" hasCustomPrompt="1"/>
          </p:nvPr>
        </p:nvSpPr>
        <p:spPr>
          <a:xfrm>
            <a:off x="812800" y="5334000"/>
            <a:ext cx="6350000" cy="508000"/>
          </a:xfrm>
          <a:prstGeom prst="rect">
            <a:avLst/>
          </a:prstGeom>
          <a:noFill/>
          <a:ln/>
        </p:spPr>
        <p:txBody>
          <a:bodyPr wrap="square" rtlCol="0"/>
          <a:lstStyle>
            <a:lvl1pPr indent="0" marL="0">
              <a:buNone/>
              <a:defRPr lang="en-US" sz="1600" dirty="0">
                <a:solidFill>
                  <a:srgbClr val="C9D3E0"/>
                </a:solidFill>
                <a:latin typeface="Arial" pitchFamily="34" charset="0"/>
                <a:ea typeface="Arial" pitchFamily="34" charset="-122"/>
                <a:cs typeface="Arial" pitchFamily="34" charset="-120"/>
              </a:defRPr>
            </a:lvl1pPr>
          </a:lstStyle>
          <a:p>
            <a:pPr indent="0" marL="0">
              <a:buNone/>
            </a:pPr>
            <a:r>
              <a:rPr lang="en-US" sz="1600" dirty="0">
                <a:solidFill>
                  <a:srgbClr val="C9D3E0"/>
                </a:solidFill>
                <a:latin typeface="Arial" pitchFamily="34" charset="0"/>
                <a:ea typeface="Arial" pitchFamily="34" charset="-122"/>
                <a:cs typeface="Arial" pitchFamily="34" charset="-120"/>
              </a:rPr>
              <a:t>One line that sets up the section</a:t>
            </a:r>
            <a:endParaRPr lang="en-US" sz="1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ssus · Light + body">
    <p:bg>
      <p:bgPr>
        <a:solidFill>
          <a:srgbClr val="F8F6F1"/>
        </a:solidFill>
      </p:bgPr>
    </p:bg>
    <p:spTree>
      <p:nvGrpSpPr>
        <p:cNvPr id="1" name=""/>
        <p:cNvGrpSpPr/>
        <p:nvPr/>
      </p:nvGrpSpPr>
      <p:grpSpPr>
        <a:xfrm>
          <a:off x="0" y="0"/>
          <a:ext cx="0" cy="0"/>
          <a:chOff x="0" y="0"/>
          <a:chExt cx="0" cy="0"/>
        </a:xfrm>
      </p:grpSpPr>
      <p:pic>
        <p:nvPicPr>
          <p:cNvPr id="2" name="Image 0" descr="compassus-logo-color.png">    </p:cNvPr>
          <p:cNvPicPr>
            <a:picLocks noChangeAspect="1"/>
          </p:cNvPicPr>
          <p:nvPr/>
        </p:nvPicPr>
        <p:blipFill>
          <a:blip r:embed="rId1"/>
          <a:stretch>
            <a:fillRect/>
          </a:stretch>
        </p:blipFill>
        <p:spPr>
          <a:xfrm>
            <a:off x="812800" y="6197600"/>
            <a:ext cx="660400" cy="254000"/>
          </a:xfrm>
          <a:prstGeom prst="rect">
            <a:avLst/>
          </a:prstGeom>
        </p:spPr>
      </p:pic>
      <p:sp>
        <p:nvSpPr>
          <p:cNvPr id="3" name="Text 0"/>
          <p:cNvSpPr/>
          <p:nvPr/>
        </p:nvSpPr>
        <p:spPr>
          <a:xfrm>
            <a:off x="1625600" y="6197600"/>
            <a:ext cx="5715000" cy="254000"/>
          </a:xfrm>
          <a:prstGeom prst="rect">
            <a:avLst/>
          </a:prstGeom>
          <a:noFill/>
          <a:ln/>
        </p:spPr>
        <p:txBody>
          <a:bodyPr wrap="square" lIns="0" tIns="0" rIns="0" bIns="0" rtlCol="0" anchor="ctr"/>
          <a:lstStyle/>
          <a:p>
            <a:pPr indent="0" marL="0">
              <a:buNone/>
            </a:pPr>
            <a:r>
              <a:rPr lang="en-US" sz="1200" dirty="0">
                <a:solidFill>
                  <a:srgbClr val="5A6472"/>
                </a:solidFill>
                <a:latin typeface="Arial" pitchFamily="34" charset="0"/>
                <a:ea typeface="Arial" pitchFamily="34" charset="-122"/>
                <a:cs typeface="Arial" pitchFamily="34" charset="-120"/>
              </a:rPr>
              <a:t>Capacity &amp; Scheduling · SME Introduction</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indent="0" marL="0">
              <a:buNone/>
              <a:defRPr lang="en-US" sz="1200" b="1" spc="200" kern="0" dirty="0">
                <a:solidFill>
                  <a:srgbClr val="8A5F00"/>
                </a:solidFill>
                <a:latin typeface="Arial" pitchFamily="34" charset="0"/>
                <a:ea typeface="Arial" pitchFamily="34" charset="-122"/>
                <a:cs typeface="Arial" pitchFamily="34" charset="-120"/>
              </a:defRPr>
            </a:lvl1pPr>
          </a:lstStyle>
          <a:p>
            <a:pPr indent="0" marL="0">
              <a:buNone/>
            </a:pPr>
            <a:r>
              <a:rPr lang="en-US" sz="1200" b="1" spc="200" kern="0" dirty="0">
                <a:solidFill>
                  <a:srgbClr val="8A5F00"/>
                </a:solidFill>
                <a:latin typeface="Arial" pitchFamily="34" charset="0"/>
                <a:ea typeface="Arial" pitchFamily="34" charset="-122"/>
                <a:cs typeface="Arial" pitchFamily="34" charset="-120"/>
              </a:rPr>
              <a:t>EYEBROW LABEL</a:t>
            </a:r>
            <a:endParaRPr lang="en-US" sz="1200" dirty="0"/>
          </a:p>
        </p:txBody>
      </p:sp>
      <p:sp>
        <p:nvSpPr>
          <p:cNvPr id="5" name="Text 1"/>
          <p:cNvSpPr/>
          <p:nvPr>
            <p:ph idx="103" type="title" hasCustomPrompt="1"/>
          </p:nvPr>
        </p:nvSpPr>
        <p:spPr>
          <a:xfrm>
            <a:off x="812800" y="1117600"/>
            <a:ext cx="10566400" cy="635000"/>
          </a:xfrm>
          <a:prstGeom prst="rect">
            <a:avLst/>
          </a:prstGeom>
          <a:noFill/>
          <a:ln/>
        </p:spPr>
        <p:txBody>
          <a:bodyPr wrap="square" rtlCol="0"/>
          <a:lstStyle>
            <a:lvl1pPr algn="l" indent="0" marL="0">
              <a:buNone/>
              <a:defRPr lang="en-US" sz="4000" dirty="0">
                <a:solidFill>
                  <a:srgbClr val="002554"/>
                </a:solidFill>
                <a:latin typeface="Maven Pro" pitchFamily="34" charset="0"/>
                <a:ea typeface="Maven Pro" pitchFamily="34" charset="-122"/>
                <a:cs typeface="Maven Pro" pitchFamily="34" charset="-120"/>
              </a:defRPr>
            </a:lvl1pPr>
          </a:lstStyle>
          <a:p>
            <a:pPr algn="l" indent="0" marL="0">
              <a:buNone/>
            </a:pPr>
            <a:r>
              <a:rPr lang="en-US" sz="4000" dirty="0">
                <a:solidFill>
                  <a:srgbClr val="002554"/>
                </a:solidFill>
                <a:latin typeface="Maven Pro" pitchFamily="34" charset="0"/>
                <a:ea typeface="Maven Pro" pitchFamily="34" charset="-122"/>
                <a:cs typeface="Maven Pro" pitchFamily="34" charset="-120"/>
              </a:rPr>
              <a:t>Slide title</a:t>
            </a:r>
            <a:endParaRPr lang="en-US" sz="4000" dirty="0"/>
          </a:p>
        </p:txBody>
      </p:sp>
      <p:sp>
        <p:nvSpPr>
          <p:cNvPr id="6" name="Text 1"/>
          <p:cNvSpPr/>
          <p:nvPr>
            <p:ph idx="104" type="body" hasCustomPrompt="1"/>
          </p:nvPr>
        </p:nvSpPr>
        <p:spPr>
          <a:xfrm>
            <a:off x="812800" y="2044700"/>
            <a:ext cx="10566400" cy="3556000"/>
          </a:xfrm>
          <a:prstGeom prst="rect">
            <a:avLst/>
          </a:prstGeom>
          <a:noFill/>
          <a:ln/>
        </p:spPr>
        <p:txBody>
          <a:bodyPr wrap="square" rtlCol="0"/>
          <a:lstStyle>
            <a:lvl1pPr indent="0" marL="0">
              <a:buNone/>
              <a:defRPr lang="en-US" sz="1400" dirty="0">
                <a:solidFill>
                  <a:srgbClr val="3D4A5C"/>
                </a:solidFill>
                <a:latin typeface="Arial" pitchFamily="34" charset="0"/>
                <a:ea typeface="Arial" pitchFamily="34" charset="-122"/>
                <a:cs typeface="Arial" pitchFamily="34" charset="-120"/>
              </a:defRPr>
            </a:lvl1pPr>
          </a:lstStyle>
          <a:p>
            <a:pPr indent="0" marL="0">
              <a:buNone/>
            </a:pPr>
            <a:r>
              <a:rPr lang="en-US" sz="1400" dirty="0">
                <a:solidFill>
                  <a:srgbClr val="3D4A5C"/>
                </a:solidFill>
                <a:latin typeface="Arial" pitchFamily="34" charset="0"/>
                <a:ea typeface="Arial" pitchFamily="34" charset="-122"/>
                <a:cs typeface="Arial" pitchFamily="34" charset="-120"/>
              </a:rPr>
              <a:t>Add your content</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mpassus · Light two columns">
    <p:bg>
      <p:bgPr>
        <a:solidFill>
          <a:srgbClr val="F8F6F1"/>
        </a:solidFill>
      </p:bgPr>
    </p:bg>
    <p:spTree>
      <p:nvGrpSpPr>
        <p:cNvPr id="1" name=""/>
        <p:cNvGrpSpPr/>
        <p:nvPr/>
      </p:nvGrpSpPr>
      <p:grpSpPr>
        <a:xfrm>
          <a:off x="0" y="0"/>
          <a:ext cx="0" cy="0"/>
          <a:chOff x="0" y="0"/>
          <a:chExt cx="0" cy="0"/>
        </a:xfrm>
      </p:grpSpPr>
      <p:pic>
        <p:nvPicPr>
          <p:cNvPr id="2" name="Image 0" descr="compassus-logo-color.png">    </p:cNvPr>
          <p:cNvPicPr>
            <a:picLocks noChangeAspect="1"/>
          </p:cNvPicPr>
          <p:nvPr/>
        </p:nvPicPr>
        <p:blipFill>
          <a:blip r:embed="rId1"/>
          <a:stretch>
            <a:fillRect/>
          </a:stretch>
        </p:blipFill>
        <p:spPr>
          <a:xfrm>
            <a:off x="812800" y="6197600"/>
            <a:ext cx="660400" cy="254000"/>
          </a:xfrm>
          <a:prstGeom prst="rect">
            <a:avLst/>
          </a:prstGeom>
        </p:spPr>
      </p:pic>
      <p:sp>
        <p:nvSpPr>
          <p:cNvPr id="3" name="Text 0"/>
          <p:cNvSpPr/>
          <p:nvPr/>
        </p:nvSpPr>
        <p:spPr>
          <a:xfrm>
            <a:off x="1625600" y="6197600"/>
            <a:ext cx="5715000" cy="254000"/>
          </a:xfrm>
          <a:prstGeom prst="rect">
            <a:avLst/>
          </a:prstGeom>
          <a:noFill/>
          <a:ln/>
        </p:spPr>
        <p:txBody>
          <a:bodyPr wrap="square" lIns="0" tIns="0" rIns="0" bIns="0" rtlCol="0" anchor="ctr"/>
          <a:lstStyle/>
          <a:p>
            <a:pPr indent="0" marL="0">
              <a:buNone/>
            </a:pPr>
            <a:r>
              <a:rPr lang="en-US" sz="1200" dirty="0">
                <a:solidFill>
                  <a:srgbClr val="5A6472"/>
                </a:solidFill>
                <a:latin typeface="Arial" pitchFamily="34" charset="0"/>
                <a:ea typeface="Arial" pitchFamily="34" charset="-122"/>
                <a:cs typeface="Arial" pitchFamily="34" charset="-120"/>
              </a:rPr>
              <a:t>Capacity &amp; Scheduling · SME Introduction</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indent="0" marL="0">
              <a:buNone/>
              <a:defRPr lang="en-US" sz="1200" b="1" spc="200" kern="0" dirty="0">
                <a:solidFill>
                  <a:srgbClr val="8A5F00"/>
                </a:solidFill>
                <a:latin typeface="Arial" pitchFamily="34" charset="0"/>
                <a:ea typeface="Arial" pitchFamily="34" charset="-122"/>
                <a:cs typeface="Arial" pitchFamily="34" charset="-120"/>
              </a:defRPr>
            </a:lvl1pPr>
          </a:lstStyle>
          <a:p>
            <a:pPr indent="0" marL="0">
              <a:buNone/>
            </a:pPr>
            <a:r>
              <a:rPr lang="en-US" sz="1200" b="1" spc="200" kern="0" dirty="0">
                <a:solidFill>
                  <a:srgbClr val="8A5F00"/>
                </a:solidFill>
                <a:latin typeface="Arial" pitchFamily="34" charset="0"/>
                <a:ea typeface="Arial" pitchFamily="34" charset="-122"/>
                <a:cs typeface="Arial" pitchFamily="34" charset="-120"/>
              </a:rPr>
              <a:t>EYEBROW LABEL</a:t>
            </a:r>
            <a:endParaRPr lang="en-US" sz="1200" dirty="0"/>
          </a:p>
        </p:txBody>
      </p:sp>
      <p:sp>
        <p:nvSpPr>
          <p:cNvPr id="5" name="Text 1"/>
          <p:cNvSpPr/>
          <p:nvPr>
            <p:ph idx="103" type="title" hasCustomPrompt="1"/>
          </p:nvPr>
        </p:nvSpPr>
        <p:spPr>
          <a:xfrm>
            <a:off x="812800" y="1117600"/>
            <a:ext cx="10566400" cy="635000"/>
          </a:xfrm>
          <a:prstGeom prst="rect">
            <a:avLst/>
          </a:prstGeom>
          <a:noFill/>
          <a:ln/>
        </p:spPr>
        <p:txBody>
          <a:bodyPr wrap="square" rtlCol="0"/>
          <a:lstStyle>
            <a:lvl1pPr algn="l" indent="0" marL="0">
              <a:buNone/>
              <a:defRPr lang="en-US" sz="4000" dirty="0">
                <a:solidFill>
                  <a:srgbClr val="002554"/>
                </a:solidFill>
                <a:latin typeface="Maven Pro" pitchFamily="34" charset="0"/>
                <a:ea typeface="Maven Pro" pitchFamily="34" charset="-122"/>
                <a:cs typeface="Maven Pro" pitchFamily="34" charset="-120"/>
              </a:defRPr>
            </a:lvl1pPr>
          </a:lstStyle>
          <a:p>
            <a:pPr algn="l" indent="0" marL="0">
              <a:buNone/>
            </a:pPr>
            <a:r>
              <a:rPr lang="en-US" sz="4000" dirty="0">
                <a:solidFill>
                  <a:srgbClr val="002554"/>
                </a:solidFill>
                <a:latin typeface="Maven Pro" pitchFamily="34" charset="0"/>
                <a:ea typeface="Maven Pro" pitchFamily="34" charset="-122"/>
                <a:cs typeface="Maven Pro" pitchFamily="34" charset="-120"/>
              </a:rPr>
              <a:t>Slide title</a:t>
            </a:r>
            <a:endParaRPr lang="en-US" sz="4000" dirty="0"/>
          </a:p>
        </p:txBody>
      </p:sp>
      <p:sp>
        <p:nvSpPr>
          <p:cNvPr id="6" name="Text 1"/>
          <p:cNvSpPr/>
          <p:nvPr>
            <p:ph idx="104" type="body" hasCustomPrompt="1"/>
          </p:nvPr>
        </p:nvSpPr>
        <p:spPr>
          <a:xfrm>
            <a:off x="812800" y="2044700"/>
            <a:ext cx="5080000" cy="3556000"/>
          </a:xfrm>
          <a:prstGeom prst="rect">
            <a:avLst/>
          </a:prstGeom>
          <a:noFill/>
          <a:ln/>
        </p:spPr>
        <p:txBody>
          <a:bodyPr wrap="square" rtlCol="0"/>
          <a:lstStyle>
            <a:lvl1pPr indent="0" marL="0">
              <a:buNone/>
              <a:defRPr lang="en-US" sz="1400" dirty="0">
                <a:solidFill>
                  <a:srgbClr val="3D4A5C"/>
                </a:solidFill>
                <a:latin typeface="Arial" pitchFamily="34" charset="0"/>
                <a:ea typeface="Arial" pitchFamily="34" charset="-122"/>
                <a:cs typeface="Arial" pitchFamily="34" charset="-120"/>
              </a:defRPr>
            </a:lvl1pPr>
          </a:lstStyle>
          <a:p>
            <a:pPr indent="0" marL="0">
              <a:buNone/>
            </a:pPr>
            <a:r>
              <a:rPr lang="en-US" sz="1400" dirty="0">
                <a:solidFill>
                  <a:srgbClr val="3D4A5C"/>
                </a:solidFill>
                <a:latin typeface="Arial" pitchFamily="34" charset="0"/>
                <a:ea typeface="Arial" pitchFamily="34" charset="-122"/>
                <a:cs typeface="Arial" pitchFamily="34" charset="-120"/>
              </a:rPr>
              <a:t>Left column</a:t>
            </a:r>
            <a:endParaRPr lang="en-US" sz="1400" dirty="0"/>
          </a:p>
        </p:txBody>
      </p:sp>
      <p:sp>
        <p:nvSpPr>
          <p:cNvPr id="7" name="Text 1"/>
          <p:cNvSpPr/>
          <p:nvPr>
            <p:ph idx="105" type="body" hasCustomPrompt="1"/>
          </p:nvPr>
        </p:nvSpPr>
        <p:spPr>
          <a:xfrm>
            <a:off x="6299200" y="2044700"/>
            <a:ext cx="5080000" cy="3556000"/>
          </a:xfrm>
          <a:prstGeom prst="rect">
            <a:avLst/>
          </a:prstGeom>
          <a:noFill/>
          <a:ln/>
        </p:spPr>
        <p:txBody>
          <a:bodyPr wrap="square" rtlCol="0"/>
          <a:lstStyle>
            <a:lvl1pPr indent="0" marL="0">
              <a:buNone/>
              <a:defRPr lang="en-US" sz="1400" dirty="0">
                <a:solidFill>
                  <a:srgbClr val="3D4A5C"/>
                </a:solidFill>
                <a:latin typeface="Arial" pitchFamily="34" charset="0"/>
                <a:ea typeface="Arial" pitchFamily="34" charset="-122"/>
                <a:cs typeface="Arial" pitchFamily="34" charset="-120"/>
              </a:defRPr>
            </a:lvl1pPr>
          </a:lstStyle>
          <a:p>
            <a:pPr indent="0" marL="0">
              <a:buNone/>
            </a:pPr>
            <a:r>
              <a:rPr lang="en-US" sz="1400" dirty="0">
                <a:solidFill>
                  <a:srgbClr val="3D4A5C"/>
                </a:solidFill>
                <a:latin typeface="Arial" pitchFamily="34" charset="0"/>
                <a:ea typeface="Arial" pitchFamily="34" charset="-122"/>
                <a:cs typeface="Arial" pitchFamily="34" charset="-120"/>
              </a:rPr>
              <a:t>Right column</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mpassus · Light three cards">
    <p:bg>
      <p:bgPr>
        <a:solidFill>
          <a:srgbClr val="F8F6F1"/>
        </a:solidFill>
      </p:bgPr>
    </p:bg>
    <p:spTree>
      <p:nvGrpSpPr>
        <p:cNvPr id="1" name=""/>
        <p:cNvGrpSpPr/>
        <p:nvPr/>
      </p:nvGrpSpPr>
      <p:grpSpPr>
        <a:xfrm>
          <a:off x="0" y="0"/>
          <a:ext cx="0" cy="0"/>
          <a:chOff x="0" y="0"/>
          <a:chExt cx="0" cy="0"/>
        </a:xfrm>
      </p:grpSpPr>
      <p:pic>
        <p:nvPicPr>
          <p:cNvPr id="2" name="Image 0" descr="compassus-logo-color.png">    </p:cNvPr>
          <p:cNvPicPr>
            <a:picLocks noChangeAspect="1"/>
          </p:cNvPicPr>
          <p:nvPr/>
        </p:nvPicPr>
        <p:blipFill>
          <a:blip r:embed="rId1"/>
          <a:stretch>
            <a:fillRect/>
          </a:stretch>
        </p:blipFill>
        <p:spPr>
          <a:xfrm>
            <a:off x="812800" y="6197600"/>
            <a:ext cx="660400" cy="254000"/>
          </a:xfrm>
          <a:prstGeom prst="rect">
            <a:avLst/>
          </a:prstGeom>
        </p:spPr>
      </p:pic>
      <p:sp>
        <p:nvSpPr>
          <p:cNvPr id="3" name="Text 0"/>
          <p:cNvSpPr/>
          <p:nvPr/>
        </p:nvSpPr>
        <p:spPr>
          <a:xfrm>
            <a:off x="1625600" y="6197600"/>
            <a:ext cx="5715000" cy="254000"/>
          </a:xfrm>
          <a:prstGeom prst="rect">
            <a:avLst/>
          </a:prstGeom>
          <a:noFill/>
          <a:ln/>
        </p:spPr>
        <p:txBody>
          <a:bodyPr wrap="square" lIns="0" tIns="0" rIns="0" bIns="0" rtlCol="0" anchor="ctr"/>
          <a:lstStyle/>
          <a:p>
            <a:pPr indent="0" marL="0">
              <a:buNone/>
            </a:pPr>
            <a:r>
              <a:rPr lang="en-US" sz="1200" dirty="0">
                <a:solidFill>
                  <a:srgbClr val="5A6472"/>
                </a:solidFill>
                <a:latin typeface="Arial" pitchFamily="34" charset="0"/>
                <a:ea typeface="Arial" pitchFamily="34" charset="-122"/>
                <a:cs typeface="Arial" pitchFamily="34" charset="-120"/>
              </a:rPr>
              <a:t>Capacity &amp; Scheduling · SME Introduction</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indent="0" marL="0">
              <a:buNone/>
              <a:defRPr lang="en-US" sz="1200" b="1" spc="200" kern="0" dirty="0">
                <a:solidFill>
                  <a:srgbClr val="8A5F00"/>
                </a:solidFill>
                <a:latin typeface="Arial" pitchFamily="34" charset="0"/>
                <a:ea typeface="Arial" pitchFamily="34" charset="-122"/>
                <a:cs typeface="Arial" pitchFamily="34" charset="-120"/>
              </a:defRPr>
            </a:lvl1pPr>
          </a:lstStyle>
          <a:p>
            <a:pPr indent="0" marL="0">
              <a:buNone/>
            </a:pPr>
            <a:r>
              <a:rPr lang="en-US" sz="1200" b="1" spc="200" kern="0" dirty="0">
                <a:solidFill>
                  <a:srgbClr val="8A5F00"/>
                </a:solidFill>
                <a:latin typeface="Arial" pitchFamily="34" charset="0"/>
                <a:ea typeface="Arial" pitchFamily="34" charset="-122"/>
                <a:cs typeface="Arial" pitchFamily="34" charset="-120"/>
              </a:rPr>
              <a:t>EYEBROW LABEL</a:t>
            </a:r>
            <a:endParaRPr lang="en-US" sz="1200" dirty="0"/>
          </a:p>
        </p:txBody>
      </p:sp>
      <p:sp>
        <p:nvSpPr>
          <p:cNvPr id="5" name="Text 1"/>
          <p:cNvSpPr/>
          <p:nvPr>
            <p:ph idx="103" type="title" hasCustomPrompt="1"/>
          </p:nvPr>
        </p:nvSpPr>
        <p:spPr>
          <a:xfrm>
            <a:off x="812800" y="1117600"/>
            <a:ext cx="10566400" cy="635000"/>
          </a:xfrm>
          <a:prstGeom prst="rect">
            <a:avLst/>
          </a:prstGeom>
          <a:noFill/>
          <a:ln/>
        </p:spPr>
        <p:txBody>
          <a:bodyPr wrap="square" rtlCol="0"/>
          <a:lstStyle>
            <a:lvl1pPr algn="l" indent="0" marL="0">
              <a:buNone/>
              <a:defRPr lang="en-US" sz="4000" dirty="0">
                <a:solidFill>
                  <a:srgbClr val="002554"/>
                </a:solidFill>
                <a:latin typeface="Maven Pro" pitchFamily="34" charset="0"/>
                <a:ea typeface="Maven Pro" pitchFamily="34" charset="-122"/>
                <a:cs typeface="Maven Pro" pitchFamily="34" charset="-120"/>
              </a:defRPr>
            </a:lvl1pPr>
          </a:lstStyle>
          <a:p>
            <a:pPr algn="l" indent="0" marL="0">
              <a:buNone/>
            </a:pPr>
            <a:r>
              <a:rPr lang="en-US" sz="4000" dirty="0">
                <a:solidFill>
                  <a:srgbClr val="002554"/>
                </a:solidFill>
                <a:latin typeface="Maven Pro" pitchFamily="34" charset="0"/>
                <a:ea typeface="Maven Pro" pitchFamily="34" charset="-122"/>
                <a:cs typeface="Maven Pro" pitchFamily="34" charset="-120"/>
              </a:rPr>
              <a:t>Slide title</a:t>
            </a:r>
            <a:endParaRPr lang="en-US" sz="4000" dirty="0"/>
          </a:p>
        </p:txBody>
      </p:sp>
      <p:sp>
        <p:nvSpPr>
          <p:cNvPr id="6" name="Shape 1"/>
          <p:cNvSpPr/>
          <p:nvPr/>
        </p:nvSpPr>
        <p:spPr>
          <a:xfrm>
            <a:off x="812800" y="2044700"/>
            <a:ext cx="3384550" cy="3429000"/>
          </a:xfrm>
          <a:prstGeom prst="rect">
            <a:avLst/>
          </a:prstGeom>
          <a:solidFill>
            <a:srgbClr val="FDFCFA"/>
          </a:solidFill>
          <a:ln w="9525">
            <a:solidFill>
              <a:srgbClr val="E3DED3"/>
            </a:solidFill>
            <a:prstDash val="solid"/>
          </a:ln>
        </p:spPr>
      </p:sp>
      <p:sp>
        <p:nvSpPr>
          <p:cNvPr id="7" name="Shape 2"/>
          <p:cNvSpPr/>
          <p:nvPr/>
        </p:nvSpPr>
        <p:spPr>
          <a:xfrm>
            <a:off x="4400550" y="2044700"/>
            <a:ext cx="3384550" cy="3429000"/>
          </a:xfrm>
          <a:prstGeom prst="rect">
            <a:avLst/>
          </a:prstGeom>
          <a:solidFill>
            <a:srgbClr val="FDFCFA"/>
          </a:solidFill>
          <a:ln w="9525">
            <a:solidFill>
              <a:srgbClr val="E3DED3"/>
            </a:solidFill>
            <a:prstDash val="solid"/>
          </a:ln>
        </p:spPr>
      </p:sp>
      <p:sp>
        <p:nvSpPr>
          <p:cNvPr id="8" name="Shape 3"/>
          <p:cNvSpPr/>
          <p:nvPr/>
        </p:nvSpPr>
        <p:spPr>
          <a:xfrm>
            <a:off x="7988300" y="2044700"/>
            <a:ext cx="3384550" cy="3429000"/>
          </a:xfrm>
          <a:prstGeom prst="rect">
            <a:avLst/>
          </a:prstGeom>
          <a:solidFill>
            <a:srgbClr val="FDFCFA"/>
          </a:solidFill>
          <a:ln w="9525">
            <a:solidFill>
              <a:srgbClr val="E3DED3"/>
            </a:solidFill>
            <a:prstDash val="solid"/>
          </a:ln>
        </p:spPr>
      </p:sp>
      <p:sp>
        <p:nvSpPr>
          <p:cNvPr id="9" name="Text 4"/>
          <p:cNvSpPr/>
          <p:nvPr>
            <p:ph idx="107" type="body" hasCustomPrompt="1"/>
          </p:nvPr>
        </p:nvSpPr>
        <p:spPr>
          <a:xfrm>
            <a:off x="1117600" y="2349500"/>
            <a:ext cx="2774950" cy="2819400"/>
          </a:xfrm>
          <a:prstGeom prst="rect">
            <a:avLst/>
          </a:prstGeom>
          <a:noFill/>
          <a:ln/>
        </p:spPr>
        <p:txBody>
          <a:bodyPr wrap="square" rtlCol="0"/>
          <a:lstStyle>
            <a:lvl1pPr indent="0" marL="0">
              <a:buNone/>
              <a:defRPr lang="en-US" sz="1400" dirty="0">
                <a:solidFill>
                  <a:srgbClr val="3D4A5C"/>
                </a:solidFill>
                <a:latin typeface="Arial" pitchFamily="34" charset="0"/>
                <a:ea typeface="Arial" pitchFamily="34" charset="-122"/>
                <a:cs typeface="Arial" pitchFamily="34" charset="-120"/>
              </a:defRPr>
            </a:lvl1pPr>
          </a:lstStyle>
          <a:p>
            <a:pPr indent="0" marL="0">
              <a:buNone/>
            </a:pPr>
            <a:r>
              <a:rPr lang="en-US" sz="1400" dirty="0">
                <a:solidFill>
                  <a:srgbClr val="3D4A5C"/>
                </a:solidFill>
                <a:latin typeface="Arial" pitchFamily="34" charset="0"/>
                <a:ea typeface="Arial" pitchFamily="34" charset="-122"/>
                <a:cs typeface="Arial" pitchFamily="34" charset="-120"/>
              </a:rPr>
              <a:t>Card one</a:t>
            </a:r>
            <a:endParaRPr lang="en-US" sz="1400" dirty="0"/>
          </a:p>
        </p:txBody>
      </p:sp>
      <p:sp>
        <p:nvSpPr>
          <p:cNvPr id="10" name="Text 4"/>
          <p:cNvSpPr/>
          <p:nvPr>
            <p:ph idx="108" type="body" hasCustomPrompt="1"/>
          </p:nvPr>
        </p:nvSpPr>
        <p:spPr>
          <a:xfrm>
            <a:off x="4705350" y="2349500"/>
            <a:ext cx="2774950" cy="2819400"/>
          </a:xfrm>
          <a:prstGeom prst="rect">
            <a:avLst/>
          </a:prstGeom>
          <a:noFill/>
          <a:ln/>
        </p:spPr>
        <p:txBody>
          <a:bodyPr wrap="square" rtlCol="0"/>
          <a:lstStyle>
            <a:lvl1pPr indent="0" marL="0">
              <a:buNone/>
              <a:defRPr lang="en-US" sz="1400" dirty="0">
                <a:solidFill>
                  <a:srgbClr val="3D4A5C"/>
                </a:solidFill>
                <a:latin typeface="Arial" pitchFamily="34" charset="0"/>
                <a:ea typeface="Arial" pitchFamily="34" charset="-122"/>
                <a:cs typeface="Arial" pitchFamily="34" charset="-120"/>
              </a:defRPr>
            </a:lvl1pPr>
          </a:lstStyle>
          <a:p>
            <a:pPr indent="0" marL="0">
              <a:buNone/>
            </a:pPr>
            <a:r>
              <a:rPr lang="en-US" sz="1400" dirty="0">
                <a:solidFill>
                  <a:srgbClr val="3D4A5C"/>
                </a:solidFill>
                <a:latin typeface="Arial" pitchFamily="34" charset="0"/>
                <a:ea typeface="Arial" pitchFamily="34" charset="-122"/>
                <a:cs typeface="Arial" pitchFamily="34" charset="-120"/>
              </a:rPr>
              <a:t>Card two</a:t>
            </a:r>
            <a:endParaRPr lang="en-US" sz="1400" dirty="0"/>
          </a:p>
        </p:txBody>
      </p:sp>
      <p:sp>
        <p:nvSpPr>
          <p:cNvPr id="11" name="Text 4"/>
          <p:cNvSpPr/>
          <p:nvPr>
            <p:ph idx="109" type="body" hasCustomPrompt="1"/>
          </p:nvPr>
        </p:nvSpPr>
        <p:spPr>
          <a:xfrm>
            <a:off x="8293100" y="2349500"/>
            <a:ext cx="2774950" cy="2819400"/>
          </a:xfrm>
          <a:prstGeom prst="rect">
            <a:avLst/>
          </a:prstGeom>
          <a:noFill/>
          <a:ln/>
        </p:spPr>
        <p:txBody>
          <a:bodyPr wrap="square" rtlCol="0"/>
          <a:lstStyle>
            <a:lvl1pPr indent="0" marL="0">
              <a:buNone/>
              <a:defRPr lang="en-US" sz="1400" dirty="0">
                <a:solidFill>
                  <a:srgbClr val="3D4A5C"/>
                </a:solidFill>
                <a:latin typeface="Arial" pitchFamily="34" charset="0"/>
                <a:ea typeface="Arial" pitchFamily="34" charset="-122"/>
                <a:cs typeface="Arial" pitchFamily="34" charset="-120"/>
              </a:defRPr>
            </a:lvl1pPr>
          </a:lstStyle>
          <a:p>
            <a:pPr indent="0" marL="0">
              <a:buNone/>
            </a:pPr>
            <a:r>
              <a:rPr lang="en-US" sz="1400" dirty="0">
                <a:solidFill>
                  <a:srgbClr val="3D4A5C"/>
                </a:solidFill>
                <a:latin typeface="Arial" pitchFamily="34" charset="0"/>
                <a:ea typeface="Arial" pitchFamily="34" charset="-122"/>
                <a:cs typeface="Arial" pitchFamily="34" charset="-120"/>
              </a:rPr>
              <a:t>Card three</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mpassus · Navy + body">
    <p:bg>
      <p:bgPr>
        <a:solidFill>
          <a:srgbClr val="002554"/>
        </a:solidFill>
      </p:bgPr>
    </p:bg>
    <p:spTree>
      <p:nvGrpSpPr>
        <p:cNvPr id="1" name=""/>
        <p:cNvGrpSpPr/>
        <p:nvPr/>
      </p:nvGrpSpPr>
      <p:grpSpPr>
        <a:xfrm>
          <a:off x="0" y="0"/>
          <a:ext cx="0" cy="0"/>
          <a:chOff x="0" y="0"/>
          <a:chExt cx="0" cy="0"/>
        </a:xfrm>
      </p:grpSpPr>
      <p:pic>
        <p:nvPicPr>
          <p:cNvPr id="2" name="Image 0" descr="compassus-logo-reverse.png">    </p:cNvPr>
          <p:cNvPicPr>
            <a:picLocks noChangeAspect="1"/>
          </p:cNvPicPr>
          <p:nvPr/>
        </p:nvPicPr>
        <p:blipFill>
          <a:blip r:embed="rId1"/>
          <a:stretch>
            <a:fillRect/>
          </a:stretch>
        </p:blipFill>
        <p:spPr>
          <a:xfrm>
            <a:off x="812800" y="6197600"/>
            <a:ext cx="660400" cy="254000"/>
          </a:xfrm>
          <a:prstGeom prst="rect">
            <a:avLst/>
          </a:prstGeom>
        </p:spPr>
      </p:pic>
      <p:sp>
        <p:nvSpPr>
          <p:cNvPr id="3" name="Text 0"/>
          <p:cNvSpPr/>
          <p:nvPr/>
        </p:nvSpPr>
        <p:spPr>
          <a:xfrm>
            <a:off x="1625600" y="6197600"/>
            <a:ext cx="5715000" cy="254000"/>
          </a:xfrm>
          <a:prstGeom prst="rect">
            <a:avLst/>
          </a:prstGeom>
          <a:noFill/>
          <a:ln/>
        </p:spPr>
        <p:txBody>
          <a:bodyPr wrap="square" lIns="0" tIns="0" rIns="0" bIns="0" rtlCol="0" anchor="ctr"/>
          <a:lstStyle/>
          <a:p>
            <a:pPr indent="0" marL="0">
              <a:buNone/>
            </a:pPr>
            <a:r>
              <a:rPr lang="en-US" sz="1200" dirty="0">
                <a:solidFill>
                  <a:srgbClr val="9AAAC0"/>
                </a:solidFill>
                <a:latin typeface="Arial" pitchFamily="34" charset="0"/>
                <a:ea typeface="Arial" pitchFamily="34" charset="-122"/>
                <a:cs typeface="Arial" pitchFamily="34" charset="-120"/>
              </a:rPr>
              <a:t>Capacity &amp; Scheduling · SME Introduction</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indent="0" marL="0">
              <a:buNone/>
              <a:defRPr lang="en-US" sz="1200" b="1" spc="200" kern="0" dirty="0">
                <a:solidFill>
                  <a:srgbClr val="CE8E00"/>
                </a:solidFill>
                <a:latin typeface="Arial" pitchFamily="34" charset="0"/>
                <a:ea typeface="Arial" pitchFamily="34" charset="-122"/>
                <a:cs typeface="Arial" pitchFamily="34" charset="-120"/>
              </a:defRPr>
            </a:lvl1pPr>
          </a:lstStyle>
          <a:p>
            <a:pPr indent="0" marL="0">
              <a:buNone/>
            </a:pPr>
            <a:r>
              <a:rPr lang="en-US" sz="1200" b="1" spc="200" kern="0" dirty="0">
                <a:solidFill>
                  <a:srgbClr val="CE8E00"/>
                </a:solidFill>
                <a:latin typeface="Arial" pitchFamily="34" charset="0"/>
                <a:ea typeface="Arial" pitchFamily="34" charset="-122"/>
                <a:cs typeface="Arial" pitchFamily="34" charset="-120"/>
              </a:rPr>
              <a:t>EYEBROW LABEL</a:t>
            </a:r>
            <a:endParaRPr lang="en-US" sz="1200" dirty="0"/>
          </a:p>
        </p:txBody>
      </p:sp>
      <p:sp>
        <p:nvSpPr>
          <p:cNvPr id="5" name="Text 1"/>
          <p:cNvSpPr/>
          <p:nvPr>
            <p:ph idx="103" type="title" hasCustomPrompt="1"/>
          </p:nvPr>
        </p:nvSpPr>
        <p:spPr>
          <a:xfrm>
            <a:off x="812800" y="1117600"/>
            <a:ext cx="10566400" cy="635000"/>
          </a:xfrm>
          <a:prstGeom prst="rect">
            <a:avLst/>
          </a:prstGeom>
          <a:noFill/>
          <a:ln/>
        </p:spPr>
        <p:txBody>
          <a:bodyPr wrap="square" rtlCol="0"/>
          <a:lstStyle>
            <a:lvl1pPr algn="l" indent="0" marL="0">
              <a:buNone/>
              <a:defRPr lang="en-US" sz="4000" dirty="0">
                <a:solidFill>
                  <a:srgbClr val="F8F6F1"/>
                </a:solidFill>
                <a:latin typeface="Maven Pro" pitchFamily="34" charset="0"/>
                <a:ea typeface="Maven Pro" pitchFamily="34" charset="-122"/>
                <a:cs typeface="Maven Pro" pitchFamily="34" charset="-120"/>
              </a:defRPr>
            </a:lvl1pPr>
          </a:lstStyle>
          <a:p>
            <a:pPr algn="l" indent="0" marL="0">
              <a:buNone/>
            </a:pPr>
            <a:r>
              <a:rPr lang="en-US" sz="4000" dirty="0">
                <a:solidFill>
                  <a:srgbClr val="F8F6F1"/>
                </a:solidFill>
                <a:latin typeface="Maven Pro" pitchFamily="34" charset="0"/>
                <a:ea typeface="Maven Pro" pitchFamily="34" charset="-122"/>
                <a:cs typeface="Maven Pro" pitchFamily="34" charset="-120"/>
              </a:rPr>
              <a:t>Slide title</a:t>
            </a:r>
            <a:endParaRPr lang="en-US" sz="4000" dirty="0"/>
          </a:p>
        </p:txBody>
      </p:sp>
      <p:sp>
        <p:nvSpPr>
          <p:cNvPr id="6" name="Text 1"/>
          <p:cNvSpPr/>
          <p:nvPr>
            <p:ph idx="104" type="body" hasCustomPrompt="1"/>
          </p:nvPr>
        </p:nvSpPr>
        <p:spPr>
          <a:xfrm>
            <a:off x="812800" y="2044700"/>
            <a:ext cx="10566400" cy="3556000"/>
          </a:xfrm>
          <a:prstGeom prst="rect">
            <a:avLst/>
          </a:prstGeom>
          <a:noFill/>
          <a:ln/>
        </p:spPr>
        <p:txBody>
          <a:bodyPr wrap="square" rtlCol="0"/>
          <a:lstStyle>
            <a:lvl1pPr indent="0" marL="0">
              <a:buNone/>
              <a:defRPr lang="en-US" sz="1400" dirty="0">
                <a:solidFill>
                  <a:srgbClr val="C9D3E0"/>
                </a:solidFill>
                <a:latin typeface="Arial" pitchFamily="34" charset="0"/>
                <a:ea typeface="Arial" pitchFamily="34" charset="-122"/>
                <a:cs typeface="Arial" pitchFamily="34" charset="-120"/>
              </a:defRPr>
            </a:lvl1pPr>
          </a:lstStyle>
          <a:p>
            <a:pPr indent="0" marL="0">
              <a:buNone/>
            </a:pPr>
            <a:r>
              <a:rPr lang="en-US" sz="1400" dirty="0">
                <a:solidFill>
                  <a:srgbClr val="C9D3E0"/>
                </a:solidFill>
                <a:latin typeface="Arial" pitchFamily="34" charset="0"/>
                <a:ea typeface="Arial" pitchFamily="34" charset="-122"/>
                <a:cs typeface="Arial" pitchFamily="34" charset="-120"/>
              </a:rPr>
              <a:t>Add your content</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9AAAC0"/>
                </a:solidFill>
                <a:latin typeface="Arial"/>
                <a:ea typeface="Arial"/>
                <a:cs typeface="Aria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ssus · Gold statement">
    <p:bg>
      <p:bgPr>
        <a:solidFill>
          <a:srgbClr val="CE8E00"/>
        </a:solidFill>
      </p:bgPr>
    </p:bg>
    <p:spTree>
      <p:nvGrpSpPr>
        <p:cNvPr id="1" name=""/>
        <p:cNvGrpSpPr/>
        <p:nvPr/>
      </p:nvGrpSpPr>
      <p:grpSpPr>
        <a:xfrm>
          <a:off x="0" y="0"/>
          <a:ext cx="0" cy="0"/>
          <a:chOff x="0" y="0"/>
          <a:chExt cx="0" cy="0"/>
        </a:xfrm>
      </p:grpSpPr>
      <p:pic>
        <p:nvPicPr>
          <p:cNvPr id="2" name="Image 0" descr="compassus-logo-color.png">    </p:cNvPr>
          <p:cNvPicPr>
            <a:picLocks noChangeAspect="1"/>
          </p:cNvPicPr>
          <p:nvPr/>
        </p:nvPicPr>
        <p:blipFill>
          <a:blip r:embed="rId1"/>
          <a:stretch>
            <a:fillRect/>
          </a:stretch>
        </p:blipFill>
        <p:spPr>
          <a:xfrm>
            <a:off x="812800" y="6197600"/>
            <a:ext cx="660400" cy="254000"/>
          </a:xfrm>
          <a:prstGeom prst="rect">
            <a:avLst/>
          </a:prstGeom>
        </p:spPr>
      </p:pic>
      <p:sp>
        <p:nvSpPr>
          <p:cNvPr id="3" name="Text 0"/>
          <p:cNvSpPr/>
          <p:nvPr/>
        </p:nvSpPr>
        <p:spPr>
          <a:xfrm>
            <a:off x="1625600" y="6197600"/>
            <a:ext cx="5715000" cy="254000"/>
          </a:xfrm>
          <a:prstGeom prst="rect">
            <a:avLst/>
          </a:prstGeom>
          <a:noFill/>
          <a:ln/>
        </p:spPr>
        <p:txBody>
          <a:bodyPr wrap="square" lIns="0" tIns="0" rIns="0" bIns="0" rtlCol="0" anchor="ctr"/>
          <a:lstStyle/>
          <a:p>
            <a:pPr indent="0" marL="0">
              <a:buNone/>
            </a:pPr>
            <a:r>
              <a:rPr lang="en-US" sz="1200" dirty="0">
                <a:solidFill>
                  <a:srgbClr val="002554"/>
                </a:solidFill>
                <a:latin typeface="Arial" pitchFamily="34" charset="0"/>
                <a:ea typeface="Arial" pitchFamily="34" charset="-122"/>
                <a:cs typeface="Arial" pitchFamily="34" charset="-120"/>
              </a:rPr>
              <a:t>Capacity &amp; Scheduling · SME Introduction</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indent="0" marL="0">
              <a:buNone/>
              <a:defRPr lang="en-US" sz="1200" b="1" spc="200" kern="0" dirty="0">
                <a:solidFill>
                  <a:srgbClr val="002554"/>
                </a:solidFill>
                <a:latin typeface="Arial" pitchFamily="34" charset="0"/>
                <a:ea typeface="Arial" pitchFamily="34" charset="-122"/>
                <a:cs typeface="Arial" pitchFamily="34" charset="-120"/>
              </a:defRPr>
            </a:lvl1pPr>
          </a:lstStyle>
          <a:p>
            <a:pPr indent="0" marL="0">
              <a:buNone/>
            </a:pPr>
            <a:r>
              <a:rPr lang="en-US" sz="1200" b="1" spc="200" kern="0" dirty="0">
                <a:solidFill>
                  <a:srgbClr val="002554"/>
                </a:solidFill>
                <a:latin typeface="Arial" pitchFamily="34" charset="0"/>
                <a:ea typeface="Arial" pitchFamily="34" charset="-122"/>
                <a:cs typeface="Arial" pitchFamily="34" charset="-120"/>
              </a:rPr>
              <a:t>EYEBROW LABEL</a:t>
            </a:r>
            <a:endParaRPr lang="en-US" sz="1200" dirty="0"/>
          </a:p>
        </p:txBody>
      </p:sp>
      <p:sp>
        <p:nvSpPr>
          <p:cNvPr id="5" name="Text 1"/>
          <p:cNvSpPr/>
          <p:nvPr>
            <p:ph idx="103" type="title" hasCustomPrompt="1"/>
          </p:nvPr>
        </p:nvSpPr>
        <p:spPr>
          <a:xfrm>
            <a:off x="812800" y="1905000"/>
            <a:ext cx="9525000" cy="2540000"/>
          </a:xfrm>
          <a:prstGeom prst="rect">
            <a:avLst/>
          </a:prstGeom>
          <a:noFill/>
          <a:ln/>
        </p:spPr>
        <p:txBody>
          <a:bodyPr wrap="square" rtlCol="0"/>
          <a:lstStyle>
            <a:lvl1pPr algn="l" indent="0" marL="0">
              <a:buNone/>
              <a:defRPr lang="en-US" sz="4800" dirty="0">
                <a:solidFill>
                  <a:srgbClr val="002554"/>
                </a:solidFill>
                <a:latin typeface="Maven Pro" pitchFamily="34" charset="0"/>
                <a:ea typeface="Maven Pro" pitchFamily="34" charset="-122"/>
                <a:cs typeface="Maven Pro" pitchFamily="34" charset="-120"/>
              </a:defRPr>
            </a:lvl1pPr>
          </a:lstStyle>
          <a:p>
            <a:pPr algn="l" indent="0" marL="0">
              <a:buNone/>
            </a:pPr>
            <a:r>
              <a:rPr lang="en-US" sz="4800" dirty="0">
                <a:solidFill>
                  <a:srgbClr val="002554"/>
                </a:solidFill>
                <a:latin typeface="Maven Pro" pitchFamily="34" charset="0"/>
                <a:ea typeface="Maven Pro" pitchFamily="34" charset="-122"/>
                <a:cs typeface="Maven Pro" pitchFamily="34" charset="-120"/>
              </a:rPr>
              <a:t>A single statement worth a whole slide.</a:t>
            </a:r>
            <a:endParaRPr lang="en-US" sz="48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002554"/>
                </a:solidFill>
                <a:latin typeface="Arial"/>
                <a:ea typeface="Arial"/>
                <a:cs typeface="Arial"/>
              </a:defRPr>
            </a:lvl1pPr>
          </a:lstStyle>
          <a:p>
            <a:pPr algn="r"/>
            <a:fld id="{F7021451-1387-4CA6-816F-3879F97B5CBC}" type="slidenum">
              <a:rPr b="0" lang="en-US"/>
              <a:t>1011</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5.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otgrid.png">    </p:cNvPr>
          <p:cNvPicPr>
            <a:picLocks noChangeAspect="1"/>
          </p:cNvPicPr>
          <p:nvPr/>
        </p:nvPicPr>
        <p:blipFill>
          <a:blip r:embed="rId1"/>
          <a:stretch>
            <a:fillRect/>
          </a:stretch>
        </p:blipFill>
        <p:spPr>
          <a:xfrm>
            <a:off x="7823200" y="1524000"/>
            <a:ext cx="3556000" cy="3556000"/>
          </a:xfrm>
          <a:prstGeom prst="rect">
            <a:avLst/>
          </a:prstGeom>
        </p:spPr>
      </p:pic>
      <p:pic>
        <p:nvPicPr>
          <p:cNvPr id="3" name="Image 1" descr="compassus-logo-reverse.png">    </p:cNvPr>
          <p:cNvPicPr>
            <a:picLocks noChangeAspect="1"/>
          </p:cNvPicPr>
          <p:nvPr/>
        </p:nvPicPr>
        <p:blipFill>
          <a:blip r:embed="rId2"/>
          <a:stretch>
            <a:fillRect/>
          </a:stretch>
        </p:blipFill>
        <p:spPr>
          <a:xfrm>
            <a:off x="812800" y="812800"/>
            <a:ext cx="1905000" cy="730250"/>
          </a:xfrm>
          <a:prstGeom prst="rect">
            <a:avLst/>
          </a:prstGeom>
        </p:spPr>
      </p:pic>
      <p:sp>
        <p:nvSpPr>
          <p:cNvPr id="4" name="Text 0"/>
          <p:cNvSpPr txBox="1"/>
          <p:nvPr/>
        </p:nvSpPr>
        <p:spPr>
          <a:xfrm>
            <a:off x="812800" y="2159000"/>
            <a:ext cx="6604000" cy="254000"/>
          </a:xfrm>
          <a:prstGeom prst="rect">
            <a:avLst/>
          </a:prstGeom>
          <a:noFill/>
          <a:ln/>
        </p:spPr>
        <p:txBody>
          <a:bodyPr wrap="square" lIns="0" tIns="0" rIns="0" bIns="0" rtlCol="0" anchor="t"/>
          <a:lstStyle/>
          <a:p>
            <a:pPr algn="l" indent="0" marL="0">
              <a:lnSpc>
                <a:spcPct val="110000"/>
              </a:lnSpc>
              <a:buNone/>
            </a:pPr>
            <a:r>
              <a:rPr lang="en-US" sz="1200" b="1" spc="250" kern="0" dirty="0">
                <a:solidFill>
                  <a:srgbClr val="CE8E00"/>
                </a:solidFill>
                <a:latin typeface="Arial" pitchFamily="34" charset="0"/>
                <a:ea typeface="Arial" pitchFamily="34" charset="-122"/>
                <a:cs typeface="Arial" pitchFamily="34" charset="-120"/>
              </a:rPr>
              <a:t>HOME HEALTH · CAPACITY &amp; SCHEDULING INITIATIVE</a:t>
            </a:r>
            <a:endParaRPr lang="en-US" sz="1200" dirty="0"/>
          </a:p>
        </p:txBody>
      </p:sp>
      <p:sp>
        <p:nvSpPr>
          <p:cNvPr id="5" name="Text 1"/>
          <p:cNvSpPr txBox="1"/>
          <p:nvPr/>
        </p:nvSpPr>
        <p:spPr>
          <a:xfrm>
            <a:off x="812800" y="2514600"/>
            <a:ext cx="6604000" cy="2540000"/>
          </a:xfrm>
          <a:prstGeom prst="rect">
            <a:avLst/>
          </a:prstGeom>
          <a:noFill/>
          <a:ln/>
        </p:spPr>
        <p:txBody>
          <a:bodyPr wrap="square" lIns="0" tIns="0" rIns="0" bIns="0" rtlCol="0" anchor="t"/>
          <a:lstStyle/>
          <a:p>
            <a:pPr indent="0" marL="0">
              <a:lnSpc>
                <a:spcPct val="95000"/>
              </a:lnSpc>
              <a:buNone/>
            </a:pPr>
            <a:r>
              <a:rPr lang="en-US" sz="5200" dirty="0">
                <a:solidFill>
                  <a:srgbClr val="F8F6F1"/>
                </a:solidFill>
                <a:latin typeface="Maven Pro" pitchFamily="34" charset="0"/>
                <a:ea typeface="Maven Pro" pitchFamily="34" charset="-122"/>
                <a:cs typeface="Maven Pro" pitchFamily="34" charset="-120"/>
              </a:rPr>
              <a:t>The people closest to the work, </a:t>
            </a:r>
            <a:pPr indent="0" marL="0">
              <a:lnSpc>
                <a:spcPct val="95000"/>
              </a:lnSpc>
              <a:buNone/>
            </a:pPr>
            <a:r>
              <a:rPr lang="en-US" sz="5200" dirty="0">
                <a:solidFill>
                  <a:srgbClr val="CE8E00"/>
                </a:solidFill>
                <a:latin typeface="Maven Pro" pitchFamily="34" charset="0"/>
                <a:ea typeface="Maven Pro" pitchFamily="34" charset="-122"/>
                <a:cs typeface="Maven Pro" pitchFamily="34" charset="-120"/>
              </a:rPr>
              <a:t>shaping the choice.</a:t>
            </a:r>
            <a:endParaRPr lang="en-US" sz="5200" dirty="0"/>
          </a:p>
        </p:txBody>
      </p:sp>
      <p:sp>
        <p:nvSpPr>
          <p:cNvPr id="6" name="Text 2"/>
          <p:cNvSpPr txBox="1"/>
          <p:nvPr/>
        </p:nvSpPr>
        <p:spPr>
          <a:xfrm>
            <a:off x="812800" y="5270500"/>
            <a:ext cx="5715000" cy="635000"/>
          </a:xfrm>
          <a:prstGeom prst="rect">
            <a:avLst/>
          </a:prstGeom>
          <a:noFill/>
          <a:ln/>
        </p:spPr>
        <p:txBody>
          <a:bodyPr wrap="square" lIns="0" tIns="0" rIns="0" bIns="0" rtlCol="0" anchor="t"/>
          <a:lstStyle/>
          <a:p>
            <a:pPr algn="l" indent="0" marL="0">
              <a:lnSpc>
                <a:spcPct val="125000"/>
              </a:lnSpc>
              <a:buNone/>
            </a:pPr>
            <a:r>
              <a:rPr lang="en-US" sz="1600" dirty="0">
                <a:solidFill>
                  <a:srgbClr val="C9D3E0"/>
                </a:solidFill>
                <a:latin typeface="Arial" pitchFamily="34" charset="0"/>
                <a:ea typeface="Arial" pitchFamily="34" charset="-122"/>
                <a:cs typeface="Arial" pitchFamily="34" charset="-120"/>
              </a:rPr>
              <a:t>Introducing the subject matter experts guiding vendor identification and selection</a:t>
            </a:r>
            <a:endParaRPr lang="en-US" sz="1600" dirty="0"/>
          </a:p>
        </p:txBody>
      </p:sp>
      <p:sp>
        <p:nvSpPr>
          <p:cNvPr id="7" name="Text 3"/>
          <p:cNvSpPr txBox="1"/>
          <p:nvPr/>
        </p:nvSpPr>
        <p:spPr>
          <a:xfrm>
            <a:off x="812800" y="6197600"/>
            <a:ext cx="5715000" cy="254000"/>
          </a:xfrm>
          <a:prstGeom prst="rect">
            <a:avLst/>
          </a:prstGeom>
          <a:noFill/>
          <a:ln/>
        </p:spPr>
        <p:txBody>
          <a:bodyPr wrap="square" lIns="0" tIns="0" rIns="0" bIns="0" rtlCol="0" anchor="ctr"/>
          <a:lstStyle/>
          <a:p>
            <a:pPr algn="l" indent="0" marL="0">
              <a:lnSpc>
                <a:spcPct val="110000"/>
              </a:lnSpc>
              <a:buNone/>
            </a:pPr>
            <a:r>
              <a:rPr lang="en-US" sz="1200" dirty="0">
                <a:solidFill>
                  <a:srgbClr val="9AAAC0"/>
                </a:solidFill>
                <a:latin typeface="Arial" pitchFamily="34" charset="0"/>
                <a:ea typeface="Arial" pitchFamily="34" charset="-122"/>
                <a:cs typeface="Arial" pitchFamily="34" charset="-120"/>
              </a:rPr>
              <a:t>[Presenter name] · [Date]</a:t>
            </a:r>
            <a:endParaRPr lang="en-US" sz="1200" dirty="0"/>
          </a:p>
        </p:txBody>
      </p:sp>
      <p:sp>
        <p:nvSpPr>
          <p:cNvPr id="8" name="Text 4"/>
          <p:cNvSpPr txBox="1"/>
          <p:nvPr/>
        </p:nvSpPr>
        <p:spPr>
          <a:xfrm>
            <a:off x="8204200" y="6197600"/>
            <a:ext cx="3175000" cy="254000"/>
          </a:xfrm>
          <a:prstGeom prst="rect">
            <a:avLst/>
          </a:prstGeom>
          <a:noFill/>
          <a:ln/>
        </p:spPr>
        <p:txBody>
          <a:bodyPr wrap="square" lIns="0" tIns="0" rIns="0" bIns="0" rtlCol="0" anchor="ctr"/>
          <a:lstStyle/>
          <a:p>
            <a:pPr algn="r" indent="0" marL="0">
              <a:lnSpc>
                <a:spcPct val="110000"/>
              </a:lnSpc>
              <a:buNone/>
            </a:pPr>
            <a:r>
              <a:rPr lang="en-US" sz="1200" dirty="0">
                <a:solidFill>
                  <a:srgbClr val="9AAAC0"/>
                </a:solidFill>
                <a:latin typeface="Arial" pitchFamily="34" charset="0"/>
                <a:ea typeface="Arial" pitchFamily="34" charset="-122"/>
                <a:cs typeface="Arial" pitchFamily="34" charset="-120"/>
              </a:rPr>
              <a:t>Draft for discussion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WHY WE'RE HERE</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 </a:t>
            </a:r>
            <a:endParaRPr lang="en-US" sz="4000" dirty="0"/>
          </a:p>
        </p:txBody>
      </p:sp>
      <p:sp>
        <p:nvSpPr>
          <p:cNvPr id="4" name="Text 2"/>
          <p:cNvSpPr txBox="1"/>
          <p:nvPr/>
        </p:nvSpPr>
        <p:spPr>
          <a:xfrm>
            <a:off x="812800" y="1587500"/>
            <a:ext cx="9906000" cy="2921000"/>
          </a:xfrm>
          <a:prstGeom prst="rect">
            <a:avLst/>
          </a:prstGeom>
          <a:noFill/>
          <a:ln/>
        </p:spPr>
        <p:txBody>
          <a:bodyPr wrap="square" lIns="0" tIns="0" rIns="0" bIns="0" rtlCol="0" anchor="ctr"/>
          <a:lstStyle/>
          <a:p>
            <a:pPr indent="0" marL="0">
              <a:lnSpc>
                <a:spcPct val="110000"/>
              </a:lnSpc>
              <a:spcAft>
                <a:spcPts val="1000"/>
              </a:spcAft>
              <a:buNone/>
            </a:pPr>
            <a:r>
              <a:rPr lang="en-US" sz="3800" dirty="0">
                <a:solidFill>
                  <a:srgbClr val="002554"/>
                </a:solidFill>
                <a:latin typeface="Maven Pro" pitchFamily="34" charset="0"/>
                <a:ea typeface="Maven Pro" pitchFamily="34" charset="-122"/>
                <a:cs typeface="Maven Pro" pitchFamily="34" charset="-120"/>
              </a:rPr>
              <a:t>Give every branch </a:t>
            </a:r>
            <a:pPr indent="0" marL="0">
              <a:lnSpc>
                <a:spcPct val="110000"/>
              </a:lnSpc>
              <a:spcAft>
                <a:spcPts val="1000"/>
              </a:spcAft>
              <a:buNone/>
            </a:pPr>
            <a:r>
              <a:rPr lang="en-US" sz="3800" dirty="0">
                <a:solidFill>
                  <a:srgbClr val="8A5F00"/>
                </a:solidFill>
                <a:latin typeface="Maven Pro" pitchFamily="34" charset="0"/>
                <a:ea typeface="Maven Pro" pitchFamily="34" charset="-122"/>
                <a:cs typeface="Maven Pro" pitchFamily="34" charset="-120"/>
              </a:rPr>
              <a:t>the clarity to grow.</a:t>
            </a:r>
            <a:endParaRPr lang="en-US" sz="3800" dirty="0"/>
          </a:p>
          <a:p>
            <a:pPr indent="0" marL="0">
              <a:lnSpc>
                <a:spcPct val="110000"/>
              </a:lnSpc>
              <a:spcAft>
                <a:spcPts val="1000"/>
              </a:spcAft>
              <a:buNone/>
            </a:pPr>
            <a:r>
              <a:rPr lang="en-US" sz="3800" dirty="0">
                <a:solidFill>
                  <a:srgbClr val="002554"/>
                </a:solidFill>
                <a:latin typeface="Maven Pro" pitchFamily="34" charset="0"/>
                <a:ea typeface="Maven Pro" pitchFamily="34" charset="-122"/>
                <a:cs typeface="Maven Pro" pitchFamily="34" charset="-120"/>
              </a:rPr>
              <a:t>Give PCCs </a:t>
            </a:r>
            <a:pPr indent="0" marL="0">
              <a:lnSpc>
                <a:spcPct val="110000"/>
              </a:lnSpc>
              <a:spcAft>
                <a:spcPts val="1000"/>
              </a:spcAft>
              <a:buNone/>
            </a:pPr>
            <a:r>
              <a:rPr lang="en-US" sz="3800" dirty="0">
                <a:solidFill>
                  <a:srgbClr val="8A5F00"/>
                </a:solidFill>
                <a:latin typeface="Maven Pro" pitchFamily="34" charset="0"/>
                <a:ea typeface="Maven Pro" pitchFamily="34" charset="-122"/>
                <a:cs typeface="Maven Pro" pitchFamily="34" charset="-120"/>
              </a:rPr>
              <a:t>time back</a:t>
            </a:r>
            <a:pPr indent="0" marL="0">
              <a:lnSpc>
                <a:spcPct val="110000"/>
              </a:lnSpc>
              <a:spcAft>
                <a:spcPts val="1000"/>
              </a:spcAft>
              <a:buNone/>
            </a:pPr>
            <a:r>
              <a:rPr lang="en-US" sz="3800" dirty="0">
                <a:solidFill>
                  <a:srgbClr val="002554"/>
                </a:solidFill>
                <a:latin typeface="Maven Pro" pitchFamily="34" charset="0"/>
                <a:ea typeface="Maven Pro" pitchFamily="34" charset="-122"/>
                <a:cs typeface="Maven Pro" pitchFamily="34" charset="-120"/>
              </a:rPr>
              <a:t> for the work only they can do.</a:t>
            </a:r>
            <a:endParaRPr lang="en-US" sz="3800" dirty="0"/>
          </a:p>
          <a:p>
            <a:pPr indent="0" marL="0">
              <a:lnSpc>
                <a:spcPct val="110000"/>
              </a:lnSpc>
              <a:spcAft>
                <a:spcPts val="1000"/>
              </a:spcAft>
              <a:buNone/>
            </a:pPr>
            <a:r>
              <a:rPr lang="en-US" sz="3800" dirty="0">
                <a:solidFill>
                  <a:srgbClr val="002554"/>
                </a:solidFill>
                <a:latin typeface="Maven Pro" pitchFamily="34" charset="0"/>
                <a:ea typeface="Maven Pro" pitchFamily="34" charset="-122"/>
                <a:cs typeface="Maven Pro" pitchFamily="34" charset="-120"/>
              </a:rPr>
              <a:t>Give clinicians </a:t>
            </a:r>
            <a:pPr indent="0" marL="0">
              <a:lnSpc>
                <a:spcPct val="110000"/>
              </a:lnSpc>
              <a:spcAft>
                <a:spcPts val="1000"/>
              </a:spcAft>
              <a:buNone/>
            </a:pPr>
            <a:r>
              <a:rPr lang="en-US" sz="3800" dirty="0">
                <a:solidFill>
                  <a:srgbClr val="8A5F00"/>
                </a:solidFill>
                <a:latin typeface="Maven Pro" pitchFamily="34" charset="0"/>
                <a:ea typeface="Maven Pro" pitchFamily="34" charset="-122"/>
                <a:cs typeface="Maven Pro" pitchFamily="34" charset="-120"/>
              </a:rPr>
              <a:t>an easier start</a:t>
            </a:r>
            <a:pPr indent="0" marL="0">
              <a:lnSpc>
                <a:spcPct val="110000"/>
              </a:lnSpc>
              <a:spcAft>
                <a:spcPts val="1000"/>
              </a:spcAft>
              <a:buNone/>
            </a:pPr>
            <a:r>
              <a:rPr lang="en-US" sz="3800" dirty="0">
                <a:solidFill>
                  <a:srgbClr val="002554"/>
                </a:solidFill>
                <a:latin typeface="Maven Pro" pitchFamily="34" charset="0"/>
                <a:ea typeface="Maven Pro" pitchFamily="34" charset="-122"/>
                <a:cs typeface="Maven Pro" pitchFamily="34" charset="-120"/>
              </a:rPr>
              <a:t> to every day.</a:t>
            </a:r>
            <a:endParaRPr lang="en-US" sz="3800" dirty="0"/>
          </a:p>
        </p:txBody>
      </p:sp>
      <p:sp>
        <p:nvSpPr>
          <p:cNvPr id="5" name="Shape 3"/>
          <p:cNvSpPr/>
          <p:nvPr/>
        </p:nvSpPr>
        <p:spPr>
          <a:xfrm>
            <a:off x="812800" y="4826000"/>
            <a:ext cx="10566400" cy="0"/>
          </a:xfrm>
          <a:prstGeom prst="line">
            <a:avLst/>
          </a:prstGeom>
          <a:noFill/>
          <a:ln w="9525">
            <a:solidFill>
              <a:srgbClr val="D6D0C2"/>
            </a:solidFill>
            <a:prstDash val="solid"/>
          </a:ln>
        </p:spPr>
      </p:sp>
      <p:sp>
        <p:nvSpPr>
          <p:cNvPr id="6" name="Text 4"/>
          <p:cNvSpPr txBox="1"/>
          <p:nvPr/>
        </p:nvSpPr>
        <p:spPr>
          <a:xfrm>
            <a:off x="812800" y="5016500"/>
            <a:ext cx="8255000" cy="698500"/>
          </a:xfrm>
          <a:prstGeom prst="rect">
            <a:avLst/>
          </a:prstGeom>
          <a:noFill/>
          <a:ln/>
        </p:spPr>
        <p:txBody>
          <a:bodyPr wrap="square" lIns="0" tIns="0" rIns="0" bIns="0" rtlCol="0" anchor="t"/>
          <a:lstStyle/>
          <a:p>
            <a:pPr algn="l" indent="0" marL="0">
              <a:lnSpc>
                <a:spcPct val="120000"/>
              </a:lnSpc>
              <a:buNone/>
            </a:pPr>
            <a:r>
              <a:rPr lang="en-US" sz="1600" dirty="0">
                <a:solidFill>
                  <a:srgbClr val="3D4A5C"/>
                </a:solidFill>
                <a:latin typeface="Arial" pitchFamily="34" charset="0"/>
                <a:ea typeface="Arial" pitchFamily="34" charset="-122"/>
                <a:cs typeface="Arial" pitchFamily="34" charset="-120"/>
              </a:rPr>
              <a:t>This initiative improves how capacity is managed and visits are scheduled, in the branch and in the field, through automation, clear visuals and practical recommendations.</a:t>
            </a:r>
            <a:endParaRPr lang="en-US" sz="16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OUR GOALS</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What we set out to improve</a:t>
            </a:r>
            <a:endParaRPr lang="en-US" sz="4000" dirty="0"/>
          </a:p>
        </p:txBody>
      </p:sp>
      <p:sp>
        <p:nvSpPr>
          <p:cNvPr id="4" name="Shape 2"/>
          <p:cNvSpPr/>
          <p:nvPr/>
        </p:nvSpPr>
        <p:spPr>
          <a:xfrm>
            <a:off x="812800" y="2044700"/>
            <a:ext cx="3384550" cy="3556000"/>
          </a:xfrm>
          <a:prstGeom prst="rect">
            <a:avLst/>
          </a:prstGeom>
          <a:solidFill>
            <a:srgbClr val="FDFCFA"/>
          </a:solidFill>
          <a:ln w="9525">
            <a:solidFill>
              <a:srgbClr val="E3DED3"/>
            </a:solidFill>
            <a:prstDash val="solid"/>
          </a:ln>
        </p:spPr>
      </p:sp>
      <p:sp>
        <p:nvSpPr>
          <p:cNvPr id="5" name="Text 3"/>
          <p:cNvSpPr txBox="1"/>
          <p:nvPr/>
        </p:nvSpPr>
        <p:spPr>
          <a:xfrm>
            <a:off x="1117600" y="2349500"/>
            <a:ext cx="277495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8A5F00"/>
                </a:solidFill>
                <a:latin typeface="Arial" pitchFamily="34" charset="0"/>
                <a:ea typeface="Arial" pitchFamily="34" charset="-122"/>
                <a:cs typeface="Arial" pitchFamily="34" charset="-120"/>
              </a:rPr>
              <a:t>FOR BRANCHES</a:t>
            </a:r>
            <a:endParaRPr lang="en-US" sz="1200" dirty="0"/>
          </a:p>
        </p:txBody>
      </p:sp>
      <p:sp>
        <p:nvSpPr>
          <p:cNvPr id="6" name="Text 4"/>
          <p:cNvSpPr txBox="1"/>
          <p:nvPr/>
        </p:nvSpPr>
        <p:spPr>
          <a:xfrm>
            <a:off x="1117600" y="2667000"/>
            <a:ext cx="2774950" cy="952500"/>
          </a:xfrm>
          <a:prstGeom prst="rect">
            <a:avLst/>
          </a:prstGeom>
          <a:noFill/>
          <a:ln/>
        </p:spPr>
        <p:txBody>
          <a:bodyPr wrap="square" lIns="0" tIns="0" rIns="0" bIns="0" rtlCol="0" anchor="t"/>
          <a:lstStyle/>
          <a:p>
            <a:pPr algn="l" indent="0" marL="0">
              <a:lnSpc>
                <a:spcPct val="105000"/>
              </a:lnSpc>
              <a:buNone/>
            </a:pPr>
            <a:r>
              <a:rPr lang="en-US" sz="2000" dirty="0">
                <a:solidFill>
                  <a:srgbClr val="002554"/>
                </a:solidFill>
                <a:latin typeface="Maven Pro" pitchFamily="34" charset="0"/>
                <a:ea typeface="Maven Pro" pitchFamily="34" charset="-122"/>
                <a:cs typeface="Maven Pro" pitchFamily="34" charset="-120"/>
              </a:rPr>
              <a:t>See capacity clearly. Grow with confidence.</a:t>
            </a:r>
            <a:endParaRPr lang="en-US" sz="2000" dirty="0"/>
          </a:p>
        </p:txBody>
      </p:sp>
      <p:sp>
        <p:nvSpPr>
          <p:cNvPr id="7" name="Shape 5"/>
          <p:cNvSpPr/>
          <p:nvPr/>
        </p:nvSpPr>
        <p:spPr>
          <a:xfrm>
            <a:off x="1117600" y="3746500"/>
            <a:ext cx="2774950" cy="0"/>
          </a:xfrm>
          <a:prstGeom prst="line">
            <a:avLst/>
          </a:prstGeom>
          <a:noFill/>
          <a:ln w="9525">
            <a:solidFill>
              <a:srgbClr val="E3DED3"/>
            </a:solidFill>
            <a:prstDash val="solid"/>
          </a:ln>
        </p:spPr>
      </p:sp>
      <p:sp>
        <p:nvSpPr>
          <p:cNvPr id="8" name="Text 6"/>
          <p:cNvSpPr txBox="1"/>
          <p:nvPr/>
        </p:nvSpPr>
        <p:spPr>
          <a:xfrm>
            <a:off x="1117600" y="3898900"/>
            <a:ext cx="2774950" cy="152400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Capacity by discipline and territory, at a glance</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Data to accept referrals with confidence</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Early signals before gaps become missed visits</a:t>
            </a:r>
            <a:endParaRPr lang="en-US" sz="1300" dirty="0"/>
          </a:p>
        </p:txBody>
      </p:sp>
      <p:sp>
        <p:nvSpPr>
          <p:cNvPr id="9" name="Shape 7"/>
          <p:cNvSpPr/>
          <p:nvPr/>
        </p:nvSpPr>
        <p:spPr>
          <a:xfrm>
            <a:off x="4400550" y="2044700"/>
            <a:ext cx="3384550" cy="3556000"/>
          </a:xfrm>
          <a:prstGeom prst="rect">
            <a:avLst/>
          </a:prstGeom>
          <a:solidFill>
            <a:srgbClr val="FDFCFA"/>
          </a:solidFill>
          <a:ln w="9525">
            <a:solidFill>
              <a:srgbClr val="E3DED3"/>
            </a:solidFill>
            <a:prstDash val="solid"/>
          </a:ln>
        </p:spPr>
      </p:sp>
      <p:sp>
        <p:nvSpPr>
          <p:cNvPr id="10" name="Text 8"/>
          <p:cNvSpPr txBox="1"/>
          <p:nvPr/>
        </p:nvSpPr>
        <p:spPr>
          <a:xfrm>
            <a:off x="4705350" y="2349500"/>
            <a:ext cx="277495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8A5F00"/>
                </a:solidFill>
                <a:latin typeface="Arial" pitchFamily="34" charset="0"/>
                <a:ea typeface="Arial" pitchFamily="34" charset="-122"/>
                <a:cs typeface="Arial" pitchFamily="34" charset="-120"/>
              </a:rPr>
              <a:t>FOR PCCS</a:t>
            </a:r>
            <a:endParaRPr lang="en-US" sz="1200" dirty="0"/>
          </a:p>
        </p:txBody>
      </p:sp>
      <p:sp>
        <p:nvSpPr>
          <p:cNvPr id="11" name="Text 9"/>
          <p:cNvSpPr txBox="1"/>
          <p:nvPr/>
        </p:nvSpPr>
        <p:spPr>
          <a:xfrm>
            <a:off x="4705350" y="2667000"/>
            <a:ext cx="2774950" cy="952500"/>
          </a:xfrm>
          <a:prstGeom prst="rect">
            <a:avLst/>
          </a:prstGeom>
          <a:noFill/>
          <a:ln/>
        </p:spPr>
        <p:txBody>
          <a:bodyPr wrap="square" lIns="0" tIns="0" rIns="0" bIns="0" rtlCol="0" anchor="t"/>
          <a:lstStyle/>
          <a:p>
            <a:pPr algn="l" indent="0" marL="0">
              <a:lnSpc>
                <a:spcPct val="105000"/>
              </a:lnSpc>
              <a:buNone/>
            </a:pPr>
            <a:r>
              <a:rPr lang="en-US" sz="2000" dirty="0">
                <a:solidFill>
                  <a:srgbClr val="002554"/>
                </a:solidFill>
                <a:latin typeface="Maven Pro" pitchFamily="34" charset="0"/>
                <a:ea typeface="Maven Pro" pitchFamily="34" charset="-122"/>
                <a:cs typeface="Maven Pro" pitchFamily="34" charset="-120"/>
              </a:rPr>
              <a:t>Work at the top of their skills.</a:t>
            </a:r>
            <a:endParaRPr lang="en-US" sz="2000" dirty="0"/>
          </a:p>
        </p:txBody>
      </p:sp>
      <p:sp>
        <p:nvSpPr>
          <p:cNvPr id="12" name="Shape 10"/>
          <p:cNvSpPr/>
          <p:nvPr/>
        </p:nvSpPr>
        <p:spPr>
          <a:xfrm>
            <a:off x="4705350" y="3746500"/>
            <a:ext cx="2774950" cy="0"/>
          </a:xfrm>
          <a:prstGeom prst="line">
            <a:avLst/>
          </a:prstGeom>
          <a:noFill/>
          <a:ln w="9525">
            <a:solidFill>
              <a:srgbClr val="E3DED3"/>
            </a:solidFill>
            <a:prstDash val="solid"/>
          </a:ln>
        </p:spPr>
      </p:sp>
      <p:sp>
        <p:nvSpPr>
          <p:cNvPr id="13" name="Text 11"/>
          <p:cNvSpPr txBox="1"/>
          <p:nvPr/>
        </p:nvSpPr>
        <p:spPr>
          <a:xfrm>
            <a:off x="4705350" y="3898900"/>
            <a:ext cx="2774950" cy="152400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Automation for repetitive, redundant steps</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Visuals and recommendations in one place</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More time for patients, clinicians and care</a:t>
            </a:r>
            <a:endParaRPr lang="en-US" sz="1300" dirty="0"/>
          </a:p>
        </p:txBody>
      </p:sp>
      <p:sp>
        <p:nvSpPr>
          <p:cNvPr id="14" name="Shape 12"/>
          <p:cNvSpPr/>
          <p:nvPr/>
        </p:nvSpPr>
        <p:spPr>
          <a:xfrm>
            <a:off x="7988300" y="2044700"/>
            <a:ext cx="3384550" cy="3556000"/>
          </a:xfrm>
          <a:prstGeom prst="rect">
            <a:avLst/>
          </a:prstGeom>
          <a:solidFill>
            <a:srgbClr val="FDFCFA"/>
          </a:solidFill>
          <a:ln w="9525">
            <a:solidFill>
              <a:srgbClr val="E3DED3"/>
            </a:solidFill>
            <a:prstDash val="solid"/>
          </a:ln>
        </p:spPr>
      </p:sp>
      <p:sp>
        <p:nvSpPr>
          <p:cNvPr id="15" name="Text 13"/>
          <p:cNvSpPr txBox="1"/>
          <p:nvPr/>
        </p:nvSpPr>
        <p:spPr>
          <a:xfrm>
            <a:off x="8293100" y="2349500"/>
            <a:ext cx="277495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8A5F00"/>
                </a:solidFill>
                <a:latin typeface="Arial" pitchFamily="34" charset="0"/>
                <a:ea typeface="Arial" pitchFamily="34" charset="-122"/>
                <a:cs typeface="Arial" pitchFamily="34" charset="-120"/>
              </a:rPr>
              <a:t>FOR CLINICIANS</a:t>
            </a:r>
            <a:endParaRPr lang="en-US" sz="1200" dirty="0"/>
          </a:p>
        </p:txBody>
      </p:sp>
      <p:sp>
        <p:nvSpPr>
          <p:cNvPr id="16" name="Text 14"/>
          <p:cNvSpPr txBox="1"/>
          <p:nvPr/>
        </p:nvSpPr>
        <p:spPr>
          <a:xfrm>
            <a:off x="8293100" y="2667000"/>
            <a:ext cx="2774950" cy="952500"/>
          </a:xfrm>
          <a:prstGeom prst="rect">
            <a:avLst/>
          </a:prstGeom>
          <a:noFill/>
          <a:ln/>
        </p:spPr>
        <p:txBody>
          <a:bodyPr wrap="square" lIns="0" tIns="0" rIns="0" bIns="0" rtlCol="0" anchor="t"/>
          <a:lstStyle/>
          <a:p>
            <a:pPr algn="l" indent="0" marL="0">
              <a:lnSpc>
                <a:spcPct val="105000"/>
              </a:lnSpc>
              <a:buNone/>
            </a:pPr>
            <a:r>
              <a:rPr lang="en-US" sz="2000" dirty="0">
                <a:solidFill>
                  <a:srgbClr val="002554"/>
                </a:solidFill>
                <a:latin typeface="Maven Pro" pitchFamily="34" charset="0"/>
                <a:ea typeface="Maven Pro" pitchFamily="34" charset="-122"/>
                <a:cs typeface="Maven Pro" pitchFamily="34" charset="-120"/>
              </a:rPr>
              <a:t>Less time arranging. More time caring.</a:t>
            </a:r>
            <a:endParaRPr lang="en-US" sz="2000" dirty="0"/>
          </a:p>
        </p:txBody>
      </p:sp>
      <p:sp>
        <p:nvSpPr>
          <p:cNvPr id="17" name="Shape 15"/>
          <p:cNvSpPr/>
          <p:nvPr/>
        </p:nvSpPr>
        <p:spPr>
          <a:xfrm>
            <a:off x="8293100" y="3746500"/>
            <a:ext cx="2774950" cy="0"/>
          </a:xfrm>
          <a:prstGeom prst="line">
            <a:avLst/>
          </a:prstGeom>
          <a:noFill/>
          <a:ln w="9525">
            <a:solidFill>
              <a:srgbClr val="E3DED3"/>
            </a:solidFill>
            <a:prstDash val="solid"/>
          </a:ln>
        </p:spPr>
      </p:sp>
      <p:sp>
        <p:nvSpPr>
          <p:cNvPr id="18" name="Text 16"/>
          <p:cNvSpPr txBox="1"/>
          <p:nvPr/>
        </p:nvSpPr>
        <p:spPr>
          <a:xfrm>
            <a:off x="8293100" y="3898900"/>
            <a:ext cx="2774950" cy="152400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Fewer daily calls to confirm and schedule</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Schedules that respect flexibility</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The reasoning behind every request</a:t>
            </a:r>
            <a:endParaRPr lang="en-US" sz="13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CE8E00"/>
                </a:solidFill>
                <a:latin typeface="Arial" pitchFamily="34" charset="0"/>
                <a:ea typeface="Arial" pitchFamily="34" charset="-122"/>
                <a:cs typeface="Arial" pitchFamily="34" charset="-120"/>
              </a:rPr>
              <a:t>OUR PRINCIPLES</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F8F6F1"/>
                </a:solidFill>
                <a:latin typeface="Maven Pro" pitchFamily="34" charset="0"/>
                <a:ea typeface="Maven Pro" pitchFamily="34" charset="-122"/>
                <a:cs typeface="Maven Pro" pitchFamily="34" charset="-120"/>
              </a:rPr>
              <a:t>What guides every decision</a:t>
            </a:r>
            <a:endParaRPr lang="en-US" sz="4000" dirty="0"/>
          </a:p>
        </p:txBody>
      </p:sp>
      <p:sp>
        <p:nvSpPr>
          <p:cNvPr id="4" name="Shape 2"/>
          <p:cNvSpPr/>
          <p:nvPr/>
        </p:nvSpPr>
        <p:spPr>
          <a:xfrm>
            <a:off x="812800" y="2159000"/>
            <a:ext cx="5080000" cy="0"/>
          </a:xfrm>
          <a:prstGeom prst="line">
            <a:avLst/>
          </a:prstGeom>
          <a:noFill/>
          <a:ln w="19050">
            <a:solidFill>
              <a:srgbClr val="CE8E00"/>
            </a:solidFill>
            <a:prstDash val="solid"/>
          </a:ln>
        </p:spPr>
      </p:sp>
      <p:sp>
        <p:nvSpPr>
          <p:cNvPr id="5" name="Text 3"/>
          <p:cNvSpPr txBox="1"/>
          <p:nvPr/>
        </p:nvSpPr>
        <p:spPr>
          <a:xfrm>
            <a:off x="812800" y="2362200"/>
            <a:ext cx="5080000" cy="381000"/>
          </a:xfrm>
          <a:prstGeom prst="rect">
            <a:avLst/>
          </a:prstGeom>
          <a:noFill/>
          <a:ln/>
        </p:spPr>
        <p:txBody>
          <a:bodyPr wrap="square" lIns="0" tIns="0" rIns="0" bIns="0" rtlCol="0" anchor="t"/>
          <a:lstStyle/>
          <a:p>
            <a:pPr algn="l" indent="0" marL="0">
              <a:lnSpc>
                <a:spcPct val="110000"/>
              </a:lnSpc>
              <a:buNone/>
            </a:pPr>
            <a:r>
              <a:rPr lang="en-US" sz="2200" dirty="0">
                <a:solidFill>
                  <a:srgbClr val="F8F6F1"/>
                </a:solidFill>
                <a:latin typeface="Maven Pro" pitchFamily="34" charset="0"/>
                <a:ea typeface="Maven Pro" pitchFamily="34" charset="-122"/>
                <a:cs typeface="Maven Pro" pitchFamily="34" charset="-120"/>
              </a:rPr>
              <a:t>People decide. Tools assist.</a:t>
            </a:r>
            <a:endParaRPr lang="en-US" sz="2200" dirty="0"/>
          </a:p>
        </p:txBody>
      </p:sp>
      <p:sp>
        <p:nvSpPr>
          <p:cNvPr id="6" name="Text 4"/>
          <p:cNvSpPr txBox="1"/>
          <p:nvPr/>
        </p:nvSpPr>
        <p:spPr>
          <a:xfrm>
            <a:off x="812800" y="2819400"/>
            <a:ext cx="5080000" cy="635000"/>
          </a:xfrm>
          <a:prstGeom prst="rect">
            <a:avLst/>
          </a:prstGeom>
          <a:noFill/>
          <a:ln/>
        </p:spPr>
        <p:txBody>
          <a:bodyPr wrap="square" lIns="0" tIns="0" rIns="0" bIns="0" rtlCol="0" anchor="t"/>
          <a:lstStyle/>
          <a:p>
            <a:pPr algn="l" indent="0" marL="0">
              <a:lnSpc>
                <a:spcPct val="120000"/>
              </a:lnSpc>
              <a:buNone/>
            </a:pPr>
            <a:r>
              <a:rPr lang="en-US" sz="1400" dirty="0">
                <a:solidFill>
                  <a:srgbClr val="C9D3E0"/>
                </a:solidFill>
                <a:latin typeface="Arial" pitchFamily="34" charset="0"/>
                <a:ea typeface="Arial" pitchFamily="34" charset="-122"/>
                <a:cs typeface="Arial" pitchFamily="34" charset="-120"/>
              </a:rPr>
              <a:t>Recommendations inform the branch's judgment. They never replace it.</a:t>
            </a:r>
            <a:endParaRPr lang="en-US" sz="1400" dirty="0"/>
          </a:p>
        </p:txBody>
      </p:sp>
      <p:sp>
        <p:nvSpPr>
          <p:cNvPr id="7" name="Shape 5"/>
          <p:cNvSpPr/>
          <p:nvPr/>
        </p:nvSpPr>
        <p:spPr>
          <a:xfrm>
            <a:off x="6299200" y="2159000"/>
            <a:ext cx="5080000" cy="0"/>
          </a:xfrm>
          <a:prstGeom prst="line">
            <a:avLst/>
          </a:prstGeom>
          <a:noFill/>
          <a:ln w="19050">
            <a:solidFill>
              <a:srgbClr val="CE8E00"/>
            </a:solidFill>
            <a:prstDash val="solid"/>
          </a:ln>
        </p:spPr>
      </p:sp>
      <p:sp>
        <p:nvSpPr>
          <p:cNvPr id="8" name="Text 6"/>
          <p:cNvSpPr txBox="1"/>
          <p:nvPr/>
        </p:nvSpPr>
        <p:spPr>
          <a:xfrm>
            <a:off x="6299200" y="2362200"/>
            <a:ext cx="5080000" cy="381000"/>
          </a:xfrm>
          <a:prstGeom prst="rect">
            <a:avLst/>
          </a:prstGeom>
          <a:noFill/>
          <a:ln/>
        </p:spPr>
        <p:txBody>
          <a:bodyPr wrap="square" lIns="0" tIns="0" rIns="0" bIns="0" rtlCol="0" anchor="t"/>
          <a:lstStyle/>
          <a:p>
            <a:pPr algn="l" indent="0" marL="0">
              <a:lnSpc>
                <a:spcPct val="110000"/>
              </a:lnSpc>
              <a:buNone/>
            </a:pPr>
            <a:r>
              <a:rPr lang="en-US" sz="2200" dirty="0">
                <a:solidFill>
                  <a:srgbClr val="F8F6F1"/>
                </a:solidFill>
                <a:latin typeface="Maven Pro" pitchFamily="34" charset="0"/>
                <a:ea typeface="Maven Pro" pitchFamily="34" charset="-122"/>
                <a:cs typeface="Maven Pro" pitchFamily="34" charset="-120"/>
              </a:rPr>
              <a:t>Always show the why.</a:t>
            </a:r>
            <a:endParaRPr lang="en-US" sz="2200" dirty="0"/>
          </a:p>
        </p:txBody>
      </p:sp>
      <p:sp>
        <p:nvSpPr>
          <p:cNvPr id="9" name="Text 7"/>
          <p:cNvSpPr txBox="1"/>
          <p:nvPr/>
        </p:nvSpPr>
        <p:spPr>
          <a:xfrm>
            <a:off x="6299200" y="2819400"/>
            <a:ext cx="5080000" cy="635000"/>
          </a:xfrm>
          <a:prstGeom prst="rect">
            <a:avLst/>
          </a:prstGeom>
          <a:noFill/>
          <a:ln/>
        </p:spPr>
        <p:txBody>
          <a:bodyPr wrap="square" lIns="0" tIns="0" rIns="0" bIns="0" rtlCol="0" anchor="t"/>
          <a:lstStyle/>
          <a:p>
            <a:pPr algn="l" indent="0" marL="0">
              <a:lnSpc>
                <a:spcPct val="120000"/>
              </a:lnSpc>
              <a:buNone/>
            </a:pPr>
            <a:r>
              <a:rPr lang="en-US" sz="1400" dirty="0">
                <a:solidFill>
                  <a:srgbClr val="C9D3E0"/>
                </a:solidFill>
                <a:latin typeface="Arial" pitchFamily="34" charset="0"/>
                <a:ea typeface="Arial" pitchFamily="34" charset="-122"/>
                <a:cs typeface="Arial" pitchFamily="34" charset="-120"/>
              </a:rPr>
              <a:t>Every recommendation explains its reasoning, so it can be trusted or challenged.</a:t>
            </a:r>
            <a:endParaRPr lang="en-US" sz="1400" dirty="0"/>
          </a:p>
        </p:txBody>
      </p:sp>
      <p:sp>
        <p:nvSpPr>
          <p:cNvPr id="10" name="Shape 8"/>
          <p:cNvSpPr/>
          <p:nvPr/>
        </p:nvSpPr>
        <p:spPr>
          <a:xfrm>
            <a:off x="812800" y="3873500"/>
            <a:ext cx="5080000" cy="0"/>
          </a:xfrm>
          <a:prstGeom prst="line">
            <a:avLst/>
          </a:prstGeom>
          <a:noFill/>
          <a:ln w="19050">
            <a:solidFill>
              <a:srgbClr val="CE8E00"/>
            </a:solidFill>
            <a:prstDash val="solid"/>
          </a:ln>
        </p:spPr>
      </p:sp>
      <p:sp>
        <p:nvSpPr>
          <p:cNvPr id="11" name="Text 9"/>
          <p:cNvSpPr txBox="1"/>
          <p:nvPr/>
        </p:nvSpPr>
        <p:spPr>
          <a:xfrm>
            <a:off x="812800" y="4076700"/>
            <a:ext cx="5080000" cy="381000"/>
          </a:xfrm>
          <a:prstGeom prst="rect">
            <a:avLst/>
          </a:prstGeom>
          <a:noFill/>
          <a:ln/>
        </p:spPr>
        <p:txBody>
          <a:bodyPr wrap="square" lIns="0" tIns="0" rIns="0" bIns="0" rtlCol="0" anchor="t"/>
          <a:lstStyle/>
          <a:p>
            <a:pPr algn="l" indent="0" marL="0">
              <a:lnSpc>
                <a:spcPct val="110000"/>
              </a:lnSpc>
              <a:buNone/>
            </a:pPr>
            <a:r>
              <a:rPr lang="en-US" sz="2200" dirty="0">
                <a:solidFill>
                  <a:srgbClr val="F8F6F1"/>
                </a:solidFill>
                <a:latin typeface="Maven Pro" pitchFamily="34" charset="0"/>
                <a:ea typeface="Maven Pro" pitchFamily="34" charset="-122"/>
                <a:cs typeface="Maven Pro" pitchFamily="34" charset="-120"/>
              </a:rPr>
              <a:t>Protect flexibility.</a:t>
            </a:r>
            <a:endParaRPr lang="en-US" sz="2200" dirty="0"/>
          </a:p>
        </p:txBody>
      </p:sp>
      <p:sp>
        <p:nvSpPr>
          <p:cNvPr id="12" name="Text 10"/>
          <p:cNvSpPr txBox="1"/>
          <p:nvPr/>
        </p:nvSpPr>
        <p:spPr>
          <a:xfrm>
            <a:off x="812800" y="4533900"/>
            <a:ext cx="5080000" cy="635000"/>
          </a:xfrm>
          <a:prstGeom prst="rect">
            <a:avLst/>
          </a:prstGeom>
          <a:noFill/>
          <a:ln/>
        </p:spPr>
        <p:txBody>
          <a:bodyPr wrap="square" lIns="0" tIns="0" rIns="0" bIns="0" rtlCol="0" anchor="t"/>
          <a:lstStyle/>
          <a:p>
            <a:pPr algn="l" indent="0" marL="0">
              <a:lnSpc>
                <a:spcPct val="120000"/>
              </a:lnSpc>
              <a:buNone/>
            </a:pPr>
            <a:r>
              <a:rPr lang="en-US" sz="1400" dirty="0">
                <a:solidFill>
                  <a:srgbClr val="C9D3E0"/>
                </a:solidFill>
                <a:latin typeface="Arial" pitchFamily="34" charset="0"/>
                <a:ea typeface="Arial" pitchFamily="34" charset="-122"/>
                <a:cs typeface="Arial" pitchFamily="34" charset="-120"/>
              </a:rPr>
              <a:t>Autonomy is why clinicians choose home health. We design around it.</a:t>
            </a:r>
            <a:endParaRPr lang="en-US" sz="1400" dirty="0"/>
          </a:p>
        </p:txBody>
      </p:sp>
      <p:sp>
        <p:nvSpPr>
          <p:cNvPr id="13" name="Shape 11"/>
          <p:cNvSpPr/>
          <p:nvPr/>
        </p:nvSpPr>
        <p:spPr>
          <a:xfrm>
            <a:off x="6299200" y="3873500"/>
            <a:ext cx="5080000" cy="0"/>
          </a:xfrm>
          <a:prstGeom prst="line">
            <a:avLst/>
          </a:prstGeom>
          <a:noFill/>
          <a:ln w="19050">
            <a:solidFill>
              <a:srgbClr val="CE8E00"/>
            </a:solidFill>
            <a:prstDash val="solid"/>
          </a:ln>
        </p:spPr>
      </p:sp>
      <p:sp>
        <p:nvSpPr>
          <p:cNvPr id="14" name="Text 12"/>
          <p:cNvSpPr txBox="1"/>
          <p:nvPr/>
        </p:nvSpPr>
        <p:spPr>
          <a:xfrm>
            <a:off x="6299200" y="4076700"/>
            <a:ext cx="5080000" cy="381000"/>
          </a:xfrm>
          <a:prstGeom prst="rect">
            <a:avLst/>
          </a:prstGeom>
          <a:noFill/>
          <a:ln/>
        </p:spPr>
        <p:txBody>
          <a:bodyPr wrap="square" lIns="0" tIns="0" rIns="0" bIns="0" rtlCol="0" anchor="t"/>
          <a:lstStyle/>
          <a:p>
            <a:pPr algn="l" indent="0" marL="0">
              <a:lnSpc>
                <a:spcPct val="110000"/>
              </a:lnSpc>
              <a:buNone/>
            </a:pPr>
            <a:r>
              <a:rPr lang="en-US" sz="2200" dirty="0">
                <a:solidFill>
                  <a:srgbClr val="F8F6F1"/>
                </a:solidFill>
                <a:latin typeface="Maven Pro" pitchFamily="34" charset="0"/>
                <a:ea typeface="Maven Pro" pitchFamily="34" charset="-122"/>
                <a:cs typeface="Maven Pro" pitchFamily="34" charset="-120"/>
              </a:rPr>
              <a:t>Capacity before scheduling.</a:t>
            </a:r>
            <a:endParaRPr lang="en-US" sz="2200" dirty="0"/>
          </a:p>
        </p:txBody>
      </p:sp>
      <p:sp>
        <p:nvSpPr>
          <p:cNvPr id="15" name="Text 13"/>
          <p:cNvSpPr txBox="1"/>
          <p:nvPr/>
        </p:nvSpPr>
        <p:spPr>
          <a:xfrm>
            <a:off x="6299200" y="4533900"/>
            <a:ext cx="5080000" cy="635000"/>
          </a:xfrm>
          <a:prstGeom prst="rect">
            <a:avLst/>
          </a:prstGeom>
          <a:noFill/>
          <a:ln/>
        </p:spPr>
        <p:txBody>
          <a:bodyPr wrap="square" lIns="0" tIns="0" rIns="0" bIns="0" rtlCol="0" anchor="t"/>
          <a:lstStyle/>
          <a:p>
            <a:pPr algn="l" indent="0" marL="0">
              <a:lnSpc>
                <a:spcPct val="120000"/>
              </a:lnSpc>
              <a:buNone/>
            </a:pPr>
            <a:r>
              <a:rPr lang="en-US" sz="1400" dirty="0">
                <a:solidFill>
                  <a:srgbClr val="C9D3E0"/>
                </a:solidFill>
                <a:latin typeface="Arial" pitchFamily="34" charset="0"/>
                <a:ea typeface="Arial" pitchFamily="34" charset="-122"/>
                <a:cs typeface="Arial" pitchFamily="34" charset="-120"/>
              </a:rPr>
              <a:t>Get the picture right first, then automate on a foundation people trust.</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9AAAC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DUE DILIGENCE</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Learning from what came before</a:t>
            </a:r>
            <a:endParaRPr lang="en-US" sz="4000" dirty="0"/>
          </a:p>
        </p:txBody>
      </p:sp>
      <p:sp>
        <p:nvSpPr>
          <p:cNvPr id="4" name="Text 2"/>
          <p:cNvSpPr txBox="1"/>
          <p:nvPr/>
        </p:nvSpPr>
        <p:spPr>
          <a:xfrm>
            <a:off x="812800" y="2095500"/>
            <a:ext cx="3302000" cy="2032000"/>
          </a:xfrm>
          <a:prstGeom prst="rect">
            <a:avLst/>
          </a:prstGeom>
          <a:noFill/>
          <a:ln/>
        </p:spPr>
        <p:txBody>
          <a:bodyPr wrap="square" lIns="0" tIns="0" rIns="0" bIns="0" rtlCol="0" anchor="t"/>
          <a:lstStyle/>
          <a:p>
            <a:pPr algn="l" indent="0" marL="0">
              <a:lnSpc>
                <a:spcPct val="110000"/>
              </a:lnSpc>
              <a:buNone/>
            </a:pPr>
            <a:r>
              <a:rPr lang="en-US" sz="2200" dirty="0">
                <a:solidFill>
                  <a:srgbClr val="002554"/>
                </a:solidFill>
                <a:latin typeface="Maven Pro" pitchFamily="34" charset="0"/>
                <a:ea typeface="Maven Pro" pitchFamily="34" charset="-122"/>
                <a:cs typeface="Maven Pro" pitchFamily="34" charset="-120"/>
              </a:rPr>
              <a:t>Earlier efforts showed us the technology is rarely the hard part. Fit, trust and adoption are.</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22800" y="2044700"/>
          <a:ext cx="6756400" cy="914400"/>
        </p:xfrm>
        <a:graphic>
          <a:graphicData uri="http://schemas.openxmlformats.org/drawingml/2006/table">
            <a:tbl>
              <a:tblPr/>
              <a:tblGrid>
                <a:gridCol w="3378200"/>
                <a:gridCol w="3378200"/>
              </a:tblGrid>
              <a:tr h="609600">
                <a:tc>
                  <a:txBody>
                    <a:bodyPr/>
                    <a:lstStyle/>
                    <a:p>
                      <a:pPr indent="0" marL="0">
                        <a:buNone/>
                      </a:pPr>
                      <a:r>
                        <a:rPr lang="en-US" sz="1300" b="1" dirty="0">
                          <a:solidFill>
                            <a:srgbClr val="8A5F00"/>
                          </a:solidFill>
                          <a:latin typeface="Arial" pitchFamily="34" charset="0"/>
                          <a:ea typeface="Arial" pitchFamily="34" charset="-122"/>
                          <a:cs typeface="Arial" pitchFamily="34" charset="-120"/>
                        </a:rPr>
                        <a:t>What we learned</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b="1" dirty="0">
                          <a:solidFill>
                            <a:srgbClr val="8A5F00"/>
                          </a:solidFill>
                          <a:latin typeface="Arial" pitchFamily="34" charset="0"/>
                          <a:ea typeface="Arial" pitchFamily="34" charset="-122"/>
                          <a:cs typeface="Arial" pitchFamily="34" charset="-120"/>
                        </a:rPr>
                        <a:t>What we are doing differently</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609600">
                <a:tc>
                  <a:txBody>
                    <a:bodyPr/>
                    <a:lstStyle/>
                    <a:p>
                      <a:pPr indent="0" marL="0">
                        <a:buNone/>
                      </a:pPr>
                      <a:r>
                        <a:rPr lang="en-US" sz="1300" dirty="0">
                          <a:solidFill>
                            <a:srgbClr val="002554"/>
                          </a:solidFill>
                          <a:latin typeface="Arial" pitchFamily="34" charset="0"/>
                          <a:ea typeface="Arial" pitchFamily="34" charset="-122"/>
                          <a:cs typeface="Arial" pitchFamily="34" charset="-120"/>
                        </a:rPr>
                        <a:t>Tools were set up to mirror old manual habits</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Mapping how our best branches actually work, first</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609600">
                <a:tc>
                  <a:txBody>
                    <a:bodyPr/>
                    <a:lstStyle/>
                    <a:p>
                      <a:pPr indent="0" marL="0">
                        <a:buNone/>
                      </a:pPr>
                      <a:r>
                        <a:rPr lang="en-US" sz="1300" dirty="0">
                          <a:solidFill>
                            <a:srgbClr val="002554"/>
                          </a:solidFill>
                          <a:latin typeface="Arial" pitchFamily="34" charset="0"/>
                          <a:ea typeface="Arial" pitchFamily="34" charset="-122"/>
                          <a:cs typeface="Arial" pitchFamily="34" charset="-120"/>
                        </a:rPr>
                        <a:t>Scheduling was automated before capacity was clear</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Capacity visibility comes before automation</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609600">
                <a:tc>
                  <a:txBody>
                    <a:bodyPr/>
                    <a:lstStyle/>
                    <a:p>
                      <a:pPr indent="0" marL="0">
                        <a:buNone/>
                      </a:pPr>
                      <a:r>
                        <a:rPr lang="en-US" sz="1300" dirty="0">
                          <a:solidFill>
                            <a:srgbClr val="002554"/>
                          </a:solidFill>
                          <a:latin typeface="Arial" pitchFamily="34" charset="0"/>
                          <a:ea typeface="Arial" pitchFamily="34" charset="-122"/>
                          <a:cs typeface="Arial" pitchFamily="34" charset="-120"/>
                        </a:rPr>
                        <a:t>Adoption was treated as a rollout step</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Adoption is designed in from day one, with the field</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609600">
                <a:tc>
                  <a:txBody>
                    <a:bodyPr/>
                    <a:lstStyle/>
                    <a:p>
                      <a:pPr indent="0" marL="0">
                        <a:buNone/>
                      </a:pPr>
                      <a:r>
                        <a:rPr lang="en-US" sz="1300" dirty="0">
                          <a:solidFill>
                            <a:srgbClr val="002554"/>
                          </a:solidFill>
                          <a:latin typeface="Arial" pitchFamily="34" charset="0"/>
                          <a:ea typeface="Arial" pitchFamily="34" charset="-122"/>
                          <a:cs typeface="Arial" pitchFamily="34" charset="-120"/>
                        </a:rPr>
                        <a:t>Pilots lacked the room and measures to prove out</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A defined pilot, clear measures and honest readouts</a:t>
                      </a:r>
                      <a:endParaRPr lang="en-US" sz="1300" dirty="0">
                        <a:latin typeface="Arial" charset="0"/>
                        <a:ea typeface="Arial" charset="0"/>
                        <a:cs typeface="Arial" charset="0"/>
                      </a:endParaRPr>
                    </a:p>
                  </a:txBody>
                  <a:tcPr marL="109728" marR="109728" marT="109728" marB="109728"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DUE DILIGENCE</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Our path to a decision</a:t>
            </a:r>
            <a:endParaRPr lang="en-US" sz="4000" dirty="0"/>
          </a:p>
        </p:txBody>
      </p:sp>
      <p:sp>
        <p:nvSpPr>
          <p:cNvPr id="4" name="Shape 2"/>
          <p:cNvSpPr/>
          <p:nvPr/>
        </p:nvSpPr>
        <p:spPr>
          <a:xfrm>
            <a:off x="812800" y="2044700"/>
            <a:ext cx="1987550" cy="2794000"/>
          </a:xfrm>
          <a:prstGeom prst="rect">
            <a:avLst/>
          </a:prstGeom>
          <a:solidFill>
            <a:srgbClr val="FDFCFA"/>
          </a:solidFill>
          <a:ln w="9525">
            <a:solidFill>
              <a:srgbClr val="E3DED3"/>
            </a:solidFill>
            <a:prstDash val="solid"/>
          </a:ln>
        </p:spPr>
      </p:sp>
      <p:sp>
        <p:nvSpPr>
          <p:cNvPr id="5" name="Text 3"/>
          <p:cNvSpPr txBox="1"/>
          <p:nvPr/>
        </p:nvSpPr>
        <p:spPr>
          <a:xfrm>
            <a:off x="1016000" y="2247900"/>
            <a:ext cx="1587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Complete</a:t>
            </a:r>
            <a:endParaRPr lang="en-US" sz="1200" dirty="0"/>
          </a:p>
        </p:txBody>
      </p:sp>
      <p:sp>
        <p:nvSpPr>
          <p:cNvPr id="6" name="Text 4"/>
          <p:cNvSpPr txBox="1"/>
          <p:nvPr/>
        </p:nvSpPr>
        <p:spPr>
          <a:xfrm>
            <a:off x="1016000" y="2540000"/>
            <a:ext cx="1587500" cy="444500"/>
          </a:xfrm>
          <a:prstGeom prst="rect">
            <a:avLst/>
          </a:prstGeom>
          <a:noFill/>
          <a:ln/>
        </p:spPr>
        <p:txBody>
          <a:bodyPr wrap="square" lIns="0" tIns="0" rIns="0" bIns="0" rtlCol="0" anchor="t"/>
          <a:lstStyle/>
          <a:p>
            <a:pPr algn="l" indent="0" marL="0">
              <a:lnSpc>
                <a:spcPct val="110000"/>
              </a:lnSpc>
              <a:buNone/>
            </a:pPr>
            <a:r>
              <a:rPr lang="en-US" sz="3200" dirty="0">
                <a:solidFill>
                  <a:srgbClr val="8A5F00"/>
                </a:solidFill>
                <a:latin typeface="Maven Pro" pitchFamily="34" charset="0"/>
                <a:ea typeface="Maven Pro" pitchFamily="34" charset="-122"/>
                <a:cs typeface="Maven Pro" pitchFamily="34" charset="-120"/>
              </a:rPr>
              <a:t>01</a:t>
            </a:r>
            <a:endParaRPr lang="en-US" sz="3200" dirty="0"/>
          </a:p>
        </p:txBody>
      </p:sp>
      <p:sp>
        <p:nvSpPr>
          <p:cNvPr id="7" name="Text 5"/>
          <p:cNvSpPr txBox="1"/>
          <p:nvPr/>
        </p:nvSpPr>
        <p:spPr>
          <a:xfrm>
            <a:off x="1016000" y="3073400"/>
            <a:ext cx="1587500" cy="508000"/>
          </a:xfrm>
          <a:prstGeom prst="rect">
            <a:avLst/>
          </a:prstGeom>
          <a:noFill/>
          <a:ln/>
        </p:spPr>
        <p:txBody>
          <a:bodyPr wrap="square" lIns="0" tIns="0" rIns="0" bIns="0" rtlCol="0" anchor="t"/>
          <a:lstStyle/>
          <a:p>
            <a:pPr algn="l" indent="0" marL="0">
              <a:lnSpc>
                <a:spcPct val="110000"/>
              </a:lnSpc>
              <a:buNone/>
            </a:pPr>
            <a:r>
              <a:rPr lang="en-US" sz="1600" b="1" dirty="0">
                <a:solidFill>
                  <a:srgbClr val="002554"/>
                </a:solidFill>
                <a:latin typeface="Arial" pitchFamily="34" charset="0"/>
                <a:ea typeface="Arial" pitchFamily="34" charset="-122"/>
                <a:cs typeface="Arial" pitchFamily="34" charset="-120"/>
              </a:rPr>
              <a:t>Listen</a:t>
            </a:r>
            <a:endParaRPr lang="en-US" sz="1600" dirty="0"/>
          </a:p>
        </p:txBody>
      </p:sp>
      <p:sp>
        <p:nvSpPr>
          <p:cNvPr id="8" name="Text 6"/>
          <p:cNvSpPr txBox="1"/>
          <p:nvPr/>
        </p:nvSpPr>
        <p:spPr>
          <a:xfrm>
            <a:off x="1016000" y="3632200"/>
            <a:ext cx="1587500" cy="1079500"/>
          </a:xfrm>
          <a:prstGeom prst="rect">
            <a:avLst/>
          </a:prstGeom>
          <a:noFill/>
          <a:ln/>
        </p:spPr>
        <p:txBody>
          <a:bodyPr wrap="square" lIns="0" tIns="0" rIns="0" bIns="0" rtlCol="0" anchor="t"/>
          <a:lstStyle/>
          <a:p>
            <a:pPr algn="l" indent="0" marL="0">
              <a:lnSpc>
                <a:spcPct val="120000"/>
              </a:lnSpc>
              <a:buNone/>
            </a:pPr>
            <a:r>
              <a:rPr lang="en-US" sz="1200" dirty="0">
                <a:solidFill>
                  <a:srgbClr val="3D4A5C"/>
                </a:solidFill>
                <a:latin typeface="Arial" pitchFamily="34" charset="0"/>
                <a:ea typeface="Arial" pitchFamily="34" charset="-122"/>
                <a:cs typeface="Arial" pitchFamily="34" charset="-120"/>
              </a:rPr>
              <a:t>Discovery sessions with branch leaders, PCCs and clinicians</a:t>
            </a:r>
            <a:endParaRPr lang="en-US" sz="1200" dirty="0"/>
          </a:p>
        </p:txBody>
      </p:sp>
      <p:sp>
        <p:nvSpPr>
          <p:cNvPr id="9" name="Shape 7"/>
          <p:cNvSpPr/>
          <p:nvPr/>
        </p:nvSpPr>
        <p:spPr>
          <a:xfrm>
            <a:off x="2956560" y="2044700"/>
            <a:ext cx="1987550" cy="2794000"/>
          </a:xfrm>
          <a:prstGeom prst="rect">
            <a:avLst/>
          </a:prstGeom>
          <a:solidFill>
            <a:srgbClr val="FDFCFA"/>
          </a:solidFill>
          <a:ln w="9525">
            <a:solidFill>
              <a:srgbClr val="E3DED3"/>
            </a:solidFill>
            <a:prstDash val="solid"/>
          </a:ln>
        </p:spPr>
      </p:sp>
      <p:sp>
        <p:nvSpPr>
          <p:cNvPr id="10" name="Text 8"/>
          <p:cNvSpPr txBox="1"/>
          <p:nvPr/>
        </p:nvSpPr>
        <p:spPr>
          <a:xfrm>
            <a:off x="3159760" y="2247900"/>
            <a:ext cx="1587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Complete</a:t>
            </a:r>
            <a:endParaRPr lang="en-US" sz="1200" dirty="0"/>
          </a:p>
        </p:txBody>
      </p:sp>
      <p:sp>
        <p:nvSpPr>
          <p:cNvPr id="11" name="Text 9"/>
          <p:cNvSpPr txBox="1"/>
          <p:nvPr/>
        </p:nvSpPr>
        <p:spPr>
          <a:xfrm>
            <a:off x="3159760" y="2540000"/>
            <a:ext cx="1587500" cy="444500"/>
          </a:xfrm>
          <a:prstGeom prst="rect">
            <a:avLst/>
          </a:prstGeom>
          <a:noFill/>
          <a:ln/>
        </p:spPr>
        <p:txBody>
          <a:bodyPr wrap="square" lIns="0" tIns="0" rIns="0" bIns="0" rtlCol="0" anchor="t"/>
          <a:lstStyle/>
          <a:p>
            <a:pPr algn="l" indent="0" marL="0">
              <a:lnSpc>
                <a:spcPct val="110000"/>
              </a:lnSpc>
              <a:buNone/>
            </a:pPr>
            <a:r>
              <a:rPr lang="en-US" sz="3200" dirty="0">
                <a:solidFill>
                  <a:srgbClr val="8A5F00"/>
                </a:solidFill>
                <a:latin typeface="Maven Pro" pitchFamily="34" charset="0"/>
                <a:ea typeface="Maven Pro" pitchFamily="34" charset="-122"/>
                <a:cs typeface="Maven Pro" pitchFamily="34" charset="-120"/>
              </a:rPr>
              <a:t>02</a:t>
            </a:r>
            <a:endParaRPr lang="en-US" sz="3200" dirty="0"/>
          </a:p>
        </p:txBody>
      </p:sp>
      <p:sp>
        <p:nvSpPr>
          <p:cNvPr id="12" name="Text 10"/>
          <p:cNvSpPr txBox="1"/>
          <p:nvPr/>
        </p:nvSpPr>
        <p:spPr>
          <a:xfrm>
            <a:off x="3159760" y="3073400"/>
            <a:ext cx="1587500" cy="508000"/>
          </a:xfrm>
          <a:prstGeom prst="rect">
            <a:avLst/>
          </a:prstGeom>
          <a:noFill/>
          <a:ln/>
        </p:spPr>
        <p:txBody>
          <a:bodyPr wrap="square" lIns="0" tIns="0" rIns="0" bIns="0" rtlCol="0" anchor="t"/>
          <a:lstStyle/>
          <a:p>
            <a:pPr algn="l" indent="0" marL="0">
              <a:lnSpc>
                <a:spcPct val="110000"/>
              </a:lnSpc>
              <a:buNone/>
            </a:pPr>
            <a:r>
              <a:rPr lang="en-US" sz="1600" b="1" dirty="0">
                <a:solidFill>
                  <a:srgbClr val="002554"/>
                </a:solidFill>
                <a:latin typeface="Arial" pitchFamily="34" charset="0"/>
                <a:ea typeface="Arial" pitchFamily="34" charset="-122"/>
                <a:cs typeface="Arial" pitchFamily="34" charset="-120"/>
              </a:rPr>
              <a:t>Map</a:t>
            </a:r>
            <a:endParaRPr lang="en-US" sz="1600" dirty="0"/>
          </a:p>
        </p:txBody>
      </p:sp>
      <p:sp>
        <p:nvSpPr>
          <p:cNvPr id="13" name="Text 11"/>
          <p:cNvSpPr txBox="1"/>
          <p:nvPr/>
        </p:nvSpPr>
        <p:spPr>
          <a:xfrm>
            <a:off x="3159760" y="3632200"/>
            <a:ext cx="1587500" cy="1079500"/>
          </a:xfrm>
          <a:prstGeom prst="rect">
            <a:avLst/>
          </a:prstGeom>
          <a:noFill/>
          <a:ln/>
        </p:spPr>
        <p:txBody>
          <a:bodyPr wrap="square" lIns="0" tIns="0" rIns="0" bIns="0" rtlCol="0" anchor="t"/>
          <a:lstStyle/>
          <a:p>
            <a:pPr algn="l" indent="0" marL="0">
              <a:lnSpc>
                <a:spcPct val="120000"/>
              </a:lnSpc>
              <a:buNone/>
            </a:pPr>
            <a:r>
              <a:rPr lang="en-US" sz="1200" dirty="0">
                <a:solidFill>
                  <a:srgbClr val="3D4A5C"/>
                </a:solidFill>
                <a:latin typeface="Arial" pitchFamily="34" charset="0"/>
                <a:ea typeface="Arial" pitchFamily="34" charset="-122"/>
                <a:cs typeface="Arial" pitchFamily="34" charset="-120"/>
              </a:rPr>
              <a:t>Current-state workflows, pain points and constraints</a:t>
            </a:r>
            <a:endParaRPr lang="en-US" sz="1200" dirty="0"/>
          </a:p>
        </p:txBody>
      </p:sp>
      <p:sp>
        <p:nvSpPr>
          <p:cNvPr id="14" name="Shape 12"/>
          <p:cNvSpPr/>
          <p:nvPr/>
        </p:nvSpPr>
        <p:spPr>
          <a:xfrm>
            <a:off x="5100320" y="2044700"/>
            <a:ext cx="1987550" cy="2794000"/>
          </a:xfrm>
          <a:prstGeom prst="rect">
            <a:avLst/>
          </a:prstGeom>
          <a:solidFill>
            <a:srgbClr val="FDFCFA"/>
          </a:solidFill>
          <a:ln w="9525">
            <a:solidFill>
              <a:srgbClr val="E3DED3"/>
            </a:solidFill>
            <a:prstDash val="solid"/>
          </a:ln>
        </p:spPr>
      </p:sp>
      <p:sp>
        <p:nvSpPr>
          <p:cNvPr id="15" name="Text 13"/>
          <p:cNvSpPr txBox="1"/>
          <p:nvPr/>
        </p:nvSpPr>
        <p:spPr>
          <a:xfrm>
            <a:off x="5303520" y="2247900"/>
            <a:ext cx="1587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Under way</a:t>
            </a:r>
            <a:endParaRPr lang="en-US" sz="1200" dirty="0"/>
          </a:p>
        </p:txBody>
      </p:sp>
      <p:sp>
        <p:nvSpPr>
          <p:cNvPr id="16" name="Text 14"/>
          <p:cNvSpPr txBox="1"/>
          <p:nvPr/>
        </p:nvSpPr>
        <p:spPr>
          <a:xfrm>
            <a:off x="5303520" y="2540000"/>
            <a:ext cx="1587500" cy="444500"/>
          </a:xfrm>
          <a:prstGeom prst="rect">
            <a:avLst/>
          </a:prstGeom>
          <a:noFill/>
          <a:ln/>
        </p:spPr>
        <p:txBody>
          <a:bodyPr wrap="square" lIns="0" tIns="0" rIns="0" bIns="0" rtlCol="0" anchor="t"/>
          <a:lstStyle/>
          <a:p>
            <a:pPr algn="l" indent="0" marL="0">
              <a:lnSpc>
                <a:spcPct val="110000"/>
              </a:lnSpc>
              <a:buNone/>
            </a:pPr>
            <a:r>
              <a:rPr lang="en-US" sz="3200" dirty="0">
                <a:solidFill>
                  <a:srgbClr val="8A5F00"/>
                </a:solidFill>
                <a:latin typeface="Maven Pro" pitchFamily="34" charset="0"/>
                <a:ea typeface="Maven Pro" pitchFamily="34" charset="-122"/>
                <a:cs typeface="Maven Pro" pitchFamily="34" charset="-120"/>
              </a:rPr>
              <a:t>03</a:t>
            </a:r>
            <a:endParaRPr lang="en-US" sz="3200" dirty="0"/>
          </a:p>
        </p:txBody>
      </p:sp>
      <p:sp>
        <p:nvSpPr>
          <p:cNvPr id="17" name="Text 15"/>
          <p:cNvSpPr txBox="1"/>
          <p:nvPr/>
        </p:nvSpPr>
        <p:spPr>
          <a:xfrm>
            <a:off x="5303520" y="3073400"/>
            <a:ext cx="1587500" cy="508000"/>
          </a:xfrm>
          <a:prstGeom prst="rect">
            <a:avLst/>
          </a:prstGeom>
          <a:noFill/>
          <a:ln/>
        </p:spPr>
        <p:txBody>
          <a:bodyPr wrap="square" lIns="0" tIns="0" rIns="0" bIns="0" rtlCol="0" anchor="t"/>
          <a:lstStyle/>
          <a:p>
            <a:pPr algn="l" indent="0" marL="0">
              <a:lnSpc>
                <a:spcPct val="110000"/>
              </a:lnSpc>
              <a:buNone/>
            </a:pPr>
            <a:r>
              <a:rPr lang="en-US" sz="1600" b="1" dirty="0">
                <a:solidFill>
                  <a:srgbClr val="002554"/>
                </a:solidFill>
                <a:latin typeface="Arial" pitchFamily="34" charset="0"/>
                <a:ea typeface="Arial" pitchFamily="34" charset="-122"/>
                <a:cs typeface="Arial" pitchFamily="34" charset="-120"/>
              </a:rPr>
              <a:t>Shortlist</a:t>
            </a:r>
            <a:endParaRPr lang="en-US" sz="1600" dirty="0"/>
          </a:p>
        </p:txBody>
      </p:sp>
      <p:sp>
        <p:nvSpPr>
          <p:cNvPr id="18" name="Text 16"/>
          <p:cNvSpPr txBox="1"/>
          <p:nvPr/>
        </p:nvSpPr>
        <p:spPr>
          <a:xfrm>
            <a:off x="5303520" y="3632200"/>
            <a:ext cx="1587500" cy="1079500"/>
          </a:xfrm>
          <a:prstGeom prst="rect">
            <a:avLst/>
          </a:prstGeom>
          <a:noFill/>
          <a:ln/>
        </p:spPr>
        <p:txBody>
          <a:bodyPr wrap="square" lIns="0" tIns="0" rIns="0" bIns="0" rtlCol="0" anchor="t"/>
          <a:lstStyle/>
          <a:p>
            <a:pPr algn="l" indent="0" marL="0">
              <a:lnSpc>
                <a:spcPct val="120000"/>
              </a:lnSpc>
              <a:buNone/>
            </a:pPr>
            <a:r>
              <a:rPr lang="en-US" sz="1200" dirty="0">
                <a:solidFill>
                  <a:srgbClr val="3D4A5C"/>
                </a:solidFill>
                <a:latin typeface="Arial" pitchFamily="34" charset="0"/>
                <a:ea typeface="Arial" pitchFamily="34" charset="-122"/>
                <a:cs typeface="Arial" pitchFamily="34" charset="-120"/>
              </a:rPr>
              <a:t>RFP narrowed the field to six; three advance on-site</a:t>
            </a:r>
            <a:endParaRPr lang="en-US" sz="1200" dirty="0"/>
          </a:p>
        </p:txBody>
      </p:sp>
      <p:sp>
        <p:nvSpPr>
          <p:cNvPr id="19" name="Shape 17"/>
          <p:cNvSpPr/>
          <p:nvPr/>
        </p:nvSpPr>
        <p:spPr>
          <a:xfrm>
            <a:off x="7244080" y="2044700"/>
            <a:ext cx="1987550" cy="2794000"/>
          </a:xfrm>
          <a:prstGeom prst="rect">
            <a:avLst/>
          </a:prstGeom>
          <a:solidFill>
            <a:srgbClr val="002554"/>
          </a:solidFill>
          <a:ln w="9525">
            <a:solidFill>
              <a:srgbClr val="002554"/>
            </a:solidFill>
            <a:prstDash val="solid"/>
          </a:ln>
        </p:spPr>
      </p:sp>
      <p:sp>
        <p:nvSpPr>
          <p:cNvPr id="20" name="Text 18"/>
          <p:cNvSpPr txBox="1"/>
          <p:nvPr/>
        </p:nvSpPr>
        <p:spPr>
          <a:xfrm>
            <a:off x="7447280" y="2247900"/>
            <a:ext cx="1587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Next · with you</a:t>
            </a:r>
            <a:endParaRPr lang="en-US" sz="1200" dirty="0"/>
          </a:p>
        </p:txBody>
      </p:sp>
      <p:sp>
        <p:nvSpPr>
          <p:cNvPr id="21" name="Text 19"/>
          <p:cNvSpPr txBox="1"/>
          <p:nvPr/>
        </p:nvSpPr>
        <p:spPr>
          <a:xfrm>
            <a:off x="7447280" y="2540000"/>
            <a:ext cx="1587500" cy="444500"/>
          </a:xfrm>
          <a:prstGeom prst="rect">
            <a:avLst/>
          </a:prstGeom>
          <a:noFill/>
          <a:ln/>
        </p:spPr>
        <p:txBody>
          <a:bodyPr wrap="square" lIns="0" tIns="0" rIns="0" bIns="0" rtlCol="0" anchor="t"/>
          <a:lstStyle/>
          <a:p>
            <a:pPr algn="l" indent="0" marL="0">
              <a:lnSpc>
                <a:spcPct val="110000"/>
              </a:lnSpc>
              <a:buNone/>
            </a:pPr>
            <a:r>
              <a:rPr lang="en-US" sz="3200" dirty="0">
                <a:solidFill>
                  <a:srgbClr val="CE8E00"/>
                </a:solidFill>
                <a:latin typeface="Maven Pro" pitchFamily="34" charset="0"/>
                <a:ea typeface="Maven Pro" pitchFamily="34" charset="-122"/>
                <a:cs typeface="Maven Pro" pitchFamily="34" charset="-120"/>
              </a:rPr>
              <a:t>04</a:t>
            </a:r>
            <a:endParaRPr lang="en-US" sz="3200" dirty="0"/>
          </a:p>
        </p:txBody>
      </p:sp>
      <p:sp>
        <p:nvSpPr>
          <p:cNvPr id="22" name="Text 20"/>
          <p:cNvSpPr txBox="1"/>
          <p:nvPr/>
        </p:nvSpPr>
        <p:spPr>
          <a:xfrm>
            <a:off x="7447280" y="3073400"/>
            <a:ext cx="1587500" cy="508000"/>
          </a:xfrm>
          <a:prstGeom prst="rect">
            <a:avLst/>
          </a:prstGeom>
          <a:noFill/>
          <a:ln/>
        </p:spPr>
        <p:txBody>
          <a:bodyPr wrap="square" lIns="0" tIns="0" rIns="0" bIns="0" rtlCol="0" anchor="t"/>
          <a:lstStyle/>
          <a:p>
            <a:pPr algn="l" indent="0" marL="0">
              <a:lnSpc>
                <a:spcPct val="110000"/>
              </a:lnSpc>
              <a:buNone/>
            </a:pPr>
            <a:r>
              <a:rPr lang="en-US" sz="1600" b="1" dirty="0">
                <a:solidFill>
                  <a:srgbClr val="F8F6F1"/>
                </a:solidFill>
                <a:latin typeface="Arial" pitchFamily="34" charset="0"/>
                <a:ea typeface="Arial" pitchFamily="34" charset="-122"/>
                <a:cs typeface="Arial" pitchFamily="34" charset="-120"/>
              </a:rPr>
              <a:t>Assess</a:t>
            </a:r>
            <a:endParaRPr lang="en-US" sz="1600" dirty="0"/>
          </a:p>
        </p:txBody>
      </p:sp>
      <p:sp>
        <p:nvSpPr>
          <p:cNvPr id="23" name="Text 21"/>
          <p:cNvSpPr txBox="1"/>
          <p:nvPr/>
        </p:nvSpPr>
        <p:spPr>
          <a:xfrm>
            <a:off x="7447280" y="3632200"/>
            <a:ext cx="1587500" cy="1079500"/>
          </a:xfrm>
          <a:prstGeom prst="rect">
            <a:avLst/>
          </a:prstGeom>
          <a:noFill/>
          <a:ln/>
        </p:spPr>
        <p:txBody>
          <a:bodyPr wrap="square" lIns="0" tIns="0" rIns="0" bIns="0" rtlCol="0" anchor="t"/>
          <a:lstStyle/>
          <a:p>
            <a:pPr algn="l" indent="0" marL="0">
              <a:lnSpc>
                <a:spcPct val="120000"/>
              </a:lnSpc>
              <a:buNone/>
            </a:pPr>
            <a:r>
              <a:rPr lang="en-US" sz="1200" dirty="0">
                <a:solidFill>
                  <a:srgbClr val="C9D3E0"/>
                </a:solidFill>
                <a:latin typeface="Arial" pitchFamily="34" charset="0"/>
                <a:ea typeface="Arial" pitchFamily="34" charset="-122"/>
                <a:cs typeface="Arial" pitchFamily="34" charset="-120"/>
              </a:rPr>
              <a:t>On-site in Nashville, Oct 21–23, with our SMEs</a:t>
            </a:r>
            <a:endParaRPr lang="en-US" sz="1200" dirty="0"/>
          </a:p>
        </p:txBody>
      </p:sp>
      <p:sp>
        <p:nvSpPr>
          <p:cNvPr id="24" name="Shape 22"/>
          <p:cNvSpPr/>
          <p:nvPr/>
        </p:nvSpPr>
        <p:spPr>
          <a:xfrm>
            <a:off x="9387840" y="2044700"/>
            <a:ext cx="1987550" cy="2794000"/>
          </a:xfrm>
          <a:prstGeom prst="rect">
            <a:avLst/>
          </a:prstGeom>
          <a:solidFill>
            <a:srgbClr val="FDFCFA"/>
          </a:solidFill>
          <a:ln w="9525">
            <a:solidFill>
              <a:srgbClr val="D6D0C2"/>
            </a:solidFill>
            <a:prstDash val="dash"/>
          </a:ln>
        </p:spPr>
      </p:sp>
      <p:sp>
        <p:nvSpPr>
          <p:cNvPr id="25" name="Text 23"/>
          <p:cNvSpPr txBox="1"/>
          <p:nvPr/>
        </p:nvSpPr>
        <p:spPr>
          <a:xfrm>
            <a:off x="9591040" y="2247900"/>
            <a:ext cx="1587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Ahead</a:t>
            </a:r>
            <a:endParaRPr lang="en-US" sz="1200" dirty="0"/>
          </a:p>
        </p:txBody>
      </p:sp>
      <p:sp>
        <p:nvSpPr>
          <p:cNvPr id="26" name="Text 24"/>
          <p:cNvSpPr txBox="1"/>
          <p:nvPr/>
        </p:nvSpPr>
        <p:spPr>
          <a:xfrm>
            <a:off x="9591040" y="2540000"/>
            <a:ext cx="1587500" cy="444500"/>
          </a:xfrm>
          <a:prstGeom prst="rect">
            <a:avLst/>
          </a:prstGeom>
          <a:noFill/>
          <a:ln/>
        </p:spPr>
        <p:txBody>
          <a:bodyPr wrap="square" lIns="0" tIns="0" rIns="0" bIns="0" rtlCol="0" anchor="t"/>
          <a:lstStyle/>
          <a:p>
            <a:pPr algn="l" indent="0" marL="0">
              <a:lnSpc>
                <a:spcPct val="110000"/>
              </a:lnSpc>
              <a:buNone/>
            </a:pPr>
            <a:r>
              <a:rPr lang="en-US" sz="3200" dirty="0">
                <a:solidFill>
                  <a:srgbClr val="8A5F00"/>
                </a:solidFill>
                <a:latin typeface="Maven Pro" pitchFamily="34" charset="0"/>
                <a:ea typeface="Maven Pro" pitchFamily="34" charset="-122"/>
                <a:cs typeface="Maven Pro" pitchFamily="34" charset="-120"/>
              </a:rPr>
              <a:t>05</a:t>
            </a:r>
            <a:endParaRPr lang="en-US" sz="3200" dirty="0"/>
          </a:p>
        </p:txBody>
      </p:sp>
      <p:sp>
        <p:nvSpPr>
          <p:cNvPr id="27" name="Text 25"/>
          <p:cNvSpPr txBox="1"/>
          <p:nvPr/>
        </p:nvSpPr>
        <p:spPr>
          <a:xfrm>
            <a:off x="9591040" y="3073400"/>
            <a:ext cx="1587500" cy="508000"/>
          </a:xfrm>
          <a:prstGeom prst="rect">
            <a:avLst/>
          </a:prstGeom>
          <a:noFill/>
          <a:ln/>
        </p:spPr>
        <p:txBody>
          <a:bodyPr wrap="square" lIns="0" tIns="0" rIns="0" bIns="0" rtlCol="0" anchor="t"/>
          <a:lstStyle/>
          <a:p>
            <a:pPr algn="l" indent="0" marL="0">
              <a:lnSpc>
                <a:spcPct val="110000"/>
              </a:lnSpc>
              <a:buNone/>
            </a:pPr>
            <a:r>
              <a:rPr lang="en-US" sz="1600" b="1" dirty="0">
                <a:solidFill>
                  <a:srgbClr val="002554"/>
                </a:solidFill>
                <a:latin typeface="Arial" pitchFamily="34" charset="0"/>
                <a:ea typeface="Arial" pitchFamily="34" charset="-122"/>
                <a:cs typeface="Arial" pitchFamily="34" charset="-120"/>
              </a:rPr>
              <a:t>Select, then pilot</a:t>
            </a:r>
            <a:endParaRPr lang="en-US" sz="1600" dirty="0"/>
          </a:p>
        </p:txBody>
      </p:sp>
      <p:sp>
        <p:nvSpPr>
          <p:cNvPr id="28" name="Text 26"/>
          <p:cNvSpPr txBox="1"/>
          <p:nvPr/>
        </p:nvSpPr>
        <p:spPr>
          <a:xfrm>
            <a:off x="9591040" y="3632200"/>
            <a:ext cx="1587500" cy="1079500"/>
          </a:xfrm>
          <a:prstGeom prst="rect">
            <a:avLst/>
          </a:prstGeom>
          <a:noFill/>
          <a:ln/>
        </p:spPr>
        <p:txBody>
          <a:bodyPr wrap="square" lIns="0" tIns="0" rIns="0" bIns="0" rtlCol="0" anchor="t"/>
          <a:lstStyle/>
          <a:p>
            <a:pPr algn="l" indent="0" marL="0">
              <a:lnSpc>
                <a:spcPct val="120000"/>
              </a:lnSpc>
              <a:buNone/>
            </a:pPr>
            <a:r>
              <a:rPr lang="en-US" sz="1200" dirty="0">
                <a:solidFill>
                  <a:srgbClr val="3D4A5C"/>
                </a:solidFill>
                <a:latin typeface="Arial" pitchFamily="34" charset="0"/>
                <a:ea typeface="Arial" pitchFamily="34" charset="-122"/>
                <a:cs typeface="Arial" pitchFamily="34" charset="-120"/>
              </a:rPr>
              <a:t>Two finalists, then a pilot led by pilot-branch SMEs</a:t>
            </a:r>
            <a:endParaRPr lang="en-US" sz="1200" dirty="0"/>
          </a:p>
        </p:txBody>
      </p:sp>
      <p:sp>
        <p:nvSpPr>
          <p:cNvPr id="29" name="Text 27"/>
          <p:cNvSpPr txBox="1"/>
          <p:nvPr/>
        </p:nvSpPr>
        <p:spPr>
          <a:xfrm>
            <a:off x="812800" y="5156200"/>
            <a:ext cx="10566400" cy="381000"/>
          </a:xfrm>
          <a:prstGeom prst="rect">
            <a:avLst/>
          </a:prstGeom>
          <a:noFill/>
          <a:ln/>
        </p:spPr>
        <p:txBody>
          <a:bodyPr wrap="square" lIns="0" tIns="0" rIns="0" bIns="0" rtlCol="0" anchor="t"/>
          <a:lstStyle/>
          <a:p>
            <a:pPr algn="l" indent="0" marL="0">
              <a:lnSpc>
                <a:spcPct val="110000"/>
              </a:lnSpc>
              <a:buNone/>
            </a:pPr>
            <a:r>
              <a:rPr lang="en-US" sz="2000" dirty="0">
                <a:solidFill>
                  <a:srgbClr val="002554"/>
                </a:solidFill>
                <a:latin typeface="Maven Pro" pitchFamily="34" charset="0"/>
                <a:ea typeface="Maven Pro" pitchFamily="34" charset="-122"/>
                <a:cs typeface="Maven Pro" pitchFamily="34" charset="-120"/>
              </a:rPr>
              <a:t>No decision is made on a demo alone.</a:t>
            </a:r>
            <a:endParaRPr lang="en-US" sz="20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THE TIMELINE · OPTION A</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From concept to pilot</a:t>
            </a:r>
            <a:endParaRPr lang="en-US" sz="4000" dirty="0"/>
          </a:p>
        </p:txBody>
      </p:sp>
      <p:sp>
        <p:nvSpPr>
          <p:cNvPr id="4" name="Shape 2"/>
          <p:cNvSpPr/>
          <p:nvPr/>
        </p:nvSpPr>
        <p:spPr>
          <a:xfrm>
            <a:off x="6781800" y="1905000"/>
            <a:ext cx="4597400" cy="3530600"/>
          </a:xfrm>
          <a:prstGeom prst="rect">
            <a:avLst/>
          </a:prstGeom>
          <a:solidFill>
            <a:srgbClr val="EFEBE2"/>
          </a:solidFill>
          <a:ln/>
        </p:spPr>
      </p:sp>
      <p:sp>
        <p:nvSpPr>
          <p:cNvPr id="5" name="Shape 3"/>
          <p:cNvSpPr/>
          <p:nvPr/>
        </p:nvSpPr>
        <p:spPr>
          <a:xfrm>
            <a:off x="9144000" y="1447800"/>
            <a:ext cx="203200" cy="88900"/>
          </a:xfrm>
          <a:prstGeom prst="roundRect">
            <a:avLst>
              <a:gd name="adj" fmla="val 51429"/>
            </a:avLst>
          </a:prstGeom>
          <a:solidFill>
            <a:srgbClr val="002554"/>
          </a:solidFill>
          <a:ln/>
        </p:spPr>
      </p:sp>
      <p:sp>
        <p:nvSpPr>
          <p:cNvPr id="6" name="Text 4"/>
          <p:cNvSpPr txBox="1"/>
          <p:nvPr/>
        </p:nvSpPr>
        <p:spPr>
          <a:xfrm>
            <a:off x="9423400" y="1384300"/>
            <a:ext cx="889000" cy="215900"/>
          </a:xfrm>
          <a:prstGeom prst="rect">
            <a:avLst/>
          </a:prstGeom>
          <a:noFill/>
          <a:ln/>
        </p:spPr>
        <p:txBody>
          <a:bodyPr wrap="square" lIns="0" tIns="0" rIns="0" bIns="0" rtlCol="0" anchor="t"/>
          <a:lstStyle/>
          <a:p>
            <a:pPr algn="l" indent="0" marL="0">
              <a:lnSpc>
                <a:spcPct val="110000"/>
              </a:lnSpc>
              <a:buNone/>
            </a:pPr>
            <a:r>
              <a:rPr lang="en-US" sz="1200" dirty="0">
                <a:solidFill>
                  <a:srgbClr val="3D4A5C"/>
                </a:solidFill>
                <a:latin typeface="Arial" pitchFamily="34" charset="0"/>
                <a:ea typeface="Arial" pitchFamily="34" charset="-122"/>
                <a:cs typeface="Arial" pitchFamily="34" charset="-120"/>
              </a:rPr>
              <a:t>Complete</a:t>
            </a:r>
            <a:endParaRPr lang="en-US" sz="1200" dirty="0"/>
          </a:p>
        </p:txBody>
      </p:sp>
      <p:sp>
        <p:nvSpPr>
          <p:cNvPr id="7" name="Shape 5"/>
          <p:cNvSpPr/>
          <p:nvPr/>
        </p:nvSpPr>
        <p:spPr>
          <a:xfrm>
            <a:off x="10414000" y="1447800"/>
            <a:ext cx="203200" cy="88900"/>
          </a:xfrm>
          <a:prstGeom prst="roundRect">
            <a:avLst>
              <a:gd name="adj" fmla="val 51429"/>
            </a:avLst>
          </a:prstGeom>
          <a:solidFill>
            <a:srgbClr val="CE8E00"/>
          </a:solidFill>
          <a:ln/>
        </p:spPr>
      </p:sp>
      <p:sp>
        <p:nvSpPr>
          <p:cNvPr id="8" name="Text 6"/>
          <p:cNvSpPr txBox="1"/>
          <p:nvPr/>
        </p:nvSpPr>
        <p:spPr>
          <a:xfrm>
            <a:off x="10693400" y="1384300"/>
            <a:ext cx="889000" cy="215900"/>
          </a:xfrm>
          <a:prstGeom prst="rect">
            <a:avLst/>
          </a:prstGeom>
          <a:noFill/>
          <a:ln/>
        </p:spPr>
        <p:txBody>
          <a:bodyPr wrap="square" lIns="0" tIns="0" rIns="0" bIns="0" rtlCol="0" anchor="t"/>
          <a:lstStyle/>
          <a:p>
            <a:pPr algn="l" indent="0" marL="0">
              <a:lnSpc>
                <a:spcPct val="110000"/>
              </a:lnSpc>
              <a:buNone/>
            </a:pPr>
            <a:r>
              <a:rPr lang="en-US" sz="1200" dirty="0">
                <a:solidFill>
                  <a:srgbClr val="3D4A5C"/>
                </a:solidFill>
                <a:latin typeface="Arial" pitchFamily="34" charset="0"/>
                <a:ea typeface="Arial" pitchFamily="34" charset="-122"/>
                <a:cs typeface="Arial" pitchFamily="34" charset="-120"/>
              </a:rPr>
              <a:t>Ahead</a:t>
            </a:r>
            <a:endParaRPr lang="en-US" sz="1200" dirty="0"/>
          </a:p>
        </p:txBody>
      </p:sp>
      <p:sp>
        <p:nvSpPr>
          <p:cNvPr id="9" name="Shape 7"/>
          <p:cNvSpPr/>
          <p:nvPr/>
        </p:nvSpPr>
        <p:spPr>
          <a:xfrm>
            <a:off x="2336800" y="1905000"/>
            <a:ext cx="0" cy="3530600"/>
          </a:xfrm>
          <a:prstGeom prst="line">
            <a:avLst/>
          </a:prstGeom>
          <a:noFill/>
          <a:ln w="9525">
            <a:solidFill>
              <a:srgbClr val="E3DED3"/>
            </a:solidFill>
            <a:prstDash val="solid"/>
          </a:ln>
        </p:spPr>
      </p:sp>
      <p:sp>
        <p:nvSpPr>
          <p:cNvPr id="10" name="Shape 8"/>
          <p:cNvSpPr/>
          <p:nvPr/>
        </p:nvSpPr>
        <p:spPr>
          <a:xfrm>
            <a:off x="4241800" y="1905000"/>
            <a:ext cx="0" cy="3530600"/>
          </a:xfrm>
          <a:prstGeom prst="line">
            <a:avLst/>
          </a:prstGeom>
          <a:noFill/>
          <a:ln w="9525">
            <a:solidFill>
              <a:srgbClr val="E3DED3"/>
            </a:solidFill>
            <a:prstDash val="solid"/>
          </a:ln>
        </p:spPr>
      </p:sp>
      <p:sp>
        <p:nvSpPr>
          <p:cNvPr id="11" name="Shape 9"/>
          <p:cNvSpPr/>
          <p:nvPr/>
        </p:nvSpPr>
        <p:spPr>
          <a:xfrm>
            <a:off x="5511800" y="1905000"/>
            <a:ext cx="0" cy="3530600"/>
          </a:xfrm>
          <a:prstGeom prst="line">
            <a:avLst/>
          </a:prstGeom>
          <a:noFill/>
          <a:ln w="9525">
            <a:solidFill>
              <a:srgbClr val="E3DED3"/>
            </a:solidFill>
            <a:prstDash val="solid"/>
          </a:ln>
        </p:spPr>
      </p:sp>
      <p:sp>
        <p:nvSpPr>
          <p:cNvPr id="12" name="Shape 10"/>
          <p:cNvSpPr/>
          <p:nvPr/>
        </p:nvSpPr>
        <p:spPr>
          <a:xfrm>
            <a:off x="6781800" y="1905000"/>
            <a:ext cx="0" cy="3530600"/>
          </a:xfrm>
          <a:prstGeom prst="line">
            <a:avLst/>
          </a:prstGeom>
          <a:noFill/>
          <a:ln w="9525">
            <a:solidFill>
              <a:srgbClr val="E3DED3"/>
            </a:solidFill>
            <a:prstDash val="solid"/>
          </a:ln>
        </p:spPr>
      </p:sp>
      <p:sp>
        <p:nvSpPr>
          <p:cNvPr id="13" name="Shape 11"/>
          <p:cNvSpPr/>
          <p:nvPr/>
        </p:nvSpPr>
        <p:spPr>
          <a:xfrm>
            <a:off x="9080500" y="1905000"/>
            <a:ext cx="0" cy="3530600"/>
          </a:xfrm>
          <a:prstGeom prst="line">
            <a:avLst/>
          </a:prstGeom>
          <a:noFill/>
          <a:ln w="9525">
            <a:solidFill>
              <a:srgbClr val="E3DED3"/>
            </a:solidFill>
            <a:prstDash val="solid"/>
          </a:ln>
        </p:spPr>
      </p:sp>
      <p:sp>
        <p:nvSpPr>
          <p:cNvPr id="14" name="Shape 12"/>
          <p:cNvSpPr/>
          <p:nvPr/>
        </p:nvSpPr>
        <p:spPr>
          <a:xfrm>
            <a:off x="812800" y="2222500"/>
            <a:ext cx="10566400" cy="0"/>
          </a:xfrm>
          <a:prstGeom prst="line">
            <a:avLst/>
          </a:prstGeom>
          <a:noFill/>
          <a:ln w="9525">
            <a:solidFill>
              <a:srgbClr val="D6D0C2"/>
            </a:solidFill>
            <a:prstDash val="solid"/>
          </a:ln>
        </p:spPr>
      </p:sp>
      <p:sp>
        <p:nvSpPr>
          <p:cNvPr id="15" name="Text 13"/>
          <p:cNvSpPr txBox="1"/>
          <p:nvPr/>
        </p:nvSpPr>
        <p:spPr>
          <a:xfrm>
            <a:off x="812800" y="1968500"/>
            <a:ext cx="1460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Q3 2026</a:t>
            </a:r>
            <a:endParaRPr lang="en-US" sz="1200" dirty="0"/>
          </a:p>
        </p:txBody>
      </p:sp>
      <p:sp>
        <p:nvSpPr>
          <p:cNvPr id="16" name="Text 14"/>
          <p:cNvSpPr txBox="1"/>
          <p:nvPr/>
        </p:nvSpPr>
        <p:spPr>
          <a:xfrm>
            <a:off x="2438400" y="1968500"/>
            <a:ext cx="1460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Oct 2026</a:t>
            </a:r>
            <a:endParaRPr lang="en-US" sz="1200" dirty="0"/>
          </a:p>
        </p:txBody>
      </p:sp>
      <p:sp>
        <p:nvSpPr>
          <p:cNvPr id="17" name="Text 15"/>
          <p:cNvSpPr txBox="1"/>
          <p:nvPr/>
        </p:nvSpPr>
        <p:spPr>
          <a:xfrm>
            <a:off x="4343400" y="1968500"/>
            <a:ext cx="1460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Nov</a:t>
            </a:r>
            <a:endParaRPr lang="en-US" sz="1200" dirty="0"/>
          </a:p>
        </p:txBody>
      </p:sp>
      <p:sp>
        <p:nvSpPr>
          <p:cNvPr id="18" name="Text 16"/>
          <p:cNvSpPr txBox="1"/>
          <p:nvPr/>
        </p:nvSpPr>
        <p:spPr>
          <a:xfrm>
            <a:off x="5613400" y="1968500"/>
            <a:ext cx="1460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Dec</a:t>
            </a:r>
            <a:endParaRPr lang="en-US" sz="1200" dirty="0"/>
          </a:p>
        </p:txBody>
      </p:sp>
      <p:sp>
        <p:nvSpPr>
          <p:cNvPr id="19" name="Text 17"/>
          <p:cNvSpPr txBox="1"/>
          <p:nvPr/>
        </p:nvSpPr>
        <p:spPr>
          <a:xfrm>
            <a:off x="6883400" y="1968500"/>
            <a:ext cx="1460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Q1 2027</a:t>
            </a:r>
            <a:endParaRPr lang="en-US" sz="1200" dirty="0"/>
          </a:p>
        </p:txBody>
      </p:sp>
      <p:sp>
        <p:nvSpPr>
          <p:cNvPr id="20" name="Text 18"/>
          <p:cNvSpPr txBox="1"/>
          <p:nvPr/>
        </p:nvSpPr>
        <p:spPr>
          <a:xfrm>
            <a:off x="9182100" y="1968500"/>
            <a:ext cx="1460500" cy="215900"/>
          </a:xfrm>
          <a:prstGeom prst="rect">
            <a:avLst/>
          </a:prstGeom>
          <a:noFill/>
          <a:ln/>
        </p:spPr>
        <p:txBody>
          <a:bodyPr wrap="square" lIns="0" tIns="0" rIns="0" bIns="0" rtlCol="0" anchor="t"/>
          <a:lstStyle/>
          <a:p>
            <a:pPr algn="l" indent="0" marL="0">
              <a:lnSpc>
                <a:spcPct val="110000"/>
              </a:lnSpc>
              <a:buNone/>
            </a:pPr>
            <a:r>
              <a:rPr lang="en-US" sz="1200" b="1" dirty="0">
                <a:solidFill>
                  <a:srgbClr val="5A6472"/>
                </a:solidFill>
                <a:latin typeface="Arial" pitchFamily="34" charset="0"/>
                <a:ea typeface="Arial" pitchFamily="34" charset="-122"/>
                <a:cs typeface="Arial" pitchFamily="34" charset="-120"/>
              </a:rPr>
              <a:t>Q2 2027</a:t>
            </a:r>
            <a:endParaRPr lang="en-US" sz="1200" dirty="0"/>
          </a:p>
        </p:txBody>
      </p:sp>
      <p:sp>
        <p:nvSpPr>
          <p:cNvPr id="21" name="Text 19"/>
          <p:cNvSpPr txBox="1"/>
          <p:nvPr/>
        </p:nvSpPr>
        <p:spPr>
          <a:xfrm>
            <a:off x="812800" y="2298700"/>
            <a:ext cx="4445000" cy="215900"/>
          </a:xfrm>
          <a:prstGeom prst="rect">
            <a:avLst/>
          </a:prstGeom>
          <a:noFill/>
          <a:ln/>
        </p:spPr>
        <p:txBody>
          <a:bodyPr wrap="square" lIns="0" tIns="0" rIns="0" bIns="0" rtlCol="0" anchor="t"/>
          <a:lstStyle/>
          <a:p>
            <a:pPr algn="l" indent="0" marL="0">
              <a:lnSpc>
                <a:spcPct val="110000"/>
              </a:lnSpc>
              <a:buNone/>
            </a:pPr>
            <a:r>
              <a:rPr lang="en-US" sz="1200" dirty="0">
                <a:solidFill>
                  <a:srgbClr val="002554"/>
                </a:solidFill>
                <a:latin typeface="Arial" pitchFamily="34" charset="0"/>
                <a:ea typeface="Arial" pitchFamily="34" charset="-122"/>
                <a:cs typeface="Arial" pitchFamily="34" charset="-120"/>
              </a:rPr>
              <a:t>Initiative conceptualization</a:t>
            </a:r>
            <a:endParaRPr lang="en-US" sz="1200" dirty="0"/>
          </a:p>
        </p:txBody>
      </p:sp>
      <p:sp>
        <p:nvSpPr>
          <p:cNvPr id="22" name="Shape 20"/>
          <p:cNvSpPr/>
          <p:nvPr/>
        </p:nvSpPr>
        <p:spPr>
          <a:xfrm>
            <a:off x="812800" y="2527300"/>
            <a:ext cx="698500" cy="88900"/>
          </a:xfrm>
          <a:prstGeom prst="roundRect">
            <a:avLst>
              <a:gd name="adj" fmla="val 51429"/>
            </a:avLst>
          </a:prstGeom>
          <a:solidFill>
            <a:srgbClr val="002554"/>
          </a:solidFill>
          <a:ln/>
        </p:spPr>
      </p:sp>
      <p:sp>
        <p:nvSpPr>
          <p:cNvPr id="23" name="Text 21"/>
          <p:cNvSpPr txBox="1"/>
          <p:nvPr/>
        </p:nvSpPr>
        <p:spPr>
          <a:xfrm>
            <a:off x="1206500" y="2692400"/>
            <a:ext cx="4445000" cy="215900"/>
          </a:xfrm>
          <a:prstGeom prst="rect">
            <a:avLst/>
          </a:prstGeom>
          <a:noFill/>
          <a:ln/>
        </p:spPr>
        <p:txBody>
          <a:bodyPr wrap="square" lIns="0" tIns="0" rIns="0" bIns="0" rtlCol="0" anchor="t"/>
          <a:lstStyle/>
          <a:p>
            <a:pPr algn="l" indent="0" marL="0">
              <a:lnSpc>
                <a:spcPct val="110000"/>
              </a:lnSpc>
              <a:buNone/>
            </a:pPr>
            <a:r>
              <a:rPr lang="en-US" sz="1200" dirty="0">
                <a:solidFill>
                  <a:srgbClr val="002554"/>
                </a:solidFill>
                <a:latin typeface="Arial" pitchFamily="34" charset="0"/>
                <a:ea typeface="Arial" pitchFamily="34" charset="-122"/>
                <a:cs typeface="Arial" pitchFamily="34" charset="-120"/>
              </a:rPr>
              <a:t>Vendor identification</a:t>
            </a:r>
            <a:endParaRPr lang="en-US" sz="1200" dirty="0"/>
          </a:p>
        </p:txBody>
      </p:sp>
      <p:sp>
        <p:nvSpPr>
          <p:cNvPr id="24" name="Shape 22"/>
          <p:cNvSpPr/>
          <p:nvPr/>
        </p:nvSpPr>
        <p:spPr>
          <a:xfrm>
            <a:off x="1206500" y="2921000"/>
            <a:ext cx="889000" cy="88900"/>
          </a:xfrm>
          <a:prstGeom prst="roundRect">
            <a:avLst>
              <a:gd name="adj" fmla="val 51429"/>
            </a:avLst>
          </a:prstGeom>
          <a:solidFill>
            <a:srgbClr val="002554"/>
          </a:solidFill>
          <a:ln/>
        </p:spPr>
      </p:sp>
      <p:sp>
        <p:nvSpPr>
          <p:cNvPr id="25" name="Text 23"/>
          <p:cNvSpPr txBox="1"/>
          <p:nvPr/>
        </p:nvSpPr>
        <p:spPr>
          <a:xfrm>
            <a:off x="1841500" y="3086100"/>
            <a:ext cx="4445000" cy="215900"/>
          </a:xfrm>
          <a:prstGeom prst="rect">
            <a:avLst/>
          </a:prstGeom>
          <a:noFill/>
          <a:ln/>
        </p:spPr>
        <p:txBody>
          <a:bodyPr wrap="square" lIns="0" tIns="0" rIns="0" bIns="0" rtlCol="0" anchor="t"/>
          <a:lstStyle/>
          <a:p>
            <a:pPr algn="l" indent="0" marL="0">
              <a:lnSpc>
                <a:spcPct val="110000"/>
              </a:lnSpc>
              <a:buNone/>
            </a:pPr>
            <a:r>
              <a:rPr lang="en-US" sz="1200" dirty="0">
                <a:solidFill>
                  <a:srgbClr val="002554"/>
                </a:solidFill>
                <a:latin typeface="Arial" pitchFamily="34" charset="0"/>
                <a:ea typeface="Arial" pitchFamily="34" charset="-122"/>
                <a:cs typeface="Arial" pitchFamily="34" charset="-120"/>
              </a:rPr>
              <a:t>RFP narrows the field to six</a:t>
            </a:r>
            <a:endParaRPr lang="en-US" sz="1200" dirty="0"/>
          </a:p>
        </p:txBody>
      </p:sp>
      <p:sp>
        <p:nvSpPr>
          <p:cNvPr id="26" name="Shape 24"/>
          <p:cNvSpPr/>
          <p:nvPr/>
        </p:nvSpPr>
        <p:spPr>
          <a:xfrm>
            <a:off x="1841500" y="3314700"/>
            <a:ext cx="495300" cy="88900"/>
          </a:xfrm>
          <a:prstGeom prst="roundRect">
            <a:avLst>
              <a:gd name="adj" fmla="val 51429"/>
            </a:avLst>
          </a:prstGeom>
          <a:solidFill>
            <a:srgbClr val="002554"/>
          </a:solidFill>
          <a:ln/>
        </p:spPr>
      </p:sp>
      <p:sp>
        <p:nvSpPr>
          <p:cNvPr id="27" name="Text 25"/>
          <p:cNvSpPr txBox="1"/>
          <p:nvPr/>
        </p:nvSpPr>
        <p:spPr>
          <a:xfrm>
            <a:off x="2336800" y="3479800"/>
            <a:ext cx="4445000" cy="215900"/>
          </a:xfrm>
          <a:prstGeom prst="rect">
            <a:avLst/>
          </a:prstGeom>
          <a:noFill/>
          <a:ln/>
        </p:spPr>
        <p:txBody>
          <a:bodyPr wrap="square" lIns="0" tIns="0" rIns="0" bIns="0" rtlCol="0" anchor="t"/>
          <a:lstStyle/>
          <a:p>
            <a:pPr algn="l" indent="0" marL="0">
              <a:lnSpc>
                <a:spcPct val="110000"/>
              </a:lnSpc>
              <a:buNone/>
            </a:pPr>
            <a:r>
              <a:rPr lang="en-US" sz="1200" dirty="0">
                <a:solidFill>
                  <a:srgbClr val="002554"/>
                </a:solidFill>
                <a:latin typeface="Arial" pitchFamily="34" charset="0"/>
                <a:ea typeface="Arial" pitchFamily="34" charset="-122"/>
                <a:cs typeface="Arial" pitchFamily="34" charset="-120"/>
              </a:rPr>
              <a:t>Six narrowed to three for on-site</a:t>
            </a:r>
            <a:endParaRPr lang="en-US" sz="1200" dirty="0"/>
          </a:p>
        </p:txBody>
      </p:sp>
      <p:sp>
        <p:nvSpPr>
          <p:cNvPr id="28" name="Shape 26"/>
          <p:cNvSpPr/>
          <p:nvPr/>
        </p:nvSpPr>
        <p:spPr>
          <a:xfrm>
            <a:off x="2362200" y="3708400"/>
            <a:ext cx="952500" cy="88900"/>
          </a:xfrm>
          <a:prstGeom prst="roundRect">
            <a:avLst>
              <a:gd name="adj" fmla="val 51429"/>
            </a:avLst>
          </a:prstGeom>
          <a:solidFill>
            <a:srgbClr val="CE8E00"/>
          </a:solidFill>
          <a:ln/>
        </p:spPr>
      </p:sp>
      <p:sp>
        <p:nvSpPr>
          <p:cNvPr id="29" name="Shape 27"/>
          <p:cNvSpPr/>
          <p:nvPr/>
        </p:nvSpPr>
        <p:spPr>
          <a:xfrm>
            <a:off x="3556000" y="3886200"/>
            <a:ext cx="228600" cy="228600"/>
          </a:xfrm>
          <a:prstGeom prst="diamond">
            <a:avLst/>
          </a:prstGeom>
          <a:solidFill>
            <a:srgbClr val="CE8E00"/>
          </a:solidFill>
          <a:ln/>
        </p:spPr>
      </p:sp>
      <p:sp>
        <p:nvSpPr>
          <p:cNvPr id="30" name="Text 28"/>
          <p:cNvSpPr txBox="1"/>
          <p:nvPr/>
        </p:nvSpPr>
        <p:spPr>
          <a:xfrm>
            <a:off x="3886200" y="3886200"/>
            <a:ext cx="4826000" cy="228600"/>
          </a:xfrm>
          <a:prstGeom prst="rect">
            <a:avLst/>
          </a:prstGeom>
          <a:noFill/>
          <a:ln/>
        </p:spPr>
        <p:txBody>
          <a:bodyPr wrap="square" lIns="0" tIns="0" rIns="0" bIns="0" rtlCol="0" anchor="ctr"/>
          <a:lstStyle/>
          <a:p>
            <a:pPr algn="l" indent="0" marL="0">
              <a:lnSpc>
                <a:spcPct val="110000"/>
              </a:lnSpc>
              <a:buNone/>
            </a:pPr>
            <a:r>
              <a:rPr lang="en-US" sz="1200" b="1" dirty="0">
                <a:solidFill>
                  <a:srgbClr val="002554"/>
                </a:solidFill>
                <a:latin typeface="Arial" pitchFamily="34" charset="0"/>
                <a:ea typeface="Arial" pitchFamily="34" charset="-122"/>
                <a:cs typeface="Arial" pitchFamily="34" charset="-120"/>
              </a:rPr>
              <a:t>On-site in Nashville · Wed–Fri, Oct 21–23</a:t>
            </a:r>
            <a:endParaRPr lang="en-US" sz="1200" dirty="0"/>
          </a:p>
        </p:txBody>
      </p:sp>
      <p:sp>
        <p:nvSpPr>
          <p:cNvPr id="31" name="Text 29"/>
          <p:cNvSpPr txBox="1"/>
          <p:nvPr/>
        </p:nvSpPr>
        <p:spPr>
          <a:xfrm>
            <a:off x="3810000" y="4267200"/>
            <a:ext cx="4445000" cy="215900"/>
          </a:xfrm>
          <a:prstGeom prst="rect">
            <a:avLst/>
          </a:prstGeom>
          <a:noFill/>
          <a:ln/>
        </p:spPr>
        <p:txBody>
          <a:bodyPr wrap="square" lIns="0" tIns="0" rIns="0" bIns="0" rtlCol="0" anchor="t"/>
          <a:lstStyle/>
          <a:p>
            <a:pPr algn="l" indent="0" marL="0">
              <a:lnSpc>
                <a:spcPct val="110000"/>
              </a:lnSpc>
              <a:buNone/>
            </a:pPr>
            <a:r>
              <a:rPr lang="en-US" sz="1200" dirty="0">
                <a:solidFill>
                  <a:srgbClr val="002554"/>
                </a:solidFill>
                <a:latin typeface="Arial" pitchFamily="34" charset="0"/>
                <a:ea typeface="Arial" pitchFamily="34" charset="-122"/>
                <a:cs typeface="Arial" pitchFamily="34" charset="-120"/>
              </a:rPr>
              <a:t>Narrow to two finalists · 1–2 weeks</a:t>
            </a:r>
            <a:endParaRPr lang="en-US" sz="1200" dirty="0"/>
          </a:p>
        </p:txBody>
      </p:sp>
      <p:sp>
        <p:nvSpPr>
          <p:cNvPr id="32" name="Shape 30"/>
          <p:cNvSpPr/>
          <p:nvPr/>
        </p:nvSpPr>
        <p:spPr>
          <a:xfrm>
            <a:off x="3810000" y="4495800"/>
            <a:ext cx="698500" cy="88900"/>
          </a:xfrm>
          <a:prstGeom prst="roundRect">
            <a:avLst>
              <a:gd name="adj" fmla="val 51429"/>
            </a:avLst>
          </a:prstGeom>
          <a:solidFill>
            <a:srgbClr val="CE8E00"/>
          </a:solidFill>
          <a:ln/>
        </p:spPr>
      </p:sp>
      <p:sp>
        <p:nvSpPr>
          <p:cNvPr id="33" name="Text 31"/>
          <p:cNvSpPr txBox="1"/>
          <p:nvPr/>
        </p:nvSpPr>
        <p:spPr>
          <a:xfrm>
            <a:off x="4508500" y="4660900"/>
            <a:ext cx="4445000" cy="215900"/>
          </a:xfrm>
          <a:prstGeom prst="rect">
            <a:avLst/>
          </a:prstGeom>
          <a:noFill/>
          <a:ln/>
        </p:spPr>
        <p:txBody>
          <a:bodyPr wrap="square" lIns="0" tIns="0" rIns="0" bIns="0" rtlCol="0" anchor="t"/>
          <a:lstStyle/>
          <a:p>
            <a:pPr algn="l" indent="0" marL="0">
              <a:lnSpc>
                <a:spcPct val="110000"/>
              </a:lnSpc>
              <a:buNone/>
            </a:pPr>
            <a:r>
              <a:rPr lang="en-US" sz="1200" dirty="0">
                <a:solidFill>
                  <a:srgbClr val="002554"/>
                </a:solidFill>
                <a:latin typeface="Arial" pitchFamily="34" charset="0"/>
                <a:ea typeface="Arial" pitchFamily="34" charset="-122"/>
                <a:cs typeface="Arial" pitchFamily="34" charset="-120"/>
              </a:rPr>
              <a:t>Contract negotiations</a:t>
            </a:r>
            <a:endParaRPr lang="en-US" sz="1200" dirty="0"/>
          </a:p>
        </p:txBody>
      </p:sp>
      <p:sp>
        <p:nvSpPr>
          <p:cNvPr id="34" name="Shape 32"/>
          <p:cNvSpPr/>
          <p:nvPr/>
        </p:nvSpPr>
        <p:spPr>
          <a:xfrm>
            <a:off x="4508500" y="4889500"/>
            <a:ext cx="1003300" cy="88900"/>
          </a:xfrm>
          <a:prstGeom prst="roundRect">
            <a:avLst>
              <a:gd name="adj" fmla="val 51429"/>
            </a:avLst>
          </a:prstGeom>
          <a:solidFill>
            <a:srgbClr val="CE8E00"/>
          </a:solidFill>
          <a:ln/>
        </p:spPr>
      </p:sp>
      <p:sp>
        <p:nvSpPr>
          <p:cNvPr id="35" name="Text 33"/>
          <p:cNvSpPr txBox="1"/>
          <p:nvPr/>
        </p:nvSpPr>
        <p:spPr>
          <a:xfrm>
            <a:off x="4267200" y="5054600"/>
            <a:ext cx="4445000" cy="215900"/>
          </a:xfrm>
          <a:prstGeom prst="rect">
            <a:avLst/>
          </a:prstGeom>
          <a:noFill/>
          <a:ln/>
        </p:spPr>
        <p:txBody>
          <a:bodyPr wrap="square" lIns="0" tIns="0" rIns="0" bIns="0" rtlCol="0" anchor="t"/>
          <a:lstStyle/>
          <a:p>
            <a:pPr algn="l" indent="0" marL="0">
              <a:lnSpc>
                <a:spcPct val="110000"/>
              </a:lnSpc>
              <a:buNone/>
            </a:pPr>
            <a:r>
              <a:rPr lang="en-US" sz="1200" dirty="0">
                <a:solidFill>
                  <a:srgbClr val="002554"/>
                </a:solidFill>
                <a:latin typeface="Arial" pitchFamily="34" charset="0"/>
                <a:ea typeface="Arial" pitchFamily="34" charset="-122"/>
                <a:cs typeface="Arial" pitchFamily="34" charset="-120"/>
              </a:rPr>
              <a:t>Product scoping &amp; pilot site identification</a:t>
            </a:r>
            <a:endParaRPr lang="en-US" sz="1200" dirty="0"/>
          </a:p>
        </p:txBody>
      </p:sp>
      <p:sp>
        <p:nvSpPr>
          <p:cNvPr id="36" name="Shape 34"/>
          <p:cNvSpPr/>
          <p:nvPr/>
        </p:nvSpPr>
        <p:spPr>
          <a:xfrm>
            <a:off x="4267200" y="5283200"/>
            <a:ext cx="2514600" cy="88900"/>
          </a:xfrm>
          <a:prstGeom prst="roundRect">
            <a:avLst>
              <a:gd name="adj" fmla="val 51429"/>
            </a:avLst>
          </a:prstGeom>
          <a:solidFill>
            <a:srgbClr val="CE8E00"/>
          </a:solidFill>
          <a:ln/>
        </p:spPr>
      </p:sp>
      <p:sp>
        <p:nvSpPr>
          <p:cNvPr id="37" name="Shape 35"/>
          <p:cNvSpPr/>
          <p:nvPr/>
        </p:nvSpPr>
        <p:spPr>
          <a:xfrm>
            <a:off x="2336800" y="5511800"/>
            <a:ext cx="3149600" cy="19050"/>
          </a:xfrm>
          <a:prstGeom prst="rect">
            <a:avLst/>
          </a:prstGeom>
          <a:solidFill>
            <a:srgbClr val="002554"/>
          </a:solidFill>
          <a:ln/>
        </p:spPr>
      </p:sp>
      <p:sp>
        <p:nvSpPr>
          <p:cNvPr id="38" name="Text 36"/>
          <p:cNvSpPr txBox="1"/>
          <p:nvPr/>
        </p:nvSpPr>
        <p:spPr>
          <a:xfrm>
            <a:off x="2336800" y="5575300"/>
            <a:ext cx="3149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002554"/>
                </a:solidFill>
                <a:latin typeface="Arial" pitchFamily="34" charset="0"/>
                <a:ea typeface="Arial" pitchFamily="34" charset="-122"/>
                <a:cs typeface="Arial" pitchFamily="34" charset="-120"/>
              </a:rPr>
              <a:t>Selection-phase SMEs · this group</a:t>
            </a:r>
            <a:endParaRPr lang="en-US" sz="1200" dirty="0"/>
          </a:p>
        </p:txBody>
      </p:sp>
      <p:sp>
        <p:nvSpPr>
          <p:cNvPr id="39" name="Shape 37"/>
          <p:cNvSpPr/>
          <p:nvPr/>
        </p:nvSpPr>
        <p:spPr>
          <a:xfrm>
            <a:off x="5562600" y="5518150"/>
            <a:ext cx="5816600" cy="0"/>
          </a:xfrm>
          <a:prstGeom prst="line">
            <a:avLst/>
          </a:prstGeom>
          <a:noFill/>
          <a:ln w="25400">
            <a:solidFill>
              <a:srgbClr val="8A5F00"/>
            </a:solidFill>
            <a:prstDash val="dash"/>
          </a:ln>
        </p:spPr>
      </p:sp>
      <p:sp>
        <p:nvSpPr>
          <p:cNvPr id="40" name="Text 38"/>
          <p:cNvSpPr txBox="1"/>
          <p:nvPr/>
        </p:nvSpPr>
        <p:spPr>
          <a:xfrm>
            <a:off x="5562600" y="5575300"/>
            <a:ext cx="5816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8A5F00"/>
                </a:solidFill>
                <a:latin typeface="Arial" pitchFamily="34" charset="0"/>
                <a:ea typeface="Arial" pitchFamily="34" charset="-122"/>
                <a:cs typeface="Arial" pitchFamily="34" charset="-120"/>
              </a:rPr>
              <a:t>Pilot-branch SMEs · named as pilot sites are identified</a:t>
            </a:r>
            <a:endParaRPr lang="en-US" sz="12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CE8E00"/>
                </a:solidFill>
                <a:latin typeface="Arial" pitchFamily="34" charset="0"/>
                <a:ea typeface="Arial" pitchFamily="34" charset="-122"/>
                <a:cs typeface="Arial" pitchFamily="34" charset="-120"/>
              </a:rPr>
              <a:t>THE TIMELINE · OPTION B</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F8F6F1"/>
                </a:solidFill>
                <a:latin typeface="Maven Pro" pitchFamily="34" charset="0"/>
                <a:ea typeface="Maven Pro" pitchFamily="34" charset="-122"/>
                <a:cs typeface="Maven Pro" pitchFamily="34" charset="-120"/>
              </a:rPr>
              <a:t>The road to a pilot</a:t>
            </a:r>
            <a:endParaRPr lang="en-US" sz="4000" dirty="0"/>
          </a:p>
        </p:txBody>
      </p:sp>
      <p:sp>
        <p:nvSpPr>
          <p:cNvPr id="4" name="Shape 2"/>
          <p:cNvSpPr/>
          <p:nvPr/>
        </p:nvSpPr>
        <p:spPr>
          <a:xfrm>
            <a:off x="812800" y="2781300"/>
            <a:ext cx="10566400" cy="12700"/>
          </a:xfrm>
          <a:prstGeom prst="rect">
            <a:avLst/>
          </a:prstGeom>
          <a:solidFill>
            <a:srgbClr val="2A4A78"/>
          </a:solidFill>
          <a:ln/>
        </p:spPr>
      </p:sp>
      <p:sp>
        <p:nvSpPr>
          <p:cNvPr id="5" name="Shape 3"/>
          <p:cNvSpPr/>
          <p:nvPr/>
        </p:nvSpPr>
        <p:spPr>
          <a:xfrm>
            <a:off x="812800" y="2781300"/>
            <a:ext cx="3048000" cy="12700"/>
          </a:xfrm>
          <a:prstGeom prst="rect">
            <a:avLst/>
          </a:prstGeom>
          <a:solidFill>
            <a:srgbClr val="C9D3E0"/>
          </a:solidFill>
          <a:ln/>
        </p:spPr>
      </p:sp>
      <p:sp>
        <p:nvSpPr>
          <p:cNvPr id="6" name="Text 4"/>
          <p:cNvSpPr txBox="1"/>
          <p:nvPr/>
        </p:nvSpPr>
        <p:spPr>
          <a:xfrm>
            <a:off x="812800" y="2044700"/>
            <a:ext cx="14224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Q3 2026</a:t>
            </a:r>
            <a:endParaRPr lang="en-US" sz="1200" dirty="0"/>
          </a:p>
        </p:txBody>
      </p:sp>
      <p:sp>
        <p:nvSpPr>
          <p:cNvPr id="7" name="Text 5"/>
          <p:cNvSpPr txBox="1"/>
          <p:nvPr/>
        </p:nvSpPr>
        <p:spPr>
          <a:xfrm>
            <a:off x="812800" y="2273300"/>
            <a:ext cx="1422400" cy="215900"/>
          </a:xfrm>
          <a:prstGeom prst="rect">
            <a:avLst/>
          </a:prstGeom>
          <a:noFill/>
          <a:ln/>
        </p:spPr>
        <p:txBody>
          <a:bodyPr wrap="square" lIns="0" tIns="0" rIns="0" bIns="0" rtlCol="0" anchor="t"/>
          <a:lstStyle/>
          <a:p>
            <a:pPr algn="l" indent="0" marL="0">
              <a:lnSpc>
                <a:spcPct val="110000"/>
              </a:lnSpc>
              <a:buNone/>
            </a:pPr>
            <a:r>
              <a:rPr lang="en-US" sz="1200" dirty="0">
                <a:solidFill>
                  <a:srgbClr val="9AAAC0"/>
                </a:solidFill>
                <a:latin typeface="Arial" pitchFamily="34" charset="0"/>
                <a:ea typeface="Arial" pitchFamily="34" charset="-122"/>
                <a:cs typeface="Arial" pitchFamily="34" charset="-120"/>
              </a:rPr>
              <a:t>Complete</a:t>
            </a:r>
            <a:endParaRPr lang="en-US" sz="1200" dirty="0"/>
          </a:p>
        </p:txBody>
      </p:sp>
      <p:sp>
        <p:nvSpPr>
          <p:cNvPr id="8" name="Shape 6"/>
          <p:cNvSpPr/>
          <p:nvPr/>
        </p:nvSpPr>
        <p:spPr>
          <a:xfrm>
            <a:off x="812800" y="2686050"/>
            <a:ext cx="203200" cy="203200"/>
          </a:xfrm>
          <a:prstGeom prst="ellipse">
            <a:avLst/>
          </a:prstGeom>
          <a:solidFill>
            <a:srgbClr val="C9D3E0"/>
          </a:solidFill>
          <a:ln/>
        </p:spPr>
      </p:sp>
      <p:sp>
        <p:nvSpPr>
          <p:cNvPr id="9" name="Text 7"/>
          <p:cNvSpPr txBox="1"/>
          <p:nvPr/>
        </p:nvSpPr>
        <p:spPr>
          <a:xfrm>
            <a:off x="812800" y="3048000"/>
            <a:ext cx="1422400" cy="482600"/>
          </a:xfrm>
          <a:prstGeom prst="rect">
            <a:avLst/>
          </a:prstGeom>
          <a:noFill/>
          <a:ln/>
        </p:spPr>
        <p:txBody>
          <a:bodyPr wrap="square" lIns="0" tIns="0" rIns="0" bIns="0" rtlCol="0" anchor="t"/>
          <a:lstStyle/>
          <a:p>
            <a:pPr algn="l" indent="0" marL="0">
              <a:lnSpc>
                <a:spcPct val="110000"/>
              </a:lnSpc>
              <a:buNone/>
            </a:pPr>
            <a:r>
              <a:rPr lang="en-US" sz="1600" dirty="0">
                <a:solidFill>
                  <a:srgbClr val="F8F6F1"/>
                </a:solidFill>
                <a:latin typeface="Maven Pro" pitchFamily="34" charset="0"/>
                <a:ea typeface="Maven Pro" pitchFamily="34" charset="-122"/>
                <a:cs typeface="Maven Pro" pitchFamily="34" charset="-120"/>
              </a:rPr>
              <a:t>Conceptualize</a:t>
            </a:r>
            <a:endParaRPr lang="en-US" sz="1600" dirty="0"/>
          </a:p>
        </p:txBody>
      </p:sp>
      <p:sp>
        <p:nvSpPr>
          <p:cNvPr id="10" name="Text 8"/>
          <p:cNvSpPr txBox="1"/>
          <p:nvPr/>
        </p:nvSpPr>
        <p:spPr>
          <a:xfrm>
            <a:off x="812800" y="3606800"/>
            <a:ext cx="1397000" cy="1079500"/>
          </a:xfrm>
          <a:prstGeom prst="rect">
            <a:avLst/>
          </a:prstGeom>
          <a:noFill/>
          <a:ln/>
        </p:spPr>
        <p:txBody>
          <a:bodyPr wrap="square" lIns="0" tIns="0" rIns="0" bIns="0" rtlCol="0" anchor="t"/>
          <a:lstStyle/>
          <a:p>
            <a:pPr algn="l" indent="0" marL="0">
              <a:lnSpc>
                <a:spcPct val="120000"/>
              </a:lnSpc>
              <a:buNone/>
            </a:pPr>
            <a:r>
              <a:rPr lang="en-US" sz="1200" dirty="0">
                <a:solidFill>
                  <a:srgbClr val="C9D3E0"/>
                </a:solidFill>
                <a:latin typeface="Arial" pitchFamily="34" charset="0"/>
                <a:ea typeface="Arial" pitchFamily="34" charset="-122"/>
                <a:cs typeface="Arial" pitchFamily="34" charset="-120"/>
              </a:rPr>
              <a:t>Goals, discovery and current-state mapping</a:t>
            </a:r>
            <a:endParaRPr lang="en-US" sz="1200" dirty="0"/>
          </a:p>
        </p:txBody>
      </p:sp>
      <p:sp>
        <p:nvSpPr>
          <p:cNvPr id="11" name="Text 9"/>
          <p:cNvSpPr txBox="1"/>
          <p:nvPr/>
        </p:nvSpPr>
        <p:spPr>
          <a:xfrm>
            <a:off x="2336800" y="2044700"/>
            <a:ext cx="14224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Aug–Sep</a:t>
            </a:r>
            <a:endParaRPr lang="en-US" sz="1200" dirty="0"/>
          </a:p>
        </p:txBody>
      </p:sp>
      <p:sp>
        <p:nvSpPr>
          <p:cNvPr id="12" name="Text 10"/>
          <p:cNvSpPr txBox="1"/>
          <p:nvPr/>
        </p:nvSpPr>
        <p:spPr>
          <a:xfrm>
            <a:off x="2336800" y="2273300"/>
            <a:ext cx="1422400" cy="215900"/>
          </a:xfrm>
          <a:prstGeom prst="rect">
            <a:avLst/>
          </a:prstGeom>
          <a:noFill/>
          <a:ln/>
        </p:spPr>
        <p:txBody>
          <a:bodyPr wrap="square" lIns="0" tIns="0" rIns="0" bIns="0" rtlCol="0" anchor="t"/>
          <a:lstStyle/>
          <a:p>
            <a:pPr algn="l" indent="0" marL="0">
              <a:lnSpc>
                <a:spcPct val="110000"/>
              </a:lnSpc>
              <a:buNone/>
            </a:pPr>
            <a:r>
              <a:rPr lang="en-US" sz="1200" dirty="0">
                <a:solidFill>
                  <a:srgbClr val="9AAAC0"/>
                </a:solidFill>
                <a:latin typeface="Arial" pitchFamily="34" charset="0"/>
                <a:ea typeface="Arial" pitchFamily="34" charset="-122"/>
                <a:cs typeface="Arial" pitchFamily="34" charset="-120"/>
              </a:rPr>
              <a:t>Complete</a:t>
            </a:r>
            <a:endParaRPr lang="en-US" sz="1200" dirty="0"/>
          </a:p>
        </p:txBody>
      </p:sp>
      <p:sp>
        <p:nvSpPr>
          <p:cNvPr id="13" name="Shape 11"/>
          <p:cNvSpPr/>
          <p:nvPr/>
        </p:nvSpPr>
        <p:spPr>
          <a:xfrm>
            <a:off x="2336800" y="2686050"/>
            <a:ext cx="203200" cy="203200"/>
          </a:xfrm>
          <a:prstGeom prst="ellipse">
            <a:avLst/>
          </a:prstGeom>
          <a:solidFill>
            <a:srgbClr val="C9D3E0"/>
          </a:solidFill>
          <a:ln/>
        </p:spPr>
      </p:sp>
      <p:sp>
        <p:nvSpPr>
          <p:cNvPr id="14" name="Text 12"/>
          <p:cNvSpPr txBox="1"/>
          <p:nvPr/>
        </p:nvSpPr>
        <p:spPr>
          <a:xfrm>
            <a:off x="2336800" y="3048000"/>
            <a:ext cx="1422400" cy="482600"/>
          </a:xfrm>
          <a:prstGeom prst="rect">
            <a:avLst/>
          </a:prstGeom>
          <a:noFill/>
          <a:ln/>
        </p:spPr>
        <p:txBody>
          <a:bodyPr wrap="square" lIns="0" tIns="0" rIns="0" bIns="0" rtlCol="0" anchor="t"/>
          <a:lstStyle/>
          <a:p>
            <a:pPr algn="l" indent="0" marL="0">
              <a:lnSpc>
                <a:spcPct val="110000"/>
              </a:lnSpc>
              <a:buNone/>
            </a:pPr>
            <a:r>
              <a:rPr lang="en-US" sz="1600" dirty="0">
                <a:solidFill>
                  <a:srgbClr val="F8F6F1"/>
                </a:solidFill>
                <a:latin typeface="Maven Pro" pitchFamily="34" charset="0"/>
                <a:ea typeface="Maven Pro" pitchFamily="34" charset="-122"/>
                <a:cs typeface="Maven Pro" pitchFamily="34" charset="-120"/>
              </a:rPr>
              <a:t>Identify &amp; RFP</a:t>
            </a:r>
            <a:endParaRPr lang="en-US" sz="1600" dirty="0"/>
          </a:p>
        </p:txBody>
      </p:sp>
      <p:sp>
        <p:nvSpPr>
          <p:cNvPr id="15" name="Text 13"/>
          <p:cNvSpPr txBox="1"/>
          <p:nvPr/>
        </p:nvSpPr>
        <p:spPr>
          <a:xfrm>
            <a:off x="2336800" y="3606800"/>
            <a:ext cx="1397000" cy="1079500"/>
          </a:xfrm>
          <a:prstGeom prst="rect">
            <a:avLst/>
          </a:prstGeom>
          <a:noFill/>
          <a:ln/>
        </p:spPr>
        <p:txBody>
          <a:bodyPr wrap="square" lIns="0" tIns="0" rIns="0" bIns="0" rtlCol="0" anchor="t"/>
          <a:lstStyle/>
          <a:p>
            <a:pPr algn="l" indent="0" marL="0">
              <a:lnSpc>
                <a:spcPct val="120000"/>
              </a:lnSpc>
              <a:buNone/>
            </a:pPr>
            <a:r>
              <a:rPr lang="en-US" sz="1200" dirty="0">
                <a:solidFill>
                  <a:srgbClr val="C9D3E0"/>
                </a:solidFill>
                <a:latin typeface="Arial" pitchFamily="34" charset="0"/>
                <a:ea typeface="Arial" pitchFamily="34" charset="-122"/>
                <a:cs typeface="Arial" pitchFamily="34" charset="-120"/>
              </a:rPr>
              <a:t>Vendors identified; the RFP narrows the field to six</a:t>
            </a:r>
            <a:endParaRPr lang="en-US" sz="1200" dirty="0"/>
          </a:p>
        </p:txBody>
      </p:sp>
      <p:sp>
        <p:nvSpPr>
          <p:cNvPr id="16" name="Text 14"/>
          <p:cNvSpPr txBox="1"/>
          <p:nvPr/>
        </p:nvSpPr>
        <p:spPr>
          <a:xfrm>
            <a:off x="3860800" y="2044700"/>
            <a:ext cx="14224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October</a:t>
            </a:r>
            <a:endParaRPr lang="en-US" sz="1200" dirty="0"/>
          </a:p>
        </p:txBody>
      </p:sp>
      <p:sp>
        <p:nvSpPr>
          <p:cNvPr id="17" name="Text 15"/>
          <p:cNvSpPr txBox="1"/>
          <p:nvPr/>
        </p:nvSpPr>
        <p:spPr>
          <a:xfrm>
            <a:off x="3860800" y="2273300"/>
            <a:ext cx="1422400" cy="215900"/>
          </a:xfrm>
          <a:prstGeom prst="rect">
            <a:avLst/>
          </a:prstGeom>
          <a:noFill/>
          <a:ln/>
        </p:spPr>
        <p:txBody>
          <a:bodyPr wrap="square" lIns="0" tIns="0" rIns="0" bIns="0" rtlCol="0" anchor="t"/>
          <a:lstStyle/>
          <a:p>
            <a:pPr algn="l" indent="0" marL="0">
              <a:lnSpc>
                <a:spcPct val="110000"/>
              </a:lnSpc>
              <a:buNone/>
            </a:pPr>
            <a:r>
              <a:rPr lang="en-US" sz="1200" b="1" dirty="0">
                <a:solidFill>
                  <a:srgbClr val="F8F6F1"/>
                </a:solidFill>
                <a:latin typeface="Arial" pitchFamily="34" charset="0"/>
                <a:ea typeface="Arial" pitchFamily="34" charset="-122"/>
                <a:cs typeface="Arial" pitchFamily="34" charset="-120"/>
              </a:rPr>
              <a:t>Up next</a:t>
            </a:r>
            <a:endParaRPr lang="en-US" sz="1200" dirty="0"/>
          </a:p>
        </p:txBody>
      </p:sp>
      <p:sp>
        <p:nvSpPr>
          <p:cNvPr id="18" name="Shape 16"/>
          <p:cNvSpPr/>
          <p:nvPr/>
        </p:nvSpPr>
        <p:spPr>
          <a:xfrm>
            <a:off x="3810000" y="2635250"/>
            <a:ext cx="304800" cy="304800"/>
          </a:xfrm>
          <a:prstGeom prst="ellipse">
            <a:avLst/>
          </a:prstGeom>
          <a:solidFill>
            <a:srgbClr val="CE8E00"/>
          </a:solidFill>
          <a:ln/>
        </p:spPr>
      </p:sp>
      <p:sp>
        <p:nvSpPr>
          <p:cNvPr id="19" name="Text 17"/>
          <p:cNvSpPr txBox="1"/>
          <p:nvPr/>
        </p:nvSpPr>
        <p:spPr>
          <a:xfrm>
            <a:off x="3860800" y="3048000"/>
            <a:ext cx="1422400" cy="482600"/>
          </a:xfrm>
          <a:prstGeom prst="rect">
            <a:avLst/>
          </a:prstGeom>
          <a:noFill/>
          <a:ln/>
        </p:spPr>
        <p:txBody>
          <a:bodyPr wrap="square" lIns="0" tIns="0" rIns="0" bIns="0" rtlCol="0" anchor="t"/>
          <a:lstStyle/>
          <a:p>
            <a:pPr algn="l" indent="0" marL="0">
              <a:lnSpc>
                <a:spcPct val="110000"/>
              </a:lnSpc>
              <a:buNone/>
            </a:pPr>
            <a:r>
              <a:rPr lang="en-US" sz="1600" dirty="0">
                <a:solidFill>
                  <a:srgbClr val="F8F6F1"/>
                </a:solidFill>
                <a:latin typeface="Maven Pro" pitchFamily="34" charset="0"/>
                <a:ea typeface="Maven Pro" pitchFamily="34" charset="-122"/>
                <a:cs typeface="Maven Pro" pitchFamily="34" charset="-120"/>
              </a:rPr>
              <a:t>Shortlist &amp; on-site</a:t>
            </a:r>
            <a:endParaRPr lang="en-US" sz="1600" dirty="0"/>
          </a:p>
        </p:txBody>
      </p:sp>
      <p:sp>
        <p:nvSpPr>
          <p:cNvPr id="20" name="Text 18"/>
          <p:cNvSpPr txBox="1"/>
          <p:nvPr/>
        </p:nvSpPr>
        <p:spPr>
          <a:xfrm>
            <a:off x="3860800" y="3606800"/>
            <a:ext cx="1397000" cy="1079500"/>
          </a:xfrm>
          <a:prstGeom prst="rect">
            <a:avLst/>
          </a:prstGeom>
          <a:noFill/>
          <a:ln/>
        </p:spPr>
        <p:txBody>
          <a:bodyPr wrap="square" lIns="0" tIns="0" rIns="0" bIns="0" rtlCol="0" anchor="t"/>
          <a:lstStyle/>
          <a:p>
            <a:pPr algn="l" indent="0" marL="0">
              <a:lnSpc>
                <a:spcPct val="120000"/>
              </a:lnSpc>
              <a:buNone/>
            </a:pPr>
            <a:r>
              <a:rPr lang="en-US" sz="1200" dirty="0">
                <a:solidFill>
                  <a:srgbClr val="C9D3E0"/>
                </a:solidFill>
                <a:latin typeface="Arial" pitchFamily="34" charset="0"/>
                <a:ea typeface="Arial" pitchFamily="34" charset="-122"/>
                <a:cs typeface="Arial" pitchFamily="34" charset="-120"/>
              </a:rPr>
              <a:t>Three finalists on-site in Nashville, Wed–Fri, Oct 21–23</a:t>
            </a:r>
            <a:endParaRPr lang="en-US" sz="1200" dirty="0"/>
          </a:p>
        </p:txBody>
      </p:sp>
      <p:sp>
        <p:nvSpPr>
          <p:cNvPr id="21" name="Text 19"/>
          <p:cNvSpPr txBox="1"/>
          <p:nvPr/>
        </p:nvSpPr>
        <p:spPr>
          <a:xfrm>
            <a:off x="5384800" y="2044700"/>
            <a:ext cx="14224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November</a:t>
            </a:r>
            <a:endParaRPr lang="en-US" sz="1200" dirty="0"/>
          </a:p>
        </p:txBody>
      </p:sp>
      <p:sp>
        <p:nvSpPr>
          <p:cNvPr id="22" name="Text 20"/>
          <p:cNvSpPr txBox="1"/>
          <p:nvPr/>
        </p:nvSpPr>
        <p:spPr>
          <a:xfrm>
            <a:off x="5384800" y="2273300"/>
            <a:ext cx="1422400" cy="215900"/>
          </a:xfrm>
          <a:prstGeom prst="rect">
            <a:avLst/>
          </a:prstGeom>
          <a:noFill/>
          <a:ln/>
        </p:spPr>
        <p:txBody>
          <a:bodyPr wrap="square" lIns="0" tIns="0" rIns="0" bIns="0" rtlCol="0" anchor="t"/>
          <a:lstStyle/>
          <a:p>
            <a:pPr algn="l" indent="0" marL="0">
              <a:lnSpc>
                <a:spcPct val="110000"/>
              </a:lnSpc>
              <a:buNone/>
            </a:pPr>
            <a:r>
              <a:rPr lang="en-US" sz="1200" dirty="0">
                <a:solidFill>
                  <a:srgbClr val="9AAAC0"/>
                </a:solidFill>
                <a:latin typeface="Arial" pitchFamily="34" charset="0"/>
                <a:ea typeface="Arial" pitchFamily="34" charset="-122"/>
                <a:cs typeface="Arial" pitchFamily="34" charset="-120"/>
              </a:rPr>
              <a:t>Ahead</a:t>
            </a:r>
            <a:endParaRPr lang="en-US" sz="1200" dirty="0"/>
          </a:p>
        </p:txBody>
      </p:sp>
      <p:sp>
        <p:nvSpPr>
          <p:cNvPr id="23" name="Shape 21"/>
          <p:cNvSpPr/>
          <p:nvPr/>
        </p:nvSpPr>
        <p:spPr>
          <a:xfrm>
            <a:off x="5384800" y="2686050"/>
            <a:ext cx="203200" cy="203200"/>
          </a:xfrm>
          <a:prstGeom prst="ellipse">
            <a:avLst/>
          </a:prstGeom>
          <a:solidFill>
            <a:srgbClr val="002554"/>
          </a:solidFill>
          <a:ln w="19050">
            <a:solidFill>
              <a:srgbClr val="CE8E00"/>
            </a:solidFill>
            <a:prstDash val="solid"/>
          </a:ln>
        </p:spPr>
      </p:sp>
      <p:sp>
        <p:nvSpPr>
          <p:cNvPr id="24" name="Text 22"/>
          <p:cNvSpPr txBox="1"/>
          <p:nvPr/>
        </p:nvSpPr>
        <p:spPr>
          <a:xfrm>
            <a:off x="5384800" y="3048000"/>
            <a:ext cx="1422400" cy="482600"/>
          </a:xfrm>
          <a:prstGeom prst="rect">
            <a:avLst/>
          </a:prstGeom>
          <a:noFill/>
          <a:ln/>
        </p:spPr>
        <p:txBody>
          <a:bodyPr wrap="square" lIns="0" tIns="0" rIns="0" bIns="0" rtlCol="0" anchor="t"/>
          <a:lstStyle/>
          <a:p>
            <a:pPr algn="l" indent="0" marL="0">
              <a:lnSpc>
                <a:spcPct val="110000"/>
              </a:lnSpc>
              <a:buNone/>
            </a:pPr>
            <a:r>
              <a:rPr lang="en-US" sz="1600" dirty="0">
                <a:solidFill>
                  <a:srgbClr val="F8F6F1"/>
                </a:solidFill>
                <a:latin typeface="Maven Pro" pitchFamily="34" charset="0"/>
                <a:ea typeface="Maven Pro" pitchFamily="34" charset="-122"/>
                <a:cs typeface="Maven Pro" pitchFamily="34" charset="-120"/>
              </a:rPr>
              <a:t>Select &amp; contract</a:t>
            </a:r>
            <a:endParaRPr lang="en-US" sz="1600" dirty="0"/>
          </a:p>
        </p:txBody>
      </p:sp>
      <p:sp>
        <p:nvSpPr>
          <p:cNvPr id="25" name="Text 23"/>
          <p:cNvSpPr txBox="1"/>
          <p:nvPr/>
        </p:nvSpPr>
        <p:spPr>
          <a:xfrm>
            <a:off x="5384800" y="3606800"/>
            <a:ext cx="1397000" cy="1079500"/>
          </a:xfrm>
          <a:prstGeom prst="rect">
            <a:avLst/>
          </a:prstGeom>
          <a:noFill/>
          <a:ln/>
        </p:spPr>
        <p:txBody>
          <a:bodyPr wrap="square" lIns="0" tIns="0" rIns="0" bIns="0" rtlCol="0" anchor="t"/>
          <a:lstStyle/>
          <a:p>
            <a:pPr algn="l" indent="0" marL="0">
              <a:lnSpc>
                <a:spcPct val="120000"/>
              </a:lnSpc>
              <a:buNone/>
            </a:pPr>
            <a:r>
              <a:rPr lang="en-US" sz="1200" dirty="0">
                <a:solidFill>
                  <a:srgbClr val="C9D3E0"/>
                </a:solidFill>
                <a:latin typeface="Arial" pitchFamily="34" charset="0"/>
                <a:ea typeface="Arial" pitchFamily="34" charset="-122"/>
                <a:cs typeface="Arial" pitchFamily="34" charset="-120"/>
              </a:rPr>
              <a:t>Two finalists within 1–2 weeks; negotiations in November</a:t>
            </a:r>
            <a:endParaRPr lang="en-US" sz="1200" dirty="0"/>
          </a:p>
        </p:txBody>
      </p:sp>
      <p:sp>
        <p:nvSpPr>
          <p:cNvPr id="26" name="Text 24"/>
          <p:cNvSpPr txBox="1"/>
          <p:nvPr/>
        </p:nvSpPr>
        <p:spPr>
          <a:xfrm>
            <a:off x="6908800" y="2044700"/>
            <a:ext cx="14224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Nov–Dec</a:t>
            </a:r>
            <a:endParaRPr lang="en-US" sz="1200" dirty="0"/>
          </a:p>
        </p:txBody>
      </p:sp>
      <p:sp>
        <p:nvSpPr>
          <p:cNvPr id="27" name="Text 25"/>
          <p:cNvSpPr txBox="1"/>
          <p:nvPr/>
        </p:nvSpPr>
        <p:spPr>
          <a:xfrm>
            <a:off x="6908800" y="2273300"/>
            <a:ext cx="1422400" cy="215900"/>
          </a:xfrm>
          <a:prstGeom prst="rect">
            <a:avLst/>
          </a:prstGeom>
          <a:noFill/>
          <a:ln/>
        </p:spPr>
        <p:txBody>
          <a:bodyPr wrap="square" lIns="0" tIns="0" rIns="0" bIns="0" rtlCol="0" anchor="t"/>
          <a:lstStyle/>
          <a:p>
            <a:pPr algn="l" indent="0" marL="0">
              <a:lnSpc>
                <a:spcPct val="110000"/>
              </a:lnSpc>
              <a:buNone/>
            </a:pPr>
            <a:r>
              <a:rPr lang="en-US" sz="1200" dirty="0">
                <a:solidFill>
                  <a:srgbClr val="9AAAC0"/>
                </a:solidFill>
                <a:latin typeface="Arial" pitchFamily="34" charset="0"/>
                <a:ea typeface="Arial" pitchFamily="34" charset="-122"/>
                <a:cs typeface="Arial" pitchFamily="34" charset="-120"/>
              </a:rPr>
              <a:t>Ahead</a:t>
            </a:r>
            <a:endParaRPr lang="en-US" sz="1200" dirty="0"/>
          </a:p>
        </p:txBody>
      </p:sp>
      <p:sp>
        <p:nvSpPr>
          <p:cNvPr id="28" name="Shape 26"/>
          <p:cNvSpPr/>
          <p:nvPr/>
        </p:nvSpPr>
        <p:spPr>
          <a:xfrm>
            <a:off x="6908800" y="2686050"/>
            <a:ext cx="203200" cy="203200"/>
          </a:xfrm>
          <a:prstGeom prst="ellipse">
            <a:avLst/>
          </a:prstGeom>
          <a:solidFill>
            <a:srgbClr val="002554"/>
          </a:solidFill>
          <a:ln w="19050">
            <a:solidFill>
              <a:srgbClr val="CE8E00"/>
            </a:solidFill>
            <a:prstDash val="solid"/>
          </a:ln>
        </p:spPr>
      </p:sp>
      <p:sp>
        <p:nvSpPr>
          <p:cNvPr id="29" name="Text 27"/>
          <p:cNvSpPr txBox="1"/>
          <p:nvPr/>
        </p:nvSpPr>
        <p:spPr>
          <a:xfrm>
            <a:off x="6908800" y="3048000"/>
            <a:ext cx="1422400" cy="482600"/>
          </a:xfrm>
          <a:prstGeom prst="rect">
            <a:avLst/>
          </a:prstGeom>
          <a:noFill/>
          <a:ln/>
        </p:spPr>
        <p:txBody>
          <a:bodyPr wrap="square" lIns="0" tIns="0" rIns="0" bIns="0" rtlCol="0" anchor="t"/>
          <a:lstStyle/>
          <a:p>
            <a:pPr algn="l" indent="0" marL="0">
              <a:lnSpc>
                <a:spcPct val="110000"/>
              </a:lnSpc>
              <a:buNone/>
            </a:pPr>
            <a:r>
              <a:rPr lang="en-US" sz="1600" dirty="0">
                <a:solidFill>
                  <a:srgbClr val="F8F6F1"/>
                </a:solidFill>
                <a:latin typeface="Maven Pro" pitchFamily="34" charset="0"/>
                <a:ea typeface="Maven Pro" pitchFamily="34" charset="-122"/>
                <a:cs typeface="Maven Pro" pitchFamily="34" charset="-120"/>
              </a:rPr>
              <a:t>Scope &amp; site</a:t>
            </a:r>
            <a:endParaRPr lang="en-US" sz="1600" dirty="0"/>
          </a:p>
        </p:txBody>
      </p:sp>
      <p:sp>
        <p:nvSpPr>
          <p:cNvPr id="30" name="Text 28"/>
          <p:cNvSpPr txBox="1"/>
          <p:nvPr/>
        </p:nvSpPr>
        <p:spPr>
          <a:xfrm>
            <a:off x="6908800" y="3606800"/>
            <a:ext cx="1397000" cy="1079500"/>
          </a:xfrm>
          <a:prstGeom prst="rect">
            <a:avLst/>
          </a:prstGeom>
          <a:noFill/>
          <a:ln/>
        </p:spPr>
        <p:txBody>
          <a:bodyPr wrap="square" lIns="0" tIns="0" rIns="0" bIns="0" rtlCol="0" anchor="t"/>
          <a:lstStyle/>
          <a:p>
            <a:pPr algn="l" indent="0" marL="0">
              <a:lnSpc>
                <a:spcPct val="120000"/>
              </a:lnSpc>
              <a:buNone/>
            </a:pPr>
            <a:r>
              <a:rPr lang="en-US" sz="1200" dirty="0">
                <a:solidFill>
                  <a:srgbClr val="C9D3E0"/>
                </a:solidFill>
                <a:latin typeface="Arial" pitchFamily="34" charset="0"/>
                <a:ea typeface="Arial" pitchFamily="34" charset="-122"/>
                <a:cs typeface="Arial" pitchFamily="34" charset="-120"/>
              </a:rPr>
              <a:t>Product scoping and pilot site identification</a:t>
            </a:r>
            <a:endParaRPr lang="en-US" sz="1200" dirty="0"/>
          </a:p>
        </p:txBody>
      </p:sp>
      <p:sp>
        <p:nvSpPr>
          <p:cNvPr id="31" name="Text 29"/>
          <p:cNvSpPr txBox="1"/>
          <p:nvPr/>
        </p:nvSpPr>
        <p:spPr>
          <a:xfrm>
            <a:off x="8432800" y="2044700"/>
            <a:ext cx="29464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Q1–Q2 2027</a:t>
            </a:r>
            <a:endParaRPr lang="en-US" sz="1200" dirty="0"/>
          </a:p>
        </p:txBody>
      </p:sp>
      <p:sp>
        <p:nvSpPr>
          <p:cNvPr id="32" name="Text 30"/>
          <p:cNvSpPr txBox="1"/>
          <p:nvPr/>
        </p:nvSpPr>
        <p:spPr>
          <a:xfrm>
            <a:off x="8432800" y="2273300"/>
            <a:ext cx="2946400" cy="215900"/>
          </a:xfrm>
          <a:prstGeom prst="rect">
            <a:avLst/>
          </a:prstGeom>
          <a:noFill/>
          <a:ln/>
        </p:spPr>
        <p:txBody>
          <a:bodyPr wrap="square" lIns="0" tIns="0" rIns="0" bIns="0" rtlCol="0" anchor="t"/>
          <a:lstStyle/>
          <a:p>
            <a:pPr algn="l" indent="0" marL="0">
              <a:lnSpc>
                <a:spcPct val="110000"/>
              </a:lnSpc>
              <a:buNone/>
            </a:pPr>
            <a:r>
              <a:rPr lang="en-US" sz="1200" dirty="0">
                <a:solidFill>
                  <a:srgbClr val="9AAAC0"/>
                </a:solidFill>
                <a:latin typeface="Arial" pitchFamily="34" charset="0"/>
                <a:ea typeface="Arial" pitchFamily="34" charset="-122"/>
                <a:cs typeface="Arial" pitchFamily="34" charset="-120"/>
              </a:rPr>
              <a:t>Ahead</a:t>
            </a:r>
            <a:endParaRPr lang="en-US" sz="1200" dirty="0"/>
          </a:p>
        </p:txBody>
      </p:sp>
      <p:sp>
        <p:nvSpPr>
          <p:cNvPr id="33" name="Shape 31"/>
          <p:cNvSpPr/>
          <p:nvPr/>
        </p:nvSpPr>
        <p:spPr>
          <a:xfrm>
            <a:off x="8432800" y="2686050"/>
            <a:ext cx="203200" cy="203200"/>
          </a:xfrm>
          <a:prstGeom prst="ellipse">
            <a:avLst/>
          </a:prstGeom>
          <a:solidFill>
            <a:srgbClr val="002554"/>
          </a:solidFill>
          <a:ln w="19050">
            <a:solidFill>
              <a:srgbClr val="CE8E00"/>
            </a:solidFill>
            <a:prstDash val="dash"/>
          </a:ln>
        </p:spPr>
      </p:sp>
      <p:sp>
        <p:nvSpPr>
          <p:cNvPr id="34" name="Shape 32"/>
          <p:cNvSpPr/>
          <p:nvPr/>
        </p:nvSpPr>
        <p:spPr>
          <a:xfrm>
            <a:off x="8432800" y="3048000"/>
            <a:ext cx="2946400" cy="1778000"/>
          </a:xfrm>
          <a:prstGeom prst="rect">
            <a:avLst/>
          </a:prstGeom>
          <a:ln w="19050">
            <a:solidFill>
              <a:srgbClr val="2A4A78"/>
            </a:solidFill>
            <a:prstDash val="dash"/>
          </a:ln>
        </p:spPr>
      </p:sp>
      <p:sp>
        <p:nvSpPr>
          <p:cNvPr id="35" name="Text 33"/>
          <p:cNvSpPr txBox="1"/>
          <p:nvPr/>
        </p:nvSpPr>
        <p:spPr>
          <a:xfrm>
            <a:off x="8636000" y="3175000"/>
            <a:ext cx="2540000" cy="279400"/>
          </a:xfrm>
          <a:prstGeom prst="rect">
            <a:avLst/>
          </a:prstGeom>
          <a:noFill/>
          <a:ln/>
        </p:spPr>
        <p:txBody>
          <a:bodyPr wrap="square" lIns="0" tIns="0" rIns="0" bIns="0" rtlCol="0" anchor="t"/>
          <a:lstStyle/>
          <a:p>
            <a:pPr algn="l" indent="0" marL="0">
              <a:lnSpc>
                <a:spcPct val="110000"/>
              </a:lnSpc>
              <a:buNone/>
            </a:pPr>
            <a:r>
              <a:rPr lang="en-US" sz="1600" dirty="0">
                <a:solidFill>
                  <a:srgbClr val="F8F6F1"/>
                </a:solidFill>
                <a:latin typeface="Maven Pro" pitchFamily="34" charset="0"/>
                <a:ea typeface="Maven Pro" pitchFamily="34" charset="-122"/>
                <a:cs typeface="Maven Pro" pitchFamily="34" charset="-120"/>
              </a:rPr>
              <a:t>Pilot</a:t>
            </a:r>
            <a:endParaRPr lang="en-US" sz="1600" dirty="0"/>
          </a:p>
        </p:txBody>
      </p:sp>
      <p:sp>
        <p:nvSpPr>
          <p:cNvPr id="36" name="Text 34"/>
          <p:cNvSpPr txBox="1"/>
          <p:nvPr/>
        </p:nvSpPr>
        <p:spPr>
          <a:xfrm>
            <a:off x="8636000" y="3505200"/>
            <a:ext cx="2540000" cy="215900"/>
          </a:xfrm>
          <a:prstGeom prst="rect">
            <a:avLst/>
          </a:prstGeom>
          <a:noFill/>
          <a:ln/>
        </p:spPr>
        <p:txBody>
          <a:bodyPr wrap="square" lIns="0" tIns="0" rIns="0" bIns="0" rtlCol="0" anchor="t"/>
          <a:lstStyle/>
          <a:p>
            <a:pPr algn="l" indent="0" marL="0">
              <a:lnSpc>
                <a:spcPct val="110000"/>
              </a:lnSpc>
              <a:buNone/>
            </a:pPr>
            <a:r>
              <a:rPr lang="en-US" sz="1200" dirty="0">
                <a:solidFill>
                  <a:srgbClr val="9AAAC0"/>
                </a:solidFill>
                <a:latin typeface="Arial" pitchFamily="34" charset="0"/>
                <a:ea typeface="Arial" pitchFamily="34" charset="-122"/>
                <a:cs typeface="Arial" pitchFamily="34" charset="-120"/>
              </a:rPr>
              <a:t>[Add pilot milestones]</a:t>
            </a:r>
            <a:endParaRPr lang="en-US" sz="1200" dirty="0"/>
          </a:p>
        </p:txBody>
      </p:sp>
      <p:sp>
        <p:nvSpPr>
          <p:cNvPr id="37" name="Shape 35"/>
          <p:cNvSpPr/>
          <p:nvPr/>
        </p:nvSpPr>
        <p:spPr>
          <a:xfrm>
            <a:off x="3860800" y="5080000"/>
            <a:ext cx="2946400" cy="355600"/>
          </a:xfrm>
          <a:prstGeom prst="rect">
            <a:avLst/>
          </a:prstGeom>
          <a:solidFill>
            <a:srgbClr val="0F3A73"/>
          </a:solidFill>
          <a:ln/>
        </p:spPr>
      </p:sp>
      <p:sp>
        <p:nvSpPr>
          <p:cNvPr id="38" name="Text 36"/>
          <p:cNvSpPr txBox="1"/>
          <p:nvPr/>
        </p:nvSpPr>
        <p:spPr>
          <a:xfrm>
            <a:off x="4013200" y="5080000"/>
            <a:ext cx="2730500" cy="355600"/>
          </a:xfrm>
          <a:prstGeom prst="rect">
            <a:avLst/>
          </a:prstGeom>
          <a:noFill/>
          <a:ln/>
        </p:spPr>
        <p:txBody>
          <a:bodyPr wrap="square" lIns="0" tIns="0" rIns="0" bIns="0" rtlCol="0" anchor="ctr"/>
          <a:lstStyle/>
          <a:p>
            <a:pPr algn="l" indent="0" marL="0">
              <a:lnSpc>
                <a:spcPct val="110000"/>
              </a:lnSpc>
              <a:buNone/>
            </a:pPr>
            <a:r>
              <a:rPr lang="en-US" sz="1200" b="1" dirty="0">
                <a:solidFill>
                  <a:srgbClr val="F8F6F1"/>
                </a:solidFill>
                <a:latin typeface="Arial" pitchFamily="34" charset="0"/>
                <a:ea typeface="Arial" pitchFamily="34" charset="-122"/>
                <a:cs typeface="Arial" pitchFamily="34" charset="-120"/>
              </a:rPr>
              <a:t>Selection-phase SMEs · this group</a:t>
            </a:r>
            <a:endParaRPr lang="en-US" sz="1200" dirty="0"/>
          </a:p>
        </p:txBody>
      </p:sp>
      <p:sp>
        <p:nvSpPr>
          <p:cNvPr id="39" name="Shape 37"/>
          <p:cNvSpPr/>
          <p:nvPr/>
        </p:nvSpPr>
        <p:spPr>
          <a:xfrm>
            <a:off x="6908800" y="5080000"/>
            <a:ext cx="4470400" cy="355600"/>
          </a:xfrm>
          <a:prstGeom prst="rect">
            <a:avLst/>
          </a:prstGeom>
          <a:ln w="19050">
            <a:solidFill>
              <a:srgbClr val="CE8E00"/>
            </a:solidFill>
            <a:prstDash val="dash"/>
          </a:ln>
        </p:spPr>
      </p:sp>
      <p:sp>
        <p:nvSpPr>
          <p:cNvPr id="40" name="Text 38"/>
          <p:cNvSpPr txBox="1"/>
          <p:nvPr/>
        </p:nvSpPr>
        <p:spPr>
          <a:xfrm>
            <a:off x="7061200" y="5080000"/>
            <a:ext cx="4254500" cy="355600"/>
          </a:xfrm>
          <a:prstGeom prst="rect">
            <a:avLst/>
          </a:prstGeom>
          <a:noFill/>
          <a:ln/>
        </p:spPr>
        <p:txBody>
          <a:bodyPr wrap="square" lIns="0" tIns="0" rIns="0" bIns="0" rtlCol="0" anchor="ctr"/>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Pilot-branch SMEs · named as sites are identified</a:t>
            </a:r>
            <a:endParaRPr lang="en-US" sz="12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9AAAC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THE TIMELINE · OPTION C</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Quarter by quarter</a:t>
            </a:r>
            <a:endParaRPr lang="en-US" sz="4000" dirty="0"/>
          </a:p>
        </p:txBody>
      </p:sp>
      <p:sp>
        <p:nvSpPr>
          <p:cNvPr id="4" name="Shape 2"/>
          <p:cNvSpPr/>
          <p:nvPr/>
        </p:nvSpPr>
        <p:spPr>
          <a:xfrm>
            <a:off x="812800" y="1943100"/>
            <a:ext cx="2006600" cy="3746500"/>
          </a:xfrm>
          <a:prstGeom prst="rect">
            <a:avLst/>
          </a:prstGeom>
          <a:solidFill>
            <a:srgbClr val="FDFCFA"/>
          </a:solidFill>
          <a:ln w="9525">
            <a:solidFill>
              <a:srgbClr val="E3DED3"/>
            </a:solidFill>
            <a:prstDash val="solid"/>
          </a:ln>
        </p:spPr>
      </p:sp>
      <p:sp>
        <p:nvSpPr>
          <p:cNvPr id="5" name="Text 3"/>
          <p:cNvSpPr txBox="1"/>
          <p:nvPr/>
        </p:nvSpPr>
        <p:spPr>
          <a:xfrm>
            <a:off x="1016000" y="2146300"/>
            <a:ext cx="16510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5A6472"/>
                </a:solidFill>
                <a:latin typeface="Arial" pitchFamily="34" charset="0"/>
                <a:ea typeface="Arial" pitchFamily="34" charset="-122"/>
                <a:cs typeface="Arial" pitchFamily="34" charset="-120"/>
              </a:rPr>
              <a:t>Q3 2026 · DONE</a:t>
            </a:r>
            <a:endParaRPr lang="en-US" sz="1200" dirty="0"/>
          </a:p>
        </p:txBody>
      </p:sp>
      <p:sp>
        <p:nvSpPr>
          <p:cNvPr id="6" name="Text 4"/>
          <p:cNvSpPr txBox="1"/>
          <p:nvPr/>
        </p:nvSpPr>
        <p:spPr>
          <a:xfrm>
            <a:off x="1016000" y="2489200"/>
            <a:ext cx="1600200" cy="190500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Initiative conceptualization</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Vendor identification</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RFP narrows the field to six</a:t>
            </a:r>
            <a:endParaRPr lang="en-US" sz="1300" dirty="0"/>
          </a:p>
        </p:txBody>
      </p:sp>
      <p:sp>
        <p:nvSpPr>
          <p:cNvPr id="7" name="Shape 5"/>
          <p:cNvSpPr/>
          <p:nvPr/>
        </p:nvSpPr>
        <p:spPr>
          <a:xfrm>
            <a:off x="2921000" y="1943100"/>
            <a:ext cx="4241800" cy="3746500"/>
          </a:xfrm>
          <a:prstGeom prst="rect">
            <a:avLst/>
          </a:prstGeom>
          <a:solidFill>
            <a:srgbClr val="002554"/>
          </a:solidFill>
          <a:ln/>
        </p:spPr>
      </p:sp>
      <p:sp>
        <p:nvSpPr>
          <p:cNvPr id="8" name="Text 6"/>
          <p:cNvSpPr txBox="1"/>
          <p:nvPr/>
        </p:nvSpPr>
        <p:spPr>
          <a:xfrm>
            <a:off x="3124200" y="2146300"/>
            <a:ext cx="38100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CE8E00"/>
                </a:solidFill>
                <a:latin typeface="Arial" pitchFamily="34" charset="0"/>
                <a:ea typeface="Arial" pitchFamily="34" charset="-122"/>
                <a:cs typeface="Arial" pitchFamily="34" charset="-120"/>
              </a:rPr>
              <a:t>Q4 2026 · NOW</a:t>
            </a:r>
            <a:endParaRPr lang="en-US" sz="1200" dirty="0"/>
          </a:p>
        </p:txBody>
      </p:sp>
      <p:sp>
        <p:nvSpPr>
          <p:cNvPr id="9" name="Shape 7"/>
          <p:cNvSpPr/>
          <p:nvPr/>
        </p:nvSpPr>
        <p:spPr>
          <a:xfrm>
            <a:off x="3124200" y="2489200"/>
            <a:ext cx="3835400" cy="0"/>
          </a:xfrm>
          <a:prstGeom prst="line">
            <a:avLst/>
          </a:prstGeom>
          <a:noFill/>
          <a:ln w="9525">
            <a:solidFill>
              <a:srgbClr val="2A4A78"/>
            </a:solidFill>
            <a:prstDash val="solid"/>
          </a:ln>
        </p:spPr>
      </p:sp>
      <p:sp>
        <p:nvSpPr>
          <p:cNvPr id="10" name="Text 8"/>
          <p:cNvSpPr txBox="1"/>
          <p:nvPr/>
        </p:nvSpPr>
        <p:spPr>
          <a:xfrm>
            <a:off x="3124200" y="2590800"/>
            <a:ext cx="4572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Oct</a:t>
            </a:r>
            <a:endParaRPr lang="en-US" sz="1200" dirty="0"/>
          </a:p>
        </p:txBody>
      </p:sp>
      <p:sp>
        <p:nvSpPr>
          <p:cNvPr id="11" name="Text 9"/>
          <p:cNvSpPr txBox="1"/>
          <p:nvPr/>
        </p:nvSpPr>
        <p:spPr>
          <a:xfrm>
            <a:off x="3733800" y="2590800"/>
            <a:ext cx="3225800" cy="10795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C9D3E0"/>
                </a:solidFill>
                <a:latin typeface="Arial" pitchFamily="34" charset="0"/>
                <a:ea typeface="Arial" pitchFamily="34" charset="-122"/>
                <a:cs typeface="Arial" pitchFamily="34" charset="-120"/>
              </a:rPr>
              <a:t>Six narrowed to three</a:t>
            </a:r>
            <a:endParaRPr lang="en-US" sz="1300" dirty="0"/>
          </a:p>
          <a:p>
            <a:pPr marL="177800" indent="-177800">
              <a:spcAft>
                <a:spcPts val="600"/>
              </a:spcAft>
              <a:buSzPct val="100000"/>
              <a:buChar char="•"/>
            </a:pPr>
            <a:r>
              <a:rPr lang="en-US" sz="1300" b="1" dirty="0">
                <a:solidFill>
                  <a:srgbClr val="F8F6F1"/>
                </a:solidFill>
                <a:latin typeface="Arial" pitchFamily="34" charset="0"/>
                <a:ea typeface="Arial" pitchFamily="34" charset="-122"/>
                <a:cs typeface="Arial" pitchFamily="34" charset="-120"/>
              </a:rPr>
              <a:t>Nashville on-site · Wed–Fri, Oct 21–23</a:t>
            </a:r>
            <a:endParaRPr lang="en-US" sz="1300" dirty="0"/>
          </a:p>
          <a:p>
            <a:pPr marL="177800" indent="-177800">
              <a:spcAft>
                <a:spcPts val="600"/>
              </a:spcAft>
              <a:buSzPct val="100000"/>
              <a:buChar char="•"/>
            </a:pPr>
            <a:r>
              <a:rPr lang="en-US" sz="1300" dirty="0">
                <a:solidFill>
                  <a:srgbClr val="C9D3E0"/>
                </a:solidFill>
                <a:latin typeface="Arial" pitchFamily="34" charset="0"/>
                <a:ea typeface="Arial" pitchFamily="34" charset="-122"/>
                <a:cs typeface="Arial" pitchFamily="34" charset="-120"/>
              </a:rPr>
              <a:t>Narrow to two · 1–2 weeks</a:t>
            </a:r>
            <a:endParaRPr lang="en-US" sz="1300" dirty="0"/>
          </a:p>
        </p:txBody>
      </p:sp>
      <p:sp>
        <p:nvSpPr>
          <p:cNvPr id="12" name="Shape 10"/>
          <p:cNvSpPr/>
          <p:nvPr/>
        </p:nvSpPr>
        <p:spPr>
          <a:xfrm>
            <a:off x="3124200" y="3721100"/>
            <a:ext cx="3835400" cy="0"/>
          </a:xfrm>
          <a:prstGeom prst="line">
            <a:avLst/>
          </a:prstGeom>
          <a:noFill/>
          <a:ln w="9525">
            <a:solidFill>
              <a:srgbClr val="2A4A78"/>
            </a:solidFill>
            <a:prstDash val="solid"/>
          </a:ln>
        </p:spPr>
      </p:sp>
      <p:sp>
        <p:nvSpPr>
          <p:cNvPr id="13" name="Text 11"/>
          <p:cNvSpPr txBox="1"/>
          <p:nvPr/>
        </p:nvSpPr>
        <p:spPr>
          <a:xfrm>
            <a:off x="3124200" y="3822700"/>
            <a:ext cx="4572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Nov</a:t>
            </a:r>
            <a:endParaRPr lang="en-US" sz="1200" dirty="0"/>
          </a:p>
        </p:txBody>
      </p:sp>
      <p:sp>
        <p:nvSpPr>
          <p:cNvPr id="14" name="Text 12"/>
          <p:cNvSpPr txBox="1"/>
          <p:nvPr/>
        </p:nvSpPr>
        <p:spPr>
          <a:xfrm>
            <a:off x="3733800" y="3822700"/>
            <a:ext cx="3225800" cy="6985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C9D3E0"/>
                </a:solidFill>
                <a:latin typeface="Arial" pitchFamily="34" charset="0"/>
                <a:ea typeface="Arial" pitchFamily="34" charset="-122"/>
                <a:cs typeface="Arial" pitchFamily="34" charset="-120"/>
              </a:rPr>
              <a:t>Contract negotiations</a:t>
            </a:r>
            <a:endParaRPr lang="en-US" sz="1300" dirty="0"/>
          </a:p>
          <a:p>
            <a:pPr marL="177800" indent="-177800">
              <a:spcAft>
                <a:spcPts val="600"/>
              </a:spcAft>
              <a:buSzPct val="100000"/>
              <a:buChar char="•"/>
            </a:pPr>
            <a:r>
              <a:rPr lang="en-US" sz="1300" dirty="0">
                <a:solidFill>
                  <a:srgbClr val="C9D3E0"/>
                </a:solidFill>
                <a:latin typeface="Arial" pitchFamily="34" charset="0"/>
                <a:ea typeface="Arial" pitchFamily="34" charset="-122"/>
                <a:cs typeface="Arial" pitchFamily="34" charset="-120"/>
              </a:rPr>
              <a:t>Scoping and site identification begin</a:t>
            </a:r>
            <a:endParaRPr lang="en-US" sz="1300" dirty="0"/>
          </a:p>
        </p:txBody>
      </p:sp>
      <p:sp>
        <p:nvSpPr>
          <p:cNvPr id="15" name="Shape 13"/>
          <p:cNvSpPr/>
          <p:nvPr/>
        </p:nvSpPr>
        <p:spPr>
          <a:xfrm>
            <a:off x="3124200" y="4572000"/>
            <a:ext cx="3835400" cy="0"/>
          </a:xfrm>
          <a:prstGeom prst="line">
            <a:avLst/>
          </a:prstGeom>
          <a:noFill/>
          <a:ln w="9525">
            <a:solidFill>
              <a:srgbClr val="2A4A78"/>
            </a:solidFill>
            <a:prstDash val="solid"/>
          </a:ln>
        </p:spPr>
      </p:sp>
      <p:sp>
        <p:nvSpPr>
          <p:cNvPr id="16" name="Text 14"/>
          <p:cNvSpPr txBox="1"/>
          <p:nvPr/>
        </p:nvSpPr>
        <p:spPr>
          <a:xfrm>
            <a:off x="3124200" y="4673600"/>
            <a:ext cx="457200" cy="215900"/>
          </a:xfrm>
          <a:prstGeom prst="rect">
            <a:avLst/>
          </a:prstGeom>
          <a:noFill/>
          <a:ln/>
        </p:spPr>
        <p:txBody>
          <a:bodyPr wrap="square" lIns="0" tIns="0" rIns="0" bIns="0" rtlCol="0" anchor="t"/>
          <a:lstStyle/>
          <a:p>
            <a:pPr algn="l" indent="0" marL="0">
              <a:lnSpc>
                <a:spcPct val="110000"/>
              </a:lnSpc>
              <a:buNone/>
            </a:pPr>
            <a:r>
              <a:rPr lang="en-US" sz="1200" b="1" dirty="0">
                <a:solidFill>
                  <a:srgbClr val="CE8E00"/>
                </a:solidFill>
                <a:latin typeface="Arial" pitchFamily="34" charset="0"/>
                <a:ea typeface="Arial" pitchFamily="34" charset="-122"/>
                <a:cs typeface="Arial" pitchFamily="34" charset="-120"/>
              </a:rPr>
              <a:t>Dec</a:t>
            </a:r>
            <a:endParaRPr lang="en-US" sz="1200" dirty="0"/>
          </a:p>
        </p:txBody>
      </p:sp>
      <p:sp>
        <p:nvSpPr>
          <p:cNvPr id="17" name="Text 15"/>
          <p:cNvSpPr txBox="1"/>
          <p:nvPr/>
        </p:nvSpPr>
        <p:spPr>
          <a:xfrm>
            <a:off x="3733800" y="4673600"/>
            <a:ext cx="3225800" cy="4445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C9D3E0"/>
                </a:solidFill>
                <a:latin typeface="Arial" pitchFamily="34" charset="0"/>
                <a:ea typeface="Arial" pitchFamily="34" charset="-122"/>
                <a:cs typeface="Arial" pitchFamily="34" charset="-120"/>
              </a:rPr>
              <a:t>Product scoping and pilot site identification</a:t>
            </a:r>
            <a:endParaRPr lang="en-US" sz="1300" dirty="0"/>
          </a:p>
        </p:txBody>
      </p:sp>
      <p:sp>
        <p:nvSpPr>
          <p:cNvPr id="18" name="Shape 16"/>
          <p:cNvSpPr/>
          <p:nvPr/>
        </p:nvSpPr>
        <p:spPr>
          <a:xfrm>
            <a:off x="3124200" y="5257800"/>
            <a:ext cx="2667000" cy="279400"/>
          </a:xfrm>
          <a:prstGeom prst="rect">
            <a:avLst/>
          </a:prstGeom>
          <a:solidFill>
            <a:srgbClr val="CE8E00"/>
          </a:solidFill>
          <a:ln/>
        </p:spPr>
      </p:sp>
      <p:sp>
        <p:nvSpPr>
          <p:cNvPr id="19" name="Text 17"/>
          <p:cNvSpPr txBox="1"/>
          <p:nvPr/>
        </p:nvSpPr>
        <p:spPr>
          <a:xfrm>
            <a:off x="3225800" y="5257800"/>
            <a:ext cx="2540000" cy="279400"/>
          </a:xfrm>
          <a:prstGeom prst="rect">
            <a:avLst/>
          </a:prstGeom>
          <a:noFill/>
          <a:ln/>
        </p:spPr>
        <p:txBody>
          <a:bodyPr wrap="square" lIns="0" tIns="0" rIns="0" bIns="0" rtlCol="0" anchor="ctr"/>
          <a:lstStyle/>
          <a:p>
            <a:pPr algn="l" indent="0" marL="0">
              <a:lnSpc>
                <a:spcPct val="110000"/>
              </a:lnSpc>
              <a:buNone/>
            </a:pPr>
            <a:r>
              <a:rPr lang="en-US" sz="1200" b="1" dirty="0">
                <a:solidFill>
                  <a:srgbClr val="002554"/>
                </a:solidFill>
                <a:latin typeface="Arial" pitchFamily="34" charset="0"/>
                <a:ea typeface="Arial" pitchFamily="34" charset="-122"/>
                <a:cs typeface="Arial" pitchFamily="34" charset="-120"/>
              </a:rPr>
              <a:t>Selection-phase SMEs · this group</a:t>
            </a:r>
            <a:endParaRPr lang="en-US" sz="1200" dirty="0"/>
          </a:p>
        </p:txBody>
      </p:sp>
      <p:sp>
        <p:nvSpPr>
          <p:cNvPr id="20" name="Shape 18"/>
          <p:cNvSpPr/>
          <p:nvPr/>
        </p:nvSpPr>
        <p:spPr>
          <a:xfrm>
            <a:off x="7264400" y="1943100"/>
            <a:ext cx="2006600" cy="3746500"/>
          </a:xfrm>
          <a:prstGeom prst="rect">
            <a:avLst/>
          </a:prstGeom>
          <a:solidFill>
            <a:srgbClr val="FDFCFA"/>
          </a:solidFill>
          <a:ln w="9525">
            <a:solidFill>
              <a:srgbClr val="D6D0C2"/>
            </a:solidFill>
            <a:prstDash val="dash"/>
          </a:ln>
        </p:spPr>
      </p:sp>
      <p:sp>
        <p:nvSpPr>
          <p:cNvPr id="21" name="Text 19"/>
          <p:cNvSpPr txBox="1"/>
          <p:nvPr/>
        </p:nvSpPr>
        <p:spPr>
          <a:xfrm>
            <a:off x="7467600" y="2146300"/>
            <a:ext cx="16002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8A5F00"/>
                </a:solidFill>
                <a:latin typeface="Arial" pitchFamily="34" charset="0"/>
                <a:ea typeface="Arial" pitchFamily="34" charset="-122"/>
                <a:cs typeface="Arial" pitchFamily="34" charset="-120"/>
              </a:rPr>
              <a:t>Q1 2027</a:t>
            </a:r>
            <a:endParaRPr lang="en-US" sz="1200" dirty="0"/>
          </a:p>
        </p:txBody>
      </p:sp>
      <p:sp>
        <p:nvSpPr>
          <p:cNvPr id="22" name="Shape 20"/>
          <p:cNvSpPr/>
          <p:nvPr/>
        </p:nvSpPr>
        <p:spPr>
          <a:xfrm>
            <a:off x="7467600" y="2489200"/>
            <a:ext cx="1600200" cy="279400"/>
          </a:xfrm>
          <a:prstGeom prst="rect">
            <a:avLst/>
          </a:prstGeom>
          <a:ln w="19050">
            <a:solidFill>
              <a:srgbClr val="CE8E00"/>
            </a:solidFill>
            <a:prstDash val="dash"/>
          </a:ln>
        </p:spPr>
      </p:sp>
      <p:sp>
        <p:nvSpPr>
          <p:cNvPr id="23" name="Text 21"/>
          <p:cNvSpPr txBox="1"/>
          <p:nvPr/>
        </p:nvSpPr>
        <p:spPr>
          <a:xfrm>
            <a:off x="7543800" y="2489200"/>
            <a:ext cx="1498600" cy="279400"/>
          </a:xfrm>
          <a:prstGeom prst="rect">
            <a:avLst/>
          </a:prstGeom>
          <a:noFill/>
          <a:ln/>
        </p:spPr>
        <p:txBody>
          <a:bodyPr wrap="square" lIns="0" tIns="0" rIns="0" bIns="0" rtlCol="0" anchor="ctr"/>
          <a:lstStyle/>
          <a:p>
            <a:pPr algn="l" indent="0" marL="0">
              <a:lnSpc>
                <a:spcPct val="110000"/>
              </a:lnSpc>
              <a:buNone/>
            </a:pPr>
            <a:r>
              <a:rPr lang="en-US" sz="1200" b="1" dirty="0">
                <a:solidFill>
                  <a:srgbClr val="8A5F00"/>
                </a:solidFill>
                <a:latin typeface="Arial" pitchFamily="34" charset="0"/>
                <a:ea typeface="Arial" pitchFamily="34" charset="-122"/>
                <a:cs typeface="Arial" pitchFamily="34" charset="-120"/>
              </a:rPr>
              <a:t>Pilot-branch SMEs</a:t>
            </a:r>
            <a:endParaRPr lang="en-US" sz="1200" dirty="0"/>
          </a:p>
        </p:txBody>
      </p:sp>
      <p:sp>
        <p:nvSpPr>
          <p:cNvPr id="24" name="Shape 22"/>
          <p:cNvSpPr/>
          <p:nvPr/>
        </p:nvSpPr>
        <p:spPr>
          <a:xfrm>
            <a:off x="7467600" y="3302000"/>
            <a:ext cx="1600200" cy="0"/>
          </a:xfrm>
          <a:prstGeom prst="line">
            <a:avLst/>
          </a:prstGeom>
          <a:noFill/>
          <a:ln w="9525">
            <a:solidFill>
              <a:srgbClr val="E3DED3"/>
            </a:solidFill>
            <a:prstDash val="solid"/>
          </a:ln>
        </p:spPr>
      </p:sp>
      <p:sp>
        <p:nvSpPr>
          <p:cNvPr id="25" name="Shape 23"/>
          <p:cNvSpPr/>
          <p:nvPr/>
        </p:nvSpPr>
        <p:spPr>
          <a:xfrm>
            <a:off x="7467600" y="3708400"/>
            <a:ext cx="1600200" cy="0"/>
          </a:xfrm>
          <a:prstGeom prst="line">
            <a:avLst/>
          </a:prstGeom>
          <a:noFill/>
          <a:ln w="9525">
            <a:solidFill>
              <a:srgbClr val="E3DED3"/>
            </a:solidFill>
            <a:prstDash val="solid"/>
          </a:ln>
        </p:spPr>
      </p:sp>
      <p:sp>
        <p:nvSpPr>
          <p:cNvPr id="26" name="Shape 24"/>
          <p:cNvSpPr/>
          <p:nvPr/>
        </p:nvSpPr>
        <p:spPr>
          <a:xfrm>
            <a:off x="7467600" y="4114800"/>
            <a:ext cx="1600200" cy="0"/>
          </a:xfrm>
          <a:prstGeom prst="line">
            <a:avLst/>
          </a:prstGeom>
          <a:noFill/>
          <a:ln w="9525">
            <a:solidFill>
              <a:srgbClr val="E3DED3"/>
            </a:solidFill>
            <a:prstDash val="solid"/>
          </a:ln>
        </p:spPr>
      </p:sp>
      <p:sp>
        <p:nvSpPr>
          <p:cNvPr id="27" name="Shape 25"/>
          <p:cNvSpPr/>
          <p:nvPr/>
        </p:nvSpPr>
        <p:spPr>
          <a:xfrm>
            <a:off x="7467600" y="4521200"/>
            <a:ext cx="1600200" cy="0"/>
          </a:xfrm>
          <a:prstGeom prst="line">
            <a:avLst/>
          </a:prstGeom>
          <a:noFill/>
          <a:ln w="9525">
            <a:solidFill>
              <a:srgbClr val="E3DED3"/>
            </a:solidFill>
            <a:prstDash val="solid"/>
          </a:ln>
        </p:spPr>
      </p:sp>
      <p:sp>
        <p:nvSpPr>
          <p:cNvPr id="28" name="Shape 26"/>
          <p:cNvSpPr/>
          <p:nvPr/>
        </p:nvSpPr>
        <p:spPr>
          <a:xfrm>
            <a:off x="7467600" y="4927600"/>
            <a:ext cx="1600200" cy="0"/>
          </a:xfrm>
          <a:prstGeom prst="line">
            <a:avLst/>
          </a:prstGeom>
          <a:noFill/>
          <a:ln w="9525">
            <a:solidFill>
              <a:srgbClr val="E3DED3"/>
            </a:solidFill>
            <a:prstDash val="solid"/>
          </a:ln>
        </p:spPr>
      </p:sp>
      <p:sp>
        <p:nvSpPr>
          <p:cNvPr id="29" name="Shape 27"/>
          <p:cNvSpPr/>
          <p:nvPr/>
        </p:nvSpPr>
        <p:spPr>
          <a:xfrm>
            <a:off x="9372600" y="1943100"/>
            <a:ext cx="2006600" cy="3746500"/>
          </a:xfrm>
          <a:prstGeom prst="rect">
            <a:avLst/>
          </a:prstGeom>
          <a:solidFill>
            <a:srgbClr val="FDFCFA"/>
          </a:solidFill>
          <a:ln w="9525">
            <a:solidFill>
              <a:srgbClr val="D6D0C2"/>
            </a:solidFill>
            <a:prstDash val="dash"/>
          </a:ln>
        </p:spPr>
      </p:sp>
      <p:sp>
        <p:nvSpPr>
          <p:cNvPr id="30" name="Text 28"/>
          <p:cNvSpPr txBox="1"/>
          <p:nvPr/>
        </p:nvSpPr>
        <p:spPr>
          <a:xfrm>
            <a:off x="9575800" y="2146300"/>
            <a:ext cx="16002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8A5F00"/>
                </a:solidFill>
                <a:latin typeface="Arial" pitchFamily="34" charset="0"/>
                <a:ea typeface="Arial" pitchFamily="34" charset="-122"/>
                <a:cs typeface="Arial" pitchFamily="34" charset="-120"/>
              </a:rPr>
              <a:t>Q2 2027</a:t>
            </a:r>
            <a:endParaRPr lang="en-US" sz="1200" dirty="0"/>
          </a:p>
        </p:txBody>
      </p:sp>
      <p:sp>
        <p:nvSpPr>
          <p:cNvPr id="31" name="Shape 29"/>
          <p:cNvSpPr/>
          <p:nvPr/>
        </p:nvSpPr>
        <p:spPr>
          <a:xfrm>
            <a:off x="9575800" y="2895600"/>
            <a:ext cx="1600200" cy="0"/>
          </a:xfrm>
          <a:prstGeom prst="line">
            <a:avLst/>
          </a:prstGeom>
          <a:noFill/>
          <a:ln w="9525">
            <a:solidFill>
              <a:srgbClr val="E3DED3"/>
            </a:solidFill>
            <a:prstDash val="solid"/>
          </a:ln>
        </p:spPr>
      </p:sp>
      <p:sp>
        <p:nvSpPr>
          <p:cNvPr id="32" name="Shape 30"/>
          <p:cNvSpPr/>
          <p:nvPr/>
        </p:nvSpPr>
        <p:spPr>
          <a:xfrm>
            <a:off x="9575800" y="3302000"/>
            <a:ext cx="1600200" cy="0"/>
          </a:xfrm>
          <a:prstGeom prst="line">
            <a:avLst/>
          </a:prstGeom>
          <a:noFill/>
          <a:ln w="9525">
            <a:solidFill>
              <a:srgbClr val="E3DED3"/>
            </a:solidFill>
            <a:prstDash val="solid"/>
          </a:ln>
        </p:spPr>
      </p:sp>
      <p:sp>
        <p:nvSpPr>
          <p:cNvPr id="33" name="Shape 31"/>
          <p:cNvSpPr/>
          <p:nvPr/>
        </p:nvSpPr>
        <p:spPr>
          <a:xfrm>
            <a:off x="9575800" y="3708400"/>
            <a:ext cx="1600200" cy="0"/>
          </a:xfrm>
          <a:prstGeom prst="line">
            <a:avLst/>
          </a:prstGeom>
          <a:noFill/>
          <a:ln w="9525">
            <a:solidFill>
              <a:srgbClr val="E3DED3"/>
            </a:solidFill>
            <a:prstDash val="solid"/>
          </a:ln>
        </p:spPr>
      </p:sp>
      <p:sp>
        <p:nvSpPr>
          <p:cNvPr id="34" name="Shape 32"/>
          <p:cNvSpPr/>
          <p:nvPr/>
        </p:nvSpPr>
        <p:spPr>
          <a:xfrm>
            <a:off x="9575800" y="4114800"/>
            <a:ext cx="1600200" cy="0"/>
          </a:xfrm>
          <a:prstGeom prst="line">
            <a:avLst/>
          </a:prstGeom>
          <a:noFill/>
          <a:ln w="9525">
            <a:solidFill>
              <a:srgbClr val="E3DED3"/>
            </a:solidFill>
            <a:prstDash val="solid"/>
          </a:ln>
        </p:spPr>
      </p:sp>
      <p:sp>
        <p:nvSpPr>
          <p:cNvPr id="35" name="Shape 33"/>
          <p:cNvSpPr/>
          <p:nvPr/>
        </p:nvSpPr>
        <p:spPr>
          <a:xfrm>
            <a:off x="9575800" y="4521200"/>
            <a:ext cx="1600200" cy="0"/>
          </a:xfrm>
          <a:prstGeom prst="line">
            <a:avLst/>
          </a:prstGeom>
          <a:noFill/>
          <a:ln w="9525">
            <a:solidFill>
              <a:srgbClr val="E3DED3"/>
            </a:solidFill>
            <a:prstDash val="solid"/>
          </a:ln>
        </p:spPr>
      </p:sp>
      <p:sp>
        <p:nvSpPr>
          <p:cNvPr id="36" name="Shape 34"/>
          <p:cNvSpPr/>
          <p:nvPr/>
        </p:nvSpPr>
        <p:spPr>
          <a:xfrm>
            <a:off x="9575800" y="4927600"/>
            <a:ext cx="1600200" cy="0"/>
          </a:xfrm>
          <a:prstGeom prst="line">
            <a:avLst/>
          </a:prstGeom>
          <a:noFill/>
          <a:ln w="9525">
            <a:solidFill>
              <a:srgbClr val="E3DED3"/>
            </a:solidFill>
            <a:prstDash val="solid"/>
          </a:ln>
        </p:spPr>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002554"/>
                </a:solidFill>
                <a:latin typeface="Arial" pitchFamily="34" charset="0"/>
                <a:ea typeface="Arial" pitchFamily="34" charset="-122"/>
                <a:cs typeface="Arial" pitchFamily="34" charset="-120"/>
              </a:rPr>
              <a:t>WHY SUBJECT MATTER EXPERTS</a:t>
            </a:r>
            <a:endParaRPr lang="en-US" sz="1200" dirty="0"/>
          </a:p>
        </p:txBody>
      </p:sp>
      <p:sp>
        <p:nvSpPr>
          <p:cNvPr id="3" name="Text 1"/>
          <p:cNvSpPr txBox="1"/>
          <p:nvPr/>
        </p:nvSpPr>
        <p:spPr>
          <a:xfrm>
            <a:off x="812800" y="1905000"/>
            <a:ext cx="9525000" cy="2286000"/>
          </a:xfrm>
          <a:prstGeom prst="rect">
            <a:avLst/>
          </a:prstGeom>
          <a:noFill/>
          <a:ln/>
        </p:spPr>
        <p:txBody>
          <a:bodyPr wrap="square" lIns="0" tIns="0" rIns="0" bIns="0" rtlCol="0" anchor="ctr"/>
          <a:lstStyle/>
          <a:p>
            <a:pPr indent="0" marL="0">
              <a:lnSpc>
                <a:spcPct val="105000"/>
              </a:lnSpc>
              <a:buNone/>
            </a:pPr>
            <a:r>
              <a:rPr lang="en-US" sz="4800" dirty="0">
                <a:solidFill>
                  <a:srgbClr val="002554"/>
                </a:solidFill>
                <a:latin typeface="Maven Pro" pitchFamily="34" charset="0"/>
                <a:ea typeface="Maven Pro" pitchFamily="34" charset="-122"/>
                <a:cs typeface="Maven Pro" pitchFamily="34" charset="-120"/>
              </a:rPr>
              <a:t>The best judges of a tool are the people who will </a:t>
            </a:r>
            <a:pPr indent="0" marL="0">
              <a:lnSpc>
                <a:spcPct val="105000"/>
              </a:lnSpc>
              <a:buNone/>
            </a:pPr>
            <a:r>
              <a:rPr lang="en-US" sz="4800" b="1" dirty="0">
                <a:solidFill>
                  <a:srgbClr val="002554"/>
                </a:solidFill>
                <a:latin typeface="Maven Pro" pitchFamily="34" charset="0"/>
                <a:ea typeface="Maven Pro" pitchFamily="34" charset="-122"/>
                <a:cs typeface="Maven Pro" pitchFamily="34" charset="-120"/>
              </a:rPr>
              <a:t>use it every day.</a:t>
            </a:r>
            <a:endParaRPr lang="en-US" sz="4800" dirty="0"/>
          </a:p>
        </p:txBody>
      </p:sp>
      <p:sp>
        <p:nvSpPr>
          <p:cNvPr id="4" name="Text 2"/>
          <p:cNvSpPr txBox="1"/>
          <p:nvPr/>
        </p:nvSpPr>
        <p:spPr>
          <a:xfrm>
            <a:off x="812800" y="4826000"/>
            <a:ext cx="7620000" cy="698500"/>
          </a:xfrm>
          <a:prstGeom prst="rect">
            <a:avLst/>
          </a:prstGeom>
          <a:noFill/>
          <a:ln/>
        </p:spPr>
        <p:txBody>
          <a:bodyPr wrap="square" lIns="0" tIns="0" rIns="0" bIns="0" rtlCol="0" anchor="t"/>
          <a:lstStyle/>
          <a:p>
            <a:pPr algn="l" indent="0" marL="0">
              <a:lnSpc>
                <a:spcPct val="125000"/>
              </a:lnSpc>
              <a:buNone/>
            </a:pPr>
            <a:r>
              <a:rPr lang="en-US" sz="1600" dirty="0">
                <a:solidFill>
                  <a:srgbClr val="002554"/>
                </a:solidFill>
                <a:latin typeface="Arial" pitchFamily="34" charset="0"/>
                <a:ea typeface="Arial" pitchFamily="34" charset="-122"/>
                <a:cs typeface="Arial" pitchFamily="34" charset="-120"/>
              </a:rPr>
              <a:t>Vendors will show us what their products can do. Our subject matter experts will tell us whether they work here.</a:t>
            </a:r>
            <a:endParaRPr lang="en-US" sz="16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002554"/>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WHO WE NEED, AND WHEN</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Two phases, two groups of experts</a:t>
            </a:r>
            <a:endParaRPr lang="en-US" sz="4000" dirty="0"/>
          </a:p>
        </p:txBody>
      </p:sp>
      <p:sp>
        <p:nvSpPr>
          <p:cNvPr id="4" name="Shape 2"/>
          <p:cNvSpPr/>
          <p:nvPr/>
        </p:nvSpPr>
        <p:spPr>
          <a:xfrm>
            <a:off x="812800" y="2044700"/>
            <a:ext cx="4724400" cy="3556000"/>
          </a:xfrm>
          <a:prstGeom prst="rect">
            <a:avLst/>
          </a:prstGeom>
          <a:solidFill>
            <a:srgbClr val="002554"/>
          </a:solidFill>
          <a:ln w="9525">
            <a:solidFill>
              <a:srgbClr val="002554"/>
            </a:solidFill>
            <a:prstDash val="solid"/>
          </a:ln>
        </p:spPr>
      </p:sp>
      <p:sp>
        <p:nvSpPr>
          <p:cNvPr id="5" name="Text 3"/>
          <p:cNvSpPr txBox="1"/>
          <p:nvPr/>
        </p:nvSpPr>
        <p:spPr>
          <a:xfrm>
            <a:off x="1168400" y="2400300"/>
            <a:ext cx="40132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CE8E00"/>
                </a:solidFill>
                <a:latin typeface="Arial" pitchFamily="34" charset="0"/>
                <a:ea typeface="Arial" pitchFamily="34" charset="-122"/>
                <a:cs typeface="Arial" pitchFamily="34" charset="-120"/>
              </a:rPr>
              <a:t>NOW · SELECTION PHASE</a:t>
            </a:r>
            <a:endParaRPr lang="en-US" sz="1200" dirty="0"/>
          </a:p>
        </p:txBody>
      </p:sp>
      <p:sp>
        <p:nvSpPr>
          <p:cNvPr id="6" name="Text 4"/>
          <p:cNvSpPr txBox="1"/>
          <p:nvPr/>
        </p:nvSpPr>
        <p:spPr>
          <a:xfrm>
            <a:off x="1168400" y="2743200"/>
            <a:ext cx="4013200" cy="406400"/>
          </a:xfrm>
          <a:prstGeom prst="rect">
            <a:avLst/>
          </a:prstGeom>
          <a:noFill/>
          <a:ln/>
        </p:spPr>
        <p:txBody>
          <a:bodyPr wrap="square" lIns="0" tIns="0" rIns="0" bIns="0" rtlCol="0" anchor="t"/>
          <a:lstStyle/>
          <a:p>
            <a:pPr algn="l" indent="0" marL="0">
              <a:lnSpc>
                <a:spcPct val="110000"/>
              </a:lnSpc>
              <a:buNone/>
            </a:pPr>
            <a:r>
              <a:rPr lang="en-US" sz="2400" dirty="0">
                <a:solidFill>
                  <a:srgbClr val="F8F6F1"/>
                </a:solidFill>
                <a:latin typeface="Maven Pro" pitchFamily="34" charset="0"/>
                <a:ea typeface="Maven Pro" pitchFamily="34" charset="-122"/>
                <a:cs typeface="Maven Pro" pitchFamily="34" charset="-120"/>
              </a:rPr>
              <a:t>Vendor selection SMEs</a:t>
            </a:r>
            <a:endParaRPr lang="en-US" sz="2400" dirty="0"/>
          </a:p>
        </p:txBody>
      </p:sp>
      <p:sp>
        <p:nvSpPr>
          <p:cNvPr id="7" name="Text 5"/>
          <p:cNvSpPr txBox="1"/>
          <p:nvPr/>
        </p:nvSpPr>
        <p:spPr>
          <a:xfrm>
            <a:off x="1168400" y="3276600"/>
            <a:ext cx="4013200" cy="825500"/>
          </a:xfrm>
          <a:prstGeom prst="rect">
            <a:avLst/>
          </a:prstGeom>
          <a:noFill/>
          <a:ln/>
        </p:spPr>
        <p:txBody>
          <a:bodyPr wrap="square" lIns="0" tIns="0" rIns="0" bIns="0" rtlCol="0" anchor="t"/>
          <a:lstStyle/>
          <a:p>
            <a:pPr algn="l" indent="0" marL="0">
              <a:lnSpc>
                <a:spcPct val="120000"/>
              </a:lnSpc>
              <a:buNone/>
            </a:pPr>
            <a:r>
              <a:rPr lang="en-US" sz="1400" dirty="0">
                <a:solidFill>
                  <a:srgbClr val="C9D3E0"/>
                </a:solidFill>
                <a:latin typeface="Arial" pitchFamily="34" charset="0"/>
                <a:ea typeface="Arial" pitchFamily="34" charset="-122"/>
                <a:cs typeface="Arial" pitchFamily="34" charset="-120"/>
              </a:rPr>
              <a:t>This group. You assess the three finalists on-site in Nashville and guide the choice to two platforms.</a:t>
            </a:r>
            <a:endParaRPr lang="en-US" sz="1400" dirty="0"/>
          </a:p>
        </p:txBody>
      </p:sp>
      <p:sp>
        <p:nvSpPr>
          <p:cNvPr id="8" name="Text 6"/>
          <p:cNvSpPr txBox="1"/>
          <p:nvPr/>
        </p:nvSpPr>
        <p:spPr>
          <a:xfrm>
            <a:off x="1168400" y="4254500"/>
            <a:ext cx="4013200" cy="114300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F8F6F1"/>
                </a:solidFill>
                <a:latin typeface="Arial" pitchFamily="34" charset="0"/>
                <a:ea typeface="Arial" pitchFamily="34" charset="-122"/>
                <a:cs typeface="Arial" pitchFamily="34" charset="-120"/>
              </a:rPr>
              <a:t>On-site assessments, Oct 21–23</a:t>
            </a:r>
            <a:endParaRPr lang="en-US" sz="1300" dirty="0"/>
          </a:p>
          <a:p>
            <a:pPr marL="177800" indent="-177800">
              <a:lnSpc>
                <a:spcPct val="105000"/>
              </a:lnSpc>
              <a:spcAft>
                <a:spcPts val="600"/>
              </a:spcAft>
              <a:buSzPct val="100000"/>
              <a:buChar char="•"/>
            </a:pPr>
            <a:r>
              <a:rPr lang="en-US" sz="1300" dirty="0">
                <a:solidFill>
                  <a:srgbClr val="F8F6F1"/>
                </a:solidFill>
                <a:latin typeface="Arial" pitchFamily="34" charset="0"/>
                <a:ea typeface="Arial" pitchFamily="34" charset="-122"/>
                <a:cs typeface="Arial" pitchFamily="34" charset="-120"/>
              </a:rPr>
              <a:t>One shared scorecard and debrief</a:t>
            </a:r>
            <a:endParaRPr lang="en-US" sz="1300" dirty="0"/>
          </a:p>
          <a:p>
            <a:pPr marL="177800" indent="-177800">
              <a:lnSpc>
                <a:spcPct val="105000"/>
              </a:lnSpc>
              <a:spcAft>
                <a:spcPts val="600"/>
              </a:spcAft>
              <a:buSzPct val="100000"/>
              <a:buChar char="•"/>
            </a:pPr>
            <a:r>
              <a:rPr lang="en-US" sz="1300" dirty="0">
                <a:solidFill>
                  <a:srgbClr val="F8F6F1"/>
                </a:solidFill>
                <a:latin typeface="Arial" pitchFamily="34" charset="0"/>
                <a:ea typeface="Arial" pitchFamily="34" charset="-122"/>
                <a:cs typeface="Arial" pitchFamily="34" charset="-120"/>
              </a:rPr>
              <a:t>Input to the recommendation</a:t>
            </a:r>
            <a:endParaRPr lang="en-US" sz="1300" dirty="0"/>
          </a:p>
        </p:txBody>
      </p:sp>
      <p:sp>
        <p:nvSpPr>
          <p:cNvPr id="9" name="Shape 7"/>
          <p:cNvSpPr/>
          <p:nvPr/>
        </p:nvSpPr>
        <p:spPr>
          <a:xfrm>
            <a:off x="6654800" y="2044700"/>
            <a:ext cx="4724400" cy="3556000"/>
          </a:xfrm>
          <a:prstGeom prst="rect">
            <a:avLst/>
          </a:prstGeom>
          <a:solidFill>
            <a:srgbClr val="FDFCFA"/>
          </a:solidFill>
          <a:ln w="19050">
            <a:solidFill>
              <a:srgbClr val="D6D0C2"/>
            </a:solidFill>
            <a:prstDash val="dash"/>
          </a:ln>
        </p:spPr>
      </p:sp>
      <p:sp>
        <p:nvSpPr>
          <p:cNvPr id="10" name="Text 8"/>
          <p:cNvSpPr txBox="1"/>
          <p:nvPr/>
        </p:nvSpPr>
        <p:spPr>
          <a:xfrm>
            <a:off x="7010400" y="2400300"/>
            <a:ext cx="40132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8A5F00"/>
                </a:solidFill>
                <a:latin typeface="Arial" pitchFamily="34" charset="0"/>
                <a:ea typeface="Arial" pitchFamily="34" charset="-122"/>
                <a:cs typeface="Arial" pitchFamily="34" charset="-120"/>
              </a:rPr>
              <a:t>NEXT · PILOT PHASE</a:t>
            </a:r>
            <a:endParaRPr lang="en-US" sz="1200" dirty="0"/>
          </a:p>
        </p:txBody>
      </p:sp>
      <p:sp>
        <p:nvSpPr>
          <p:cNvPr id="11" name="Text 9"/>
          <p:cNvSpPr txBox="1"/>
          <p:nvPr/>
        </p:nvSpPr>
        <p:spPr>
          <a:xfrm>
            <a:off x="7010400" y="2743200"/>
            <a:ext cx="4013200" cy="406400"/>
          </a:xfrm>
          <a:prstGeom prst="rect">
            <a:avLst/>
          </a:prstGeom>
          <a:noFill/>
          <a:ln/>
        </p:spPr>
        <p:txBody>
          <a:bodyPr wrap="square" lIns="0" tIns="0" rIns="0" bIns="0" rtlCol="0" anchor="t"/>
          <a:lstStyle/>
          <a:p>
            <a:pPr algn="l" indent="0" marL="0">
              <a:lnSpc>
                <a:spcPct val="110000"/>
              </a:lnSpc>
              <a:buNone/>
            </a:pPr>
            <a:r>
              <a:rPr lang="en-US" sz="2400" dirty="0">
                <a:solidFill>
                  <a:srgbClr val="002554"/>
                </a:solidFill>
                <a:latin typeface="Maven Pro" pitchFamily="34" charset="0"/>
                <a:ea typeface="Maven Pro" pitchFamily="34" charset="-122"/>
                <a:cs typeface="Maven Pro" pitchFamily="34" charset="-120"/>
              </a:rPr>
              <a:t>Pilot-branch SMEs</a:t>
            </a:r>
            <a:endParaRPr lang="en-US" sz="2400" dirty="0"/>
          </a:p>
        </p:txBody>
      </p:sp>
      <p:sp>
        <p:nvSpPr>
          <p:cNvPr id="12" name="Text 10"/>
          <p:cNvSpPr txBox="1"/>
          <p:nvPr/>
        </p:nvSpPr>
        <p:spPr>
          <a:xfrm>
            <a:off x="7010400" y="3276600"/>
            <a:ext cx="4013200" cy="825500"/>
          </a:xfrm>
          <a:prstGeom prst="rect">
            <a:avLst/>
          </a:prstGeom>
          <a:noFill/>
          <a:ln/>
        </p:spPr>
        <p:txBody>
          <a:bodyPr wrap="square" lIns="0" tIns="0" rIns="0" bIns="0" rtlCol="0" anchor="t"/>
          <a:lstStyle/>
          <a:p>
            <a:pPr algn="l" indent="0" marL="0">
              <a:lnSpc>
                <a:spcPct val="120000"/>
              </a:lnSpc>
              <a:buNone/>
            </a:pPr>
            <a:r>
              <a:rPr lang="en-US" sz="1400" dirty="0">
                <a:solidFill>
                  <a:srgbClr val="3D4A5C"/>
                </a:solidFill>
                <a:latin typeface="Arial" pitchFamily="34" charset="0"/>
                <a:ea typeface="Arial" pitchFamily="34" charset="-122"/>
                <a:cs typeface="Arial" pitchFamily="34" charset="-120"/>
              </a:rPr>
              <a:t>A second group, drawn from the branches chosen to pilot one of the two selected platforms.</a:t>
            </a:r>
            <a:endParaRPr lang="en-US" sz="1400" dirty="0"/>
          </a:p>
        </p:txBody>
      </p:sp>
      <p:sp>
        <p:nvSpPr>
          <p:cNvPr id="13" name="Text 11"/>
          <p:cNvSpPr txBox="1"/>
          <p:nvPr/>
        </p:nvSpPr>
        <p:spPr>
          <a:xfrm>
            <a:off x="7010400" y="4254500"/>
            <a:ext cx="4013200" cy="114300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Named once pilot branches are set</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Shape setup and workflows locally</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Lead adoption with their teams</a:t>
            </a:r>
            <a:endParaRPr lang="en-US" sz="1300" dirty="0"/>
          </a:p>
        </p:txBody>
      </p:sp>
      <p:sp>
        <p:nvSpPr>
          <p:cNvPr id="14" name="Shape 12"/>
          <p:cNvSpPr/>
          <p:nvPr/>
        </p:nvSpPr>
        <p:spPr>
          <a:xfrm>
            <a:off x="5791200" y="3670300"/>
            <a:ext cx="609600" cy="304800"/>
          </a:xfrm>
          <a:prstGeom prst="rightArrow">
            <a:avLst/>
          </a:prstGeom>
          <a:solidFill>
            <a:srgbClr val="CE8E00"/>
          </a:solidFill>
          <a:ln/>
        </p:spPr>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SELECTION PHASE · DRAFT ROSTER</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Who is at the table</a:t>
            </a:r>
            <a:endParaRPr lang="en-US" sz="4000" dirty="0"/>
          </a:p>
        </p:txBody>
      </p:sp>
      <p:sp>
        <p:nvSpPr>
          <p:cNvPr id="4" name="Shape 2"/>
          <p:cNvSpPr/>
          <p:nvPr/>
        </p:nvSpPr>
        <p:spPr>
          <a:xfrm>
            <a:off x="812800" y="1993900"/>
            <a:ext cx="3384550" cy="1651000"/>
          </a:xfrm>
          <a:prstGeom prst="rect">
            <a:avLst/>
          </a:prstGeom>
          <a:solidFill>
            <a:srgbClr val="FDFCFA"/>
          </a:solidFill>
          <a:ln w="9525">
            <a:solidFill>
              <a:srgbClr val="E3DED3"/>
            </a:solidFill>
            <a:prstDash val="solid"/>
          </a:ln>
        </p:spPr>
      </p:sp>
      <p:sp>
        <p:nvSpPr>
          <p:cNvPr id="5" name="Text 3"/>
          <p:cNvSpPr txBox="1"/>
          <p:nvPr/>
        </p:nvSpPr>
        <p:spPr>
          <a:xfrm>
            <a:off x="1066800" y="2197100"/>
            <a:ext cx="2876550" cy="571500"/>
          </a:xfrm>
          <a:prstGeom prst="rect">
            <a:avLst/>
          </a:prstGeom>
          <a:noFill/>
          <a:ln/>
        </p:spPr>
        <p:txBody>
          <a:bodyPr wrap="square" lIns="0" tIns="0" rIns="0" bIns="0" rtlCol="0" anchor="t"/>
          <a:lstStyle/>
          <a:p>
            <a:pPr algn="l" indent="0" marL="0">
              <a:lnSpc>
                <a:spcPct val="105000"/>
              </a:lnSpc>
              <a:buNone/>
            </a:pPr>
            <a:r>
              <a:rPr lang="en-US" sz="1800" dirty="0">
                <a:solidFill>
                  <a:srgbClr val="002554"/>
                </a:solidFill>
                <a:latin typeface="Maven Pro" pitchFamily="34" charset="0"/>
                <a:ea typeface="Maven Pro" pitchFamily="34" charset="-122"/>
                <a:cs typeface="Maven Pro" pitchFamily="34" charset="-120"/>
              </a:rPr>
              <a:t>Branch Executive Director</a:t>
            </a:r>
            <a:endParaRPr lang="en-US" sz="1800" dirty="0"/>
          </a:p>
        </p:txBody>
      </p:sp>
      <p:sp>
        <p:nvSpPr>
          <p:cNvPr id="6" name="Text 4"/>
          <p:cNvSpPr txBox="1"/>
          <p:nvPr/>
        </p:nvSpPr>
        <p:spPr>
          <a:xfrm>
            <a:off x="1066800" y="2819400"/>
            <a:ext cx="2876550" cy="698500"/>
          </a:xfrm>
          <a:prstGeom prst="rect">
            <a:avLst/>
          </a:prstGeom>
          <a:noFill/>
          <a:ln/>
        </p:spPr>
        <p:txBody>
          <a:bodyPr wrap="square" lIns="0" tIns="0" rIns="0" bIns="0" rtlCol="0" anchor="t"/>
          <a:lstStyle/>
          <a:p>
            <a:pPr algn="l" indent="0" marL="0">
              <a:lnSpc>
                <a:spcPct val="120000"/>
              </a:lnSpc>
              <a:buNone/>
            </a:pPr>
            <a:r>
              <a:rPr lang="en-US" sz="1300" dirty="0">
                <a:solidFill>
                  <a:srgbClr val="3D4A5C"/>
                </a:solidFill>
                <a:latin typeface="Arial" pitchFamily="34" charset="0"/>
                <a:ea typeface="Arial" pitchFamily="34" charset="-122"/>
                <a:cs typeface="Arial" pitchFamily="34" charset="-120"/>
              </a:rPr>
              <a:t>Growth, staffing model and the economics of saying yes</a:t>
            </a:r>
            <a:endParaRPr lang="en-US" sz="1300" dirty="0"/>
          </a:p>
        </p:txBody>
      </p:sp>
      <p:sp>
        <p:nvSpPr>
          <p:cNvPr id="7" name="Shape 5"/>
          <p:cNvSpPr/>
          <p:nvPr/>
        </p:nvSpPr>
        <p:spPr>
          <a:xfrm>
            <a:off x="4400550" y="1993900"/>
            <a:ext cx="3384550" cy="1651000"/>
          </a:xfrm>
          <a:prstGeom prst="rect">
            <a:avLst/>
          </a:prstGeom>
          <a:solidFill>
            <a:srgbClr val="FDFCFA"/>
          </a:solidFill>
          <a:ln w="9525">
            <a:solidFill>
              <a:srgbClr val="E3DED3"/>
            </a:solidFill>
            <a:prstDash val="solid"/>
          </a:ln>
        </p:spPr>
      </p:sp>
      <p:sp>
        <p:nvSpPr>
          <p:cNvPr id="8" name="Text 6"/>
          <p:cNvSpPr txBox="1"/>
          <p:nvPr/>
        </p:nvSpPr>
        <p:spPr>
          <a:xfrm>
            <a:off x="4654550" y="2197100"/>
            <a:ext cx="2876550" cy="571500"/>
          </a:xfrm>
          <a:prstGeom prst="rect">
            <a:avLst/>
          </a:prstGeom>
          <a:noFill/>
          <a:ln/>
        </p:spPr>
        <p:txBody>
          <a:bodyPr wrap="square" lIns="0" tIns="0" rIns="0" bIns="0" rtlCol="0" anchor="t"/>
          <a:lstStyle/>
          <a:p>
            <a:pPr algn="l" indent="0" marL="0">
              <a:lnSpc>
                <a:spcPct val="105000"/>
              </a:lnSpc>
              <a:buNone/>
            </a:pPr>
            <a:r>
              <a:rPr lang="en-US" sz="1800" dirty="0">
                <a:solidFill>
                  <a:srgbClr val="002554"/>
                </a:solidFill>
                <a:latin typeface="Maven Pro" pitchFamily="34" charset="0"/>
                <a:ea typeface="Maven Pro" pitchFamily="34" charset="-122"/>
                <a:cs typeface="Maven Pro" pitchFamily="34" charset="-120"/>
              </a:rPr>
              <a:t>Director of Clinical Services</a:t>
            </a:r>
            <a:endParaRPr lang="en-US" sz="1800" dirty="0"/>
          </a:p>
        </p:txBody>
      </p:sp>
      <p:sp>
        <p:nvSpPr>
          <p:cNvPr id="9" name="Text 7"/>
          <p:cNvSpPr txBox="1"/>
          <p:nvPr/>
        </p:nvSpPr>
        <p:spPr>
          <a:xfrm>
            <a:off x="4654550" y="2819400"/>
            <a:ext cx="2876550" cy="698500"/>
          </a:xfrm>
          <a:prstGeom prst="rect">
            <a:avLst/>
          </a:prstGeom>
          <a:noFill/>
          <a:ln/>
        </p:spPr>
        <p:txBody>
          <a:bodyPr wrap="square" lIns="0" tIns="0" rIns="0" bIns="0" rtlCol="0" anchor="t"/>
          <a:lstStyle/>
          <a:p>
            <a:pPr algn="l" indent="0" marL="0">
              <a:lnSpc>
                <a:spcPct val="120000"/>
              </a:lnSpc>
              <a:buNone/>
            </a:pPr>
            <a:r>
              <a:rPr lang="en-US" sz="1300" dirty="0">
                <a:solidFill>
                  <a:srgbClr val="3D4A5C"/>
                </a:solidFill>
                <a:latin typeface="Arial" pitchFamily="34" charset="0"/>
                <a:ea typeface="Arial" pitchFamily="34" charset="-122"/>
                <a:cs typeface="Arial" pitchFamily="34" charset="-120"/>
              </a:rPr>
              <a:t>Clinical judgment, start-of-care assignment and compliance</a:t>
            </a:r>
            <a:endParaRPr lang="en-US" sz="1300" dirty="0"/>
          </a:p>
        </p:txBody>
      </p:sp>
      <p:sp>
        <p:nvSpPr>
          <p:cNvPr id="10" name="Shape 8"/>
          <p:cNvSpPr/>
          <p:nvPr/>
        </p:nvSpPr>
        <p:spPr>
          <a:xfrm>
            <a:off x="7988300" y="1993900"/>
            <a:ext cx="3384550" cy="1651000"/>
          </a:xfrm>
          <a:prstGeom prst="rect">
            <a:avLst/>
          </a:prstGeom>
          <a:solidFill>
            <a:srgbClr val="FDFCFA"/>
          </a:solidFill>
          <a:ln w="9525">
            <a:solidFill>
              <a:srgbClr val="E3DED3"/>
            </a:solidFill>
            <a:prstDash val="solid"/>
          </a:ln>
        </p:spPr>
      </p:sp>
      <p:sp>
        <p:nvSpPr>
          <p:cNvPr id="11" name="Text 9"/>
          <p:cNvSpPr txBox="1"/>
          <p:nvPr/>
        </p:nvSpPr>
        <p:spPr>
          <a:xfrm>
            <a:off x="8242300" y="2197100"/>
            <a:ext cx="2876550" cy="571500"/>
          </a:xfrm>
          <a:prstGeom prst="rect">
            <a:avLst/>
          </a:prstGeom>
          <a:noFill/>
          <a:ln/>
        </p:spPr>
        <p:txBody>
          <a:bodyPr wrap="square" lIns="0" tIns="0" rIns="0" bIns="0" rtlCol="0" anchor="t"/>
          <a:lstStyle/>
          <a:p>
            <a:pPr algn="l" indent="0" marL="0">
              <a:lnSpc>
                <a:spcPct val="105000"/>
              </a:lnSpc>
              <a:buNone/>
            </a:pPr>
            <a:r>
              <a:rPr lang="en-US" sz="1800" dirty="0">
                <a:solidFill>
                  <a:srgbClr val="002554"/>
                </a:solidFill>
                <a:latin typeface="Maven Pro" pitchFamily="34" charset="0"/>
                <a:ea typeface="Maven Pro" pitchFamily="34" charset="-122"/>
                <a:cs typeface="Maven Pro" pitchFamily="34" charset="-120"/>
              </a:rPr>
              <a:t>Patient Care Coordinator</a:t>
            </a:r>
            <a:endParaRPr lang="en-US" sz="1800" dirty="0"/>
          </a:p>
        </p:txBody>
      </p:sp>
      <p:sp>
        <p:nvSpPr>
          <p:cNvPr id="12" name="Text 10"/>
          <p:cNvSpPr txBox="1"/>
          <p:nvPr/>
        </p:nvSpPr>
        <p:spPr>
          <a:xfrm>
            <a:off x="8242300" y="2819400"/>
            <a:ext cx="2876550" cy="698500"/>
          </a:xfrm>
          <a:prstGeom prst="rect">
            <a:avLst/>
          </a:prstGeom>
          <a:noFill/>
          <a:ln/>
        </p:spPr>
        <p:txBody>
          <a:bodyPr wrap="square" lIns="0" tIns="0" rIns="0" bIns="0" rtlCol="0" anchor="t"/>
          <a:lstStyle/>
          <a:p>
            <a:pPr algn="l" indent="0" marL="0">
              <a:lnSpc>
                <a:spcPct val="120000"/>
              </a:lnSpc>
              <a:buNone/>
            </a:pPr>
            <a:r>
              <a:rPr lang="en-US" sz="1300" dirty="0">
                <a:solidFill>
                  <a:srgbClr val="3D4A5C"/>
                </a:solidFill>
                <a:latin typeface="Arial" pitchFamily="34" charset="0"/>
                <a:ea typeface="Arial" pitchFamily="34" charset="-122"/>
                <a:cs typeface="Arial" pitchFamily="34" charset="-120"/>
              </a:rPr>
              <a:t>The daily scheduling workflow, and exactly where it breaks</a:t>
            </a:r>
            <a:endParaRPr lang="en-US" sz="1300" dirty="0"/>
          </a:p>
        </p:txBody>
      </p:sp>
      <p:sp>
        <p:nvSpPr>
          <p:cNvPr id="13" name="Shape 11"/>
          <p:cNvSpPr/>
          <p:nvPr/>
        </p:nvSpPr>
        <p:spPr>
          <a:xfrm>
            <a:off x="812800" y="3797300"/>
            <a:ext cx="3384550" cy="1651000"/>
          </a:xfrm>
          <a:prstGeom prst="rect">
            <a:avLst/>
          </a:prstGeom>
          <a:solidFill>
            <a:srgbClr val="FDFCFA"/>
          </a:solidFill>
          <a:ln w="9525">
            <a:solidFill>
              <a:srgbClr val="E3DED3"/>
            </a:solidFill>
            <a:prstDash val="solid"/>
          </a:ln>
        </p:spPr>
      </p:sp>
      <p:sp>
        <p:nvSpPr>
          <p:cNvPr id="14" name="Text 12"/>
          <p:cNvSpPr txBox="1"/>
          <p:nvPr/>
        </p:nvSpPr>
        <p:spPr>
          <a:xfrm>
            <a:off x="1066800" y="4000500"/>
            <a:ext cx="2876550" cy="571500"/>
          </a:xfrm>
          <a:prstGeom prst="rect">
            <a:avLst/>
          </a:prstGeom>
          <a:noFill/>
          <a:ln/>
        </p:spPr>
        <p:txBody>
          <a:bodyPr wrap="square" lIns="0" tIns="0" rIns="0" bIns="0" rtlCol="0" anchor="t"/>
          <a:lstStyle/>
          <a:p>
            <a:pPr algn="l" indent="0" marL="0">
              <a:lnSpc>
                <a:spcPct val="105000"/>
              </a:lnSpc>
              <a:buNone/>
            </a:pPr>
            <a:r>
              <a:rPr lang="en-US" sz="1800" dirty="0">
                <a:solidFill>
                  <a:srgbClr val="002554"/>
                </a:solidFill>
                <a:latin typeface="Maven Pro" pitchFamily="34" charset="0"/>
                <a:ea typeface="Maven Pro" pitchFamily="34" charset="-122"/>
                <a:cs typeface="Maven Pro" pitchFamily="34" charset="-120"/>
              </a:rPr>
              <a:t>Field RN / Start-of-Care Nurse</a:t>
            </a:r>
            <a:endParaRPr lang="en-US" sz="1800" dirty="0"/>
          </a:p>
        </p:txBody>
      </p:sp>
      <p:sp>
        <p:nvSpPr>
          <p:cNvPr id="15" name="Text 13"/>
          <p:cNvSpPr txBox="1"/>
          <p:nvPr/>
        </p:nvSpPr>
        <p:spPr>
          <a:xfrm>
            <a:off x="1066800" y="4622800"/>
            <a:ext cx="2876550" cy="698500"/>
          </a:xfrm>
          <a:prstGeom prst="rect">
            <a:avLst/>
          </a:prstGeom>
          <a:noFill/>
          <a:ln/>
        </p:spPr>
        <p:txBody>
          <a:bodyPr wrap="square" lIns="0" tIns="0" rIns="0" bIns="0" rtlCol="0" anchor="t"/>
          <a:lstStyle/>
          <a:p>
            <a:pPr algn="l" indent="0" marL="0">
              <a:lnSpc>
                <a:spcPct val="120000"/>
              </a:lnSpc>
              <a:buNone/>
            </a:pPr>
            <a:r>
              <a:rPr lang="en-US" sz="1300" dirty="0">
                <a:solidFill>
                  <a:srgbClr val="3D4A5C"/>
                </a:solidFill>
                <a:latin typeface="Arial" pitchFamily="34" charset="0"/>
                <a:ea typeface="Arial" pitchFamily="34" charset="-122"/>
                <a:cs typeface="Arial" pitchFamily="34" charset="-120"/>
              </a:rPr>
              <a:t>What earns a clinician's yes, and what a tool must never do</a:t>
            </a:r>
            <a:endParaRPr lang="en-US" sz="1300" dirty="0"/>
          </a:p>
        </p:txBody>
      </p:sp>
      <p:sp>
        <p:nvSpPr>
          <p:cNvPr id="16" name="Shape 14"/>
          <p:cNvSpPr/>
          <p:nvPr/>
        </p:nvSpPr>
        <p:spPr>
          <a:xfrm>
            <a:off x="4400550" y="3797300"/>
            <a:ext cx="3384550" cy="1651000"/>
          </a:xfrm>
          <a:prstGeom prst="rect">
            <a:avLst/>
          </a:prstGeom>
          <a:solidFill>
            <a:srgbClr val="FDFCFA"/>
          </a:solidFill>
          <a:ln w="9525">
            <a:solidFill>
              <a:srgbClr val="E3DED3"/>
            </a:solidFill>
            <a:prstDash val="solid"/>
          </a:ln>
        </p:spPr>
      </p:sp>
      <p:sp>
        <p:nvSpPr>
          <p:cNvPr id="17" name="Text 15"/>
          <p:cNvSpPr txBox="1"/>
          <p:nvPr/>
        </p:nvSpPr>
        <p:spPr>
          <a:xfrm>
            <a:off x="4654550" y="4000500"/>
            <a:ext cx="2876550" cy="571500"/>
          </a:xfrm>
          <a:prstGeom prst="rect">
            <a:avLst/>
          </a:prstGeom>
          <a:noFill/>
          <a:ln/>
        </p:spPr>
        <p:txBody>
          <a:bodyPr wrap="square" lIns="0" tIns="0" rIns="0" bIns="0" rtlCol="0" anchor="t"/>
          <a:lstStyle/>
          <a:p>
            <a:pPr algn="l" indent="0" marL="0">
              <a:lnSpc>
                <a:spcPct val="105000"/>
              </a:lnSpc>
              <a:buNone/>
            </a:pPr>
            <a:r>
              <a:rPr lang="en-US" sz="1800" dirty="0">
                <a:solidFill>
                  <a:srgbClr val="002554"/>
                </a:solidFill>
                <a:latin typeface="Maven Pro" pitchFamily="34" charset="0"/>
                <a:ea typeface="Maven Pro" pitchFamily="34" charset="-122"/>
                <a:cs typeface="Maven Pro" pitchFamily="34" charset="-120"/>
              </a:rPr>
              <a:t>Therapy Lead (PT / OT)</a:t>
            </a:r>
            <a:endParaRPr lang="en-US" sz="1800" dirty="0"/>
          </a:p>
        </p:txBody>
      </p:sp>
      <p:sp>
        <p:nvSpPr>
          <p:cNvPr id="18" name="Text 16"/>
          <p:cNvSpPr txBox="1"/>
          <p:nvPr/>
        </p:nvSpPr>
        <p:spPr>
          <a:xfrm>
            <a:off x="4654550" y="4622800"/>
            <a:ext cx="2876550" cy="698500"/>
          </a:xfrm>
          <a:prstGeom prst="rect">
            <a:avLst/>
          </a:prstGeom>
          <a:noFill/>
          <a:ln/>
        </p:spPr>
        <p:txBody>
          <a:bodyPr wrap="square" lIns="0" tIns="0" rIns="0" bIns="0" rtlCol="0" anchor="t"/>
          <a:lstStyle/>
          <a:p>
            <a:pPr algn="l" indent="0" marL="0">
              <a:lnSpc>
                <a:spcPct val="120000"/>
              </a:lnSpc>
              <a:buNone/>
            </a:pPr>
            <a:r>
              <a:rPr lang="en-US" sz="1300" dirty="0">
                <a:solidFill>
                  <a:srgbClr val="3D4A5C"/>
                </a:solidFill>
                <a:latin typeface="Arial" pitchFamily="34" charset="0"/>
                <a:ea typeface="Arial" pitchFamily="34" charset="-122"/>
                <a:cs typeface="Arial" pitchFamily="34" charset="-120"/>
              </a:rPr>
              <a:t>Discipline mix, visit frequency and continuity of care</a:t>
            </a:r>
            <a:endParaRPr lang="en-US" sz="1300" dirty="0"/>
          </a:p>
        </p:txBody>
      </p:sp>
      <p:sp>
        <p:nvSpPr>
          <p:cNvPr id="19" name="Shape 17"/>
          <p:cNvSpPr/>
          <p:nvPr/>
        </p:nvSpPr>
        <p:spPr>
          <a:xfrm>
            <a:off x="7988300" y="3797300"/>
            <a:ext cx="3384550" cy="1651000"/>
          </a:xfrm>
          <a:prstGeom prst="rect">
            <a:avLst/>
          </a:prstGeom>
          <a:solidFill>
            <a:srgbClr val="FDFCFA"/>
          </a:solidFill>
          <a:ln w="9525">
            <a:solidFill>
              <a:srgbClr val="E3DED3"/>
            </a:solidFill>
            <a:prstDash val="solid"/>
          </a:ln>
        </p:spPr>
      </p:sp>
      <p:sp>
        <p:nvSpPr>
          <p:cNvPr id="20" name="Text 18"/>
          <p:cNvSpPr txBox="1"/>
          <p:nvPr/>
        </p:nvSpPr>
        <p:spPr>
          <a:xfrm>
            <a:off x="8242300" y="4000500"/>
            <a:ext cx="2876550" cy="571500"/>
          </a:xfrm>
          <a:prstGeom prst="rect">
            <a:avLst/>
          </a:prstGeom>
          <a:noFill/>
          <a:ln/>
        </p:spPr>
        <p:txBody>
          <a:bodyPr wrap="square" lIns="0" tIns="0" rIns="0" bIns="0" rtlCol="0" anchor="t"/>
          <a:lstStyle/>
          <a:p>
            <a:pPr algn="l" indent="0" marL="0">
              <a:lnSpc>
                <a:spcPct val="105000"/>
              </a:lnSpc>
              <a:buNone/>
            </a:pPr>
            <a:r>
              <a:rPr lang="en-US" sz="1800" dirty="0">
                <a:solidFill>
                  <a:srgbClr val="002554"/>
                </a:solidFill>
                <a:latin typeface="Maven Pro" pitchFamily="34" charset="0"/>
                <a:ea typeface="Maven Pro" pitchFamily="34" charset="-122"/>
                <a:cs typeface="Maven Pro" pitchFamily="34" charset="-120"/>
              </a:rPr>
              <a:t>Workforce &amp; Staffing</a:t>
            </a:r>
            <a:endParaRPr lang="en-US" sz="1800" dirty="0"/>
          </a:p>
        </p:txBody>
      </p:sp>
      <p:sp>
        <p:nvSpPr>
          <p:cNvPr id="21" name="Text 19"/>
          <p:cNvSpPr txBox="1"/>
          <p:nvPr/>
        </p:nvSpPr>
        <p:spPr>
          <a:xfrm>
            <a:off x="8242300" y="4622800"/>
            <a:ext cx="2876550" cy="698500"/>
          </a:xfrm>
          <a:prstGeom prst="rect">
            <a:avLst/>
          </a:prstGeom>
          <a:noFill/>
          <a:ln/>
        </p:spPr>
        <p:txBody>
          <a:bodyPr wrap="square" lIns="0" tIns="0" rIns="0" bIns="0" rtlCol="0" anchor="t"/>
          <a:lstStyle/>
          <a:p>
            <a:pPr algn="l" indent="0" marL="0">
              <a:lnSpc>
                <a:spcPct val="120000"/>
              </a:lnSpc>
              <a:buNone/>
            </a:pPr>
            <a:r>
              <a:rPr lang="en-US" sz="1300" dirty="0">
                <a:solidFill>
                  <a:srgbClr val="3D4A5C"/>
                </a:solidFill>
                <a:latin typeface="Arial" pitchFamily="34" charset="0"/>
                <a:ea typeface="Arial" pitchFamily="34" charset="-122"/>
                <a:cs typeface="Arial" pitchFamily="34" charset="-120"/>
              </a:rPr>
              <a:t>Capacity models, flex coverage and per-diem engagement</a:t>
            </a:r>
            <a:endParaRPr lang="en-US" sz="13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SELECTION PHASE</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Meet our selection-phase experts</a:t>
            </a:r>
            <a:endParaRPr lang="en-US" sz="4000" dirty="0"/>
          </a:p>
        </p:txBody>
      </p:sp>
      <p:sp>
        <p:nvSpPr>
          <p:cNvPr id="4" name="Shape 2"/>
          <p:cNvSpPr/>
          <p:nvPr/>
        </p:nvSpPr>
        <p:spPr>
          <a:xfrm>
            <a:off x="812800" y="2044700"/>
            <a:ext cx="3384550" cy="1524000"/>
          </a:xfrm>
          <a:prstGeom prst="rect">
            <a:avLst/>
          </a:prstGeom>
          <a:solidFill>
            <a:srgbClr val="FDFCFA"/>
          </a:solidFill>
          <a:ln w="9525">
            <a:solidFill>
              <a:srgbClr val="E3DED3"/>
            </a:solidFill>
            <a:prstDash val="solid"/>
          </a:ln>
        </p:spPr>
      </p:sp>
      <p:sp>
        <p:nvSpPr>
          <p:cNvPr id="5" name="Shape 3"/>
          <p:cNvSpPr/>
          <p:nvPr/>
        </p:nvSpPr>
        <p:spPr>
          <a:xfrm>
            <a:off x="1016000" y="2247900"/>
            <a:ext cx="711200" cy="711200"/>
          </a:xfrm>
          <a:prstGeom prst="ellipse">
            <a:avLst/>
          </a:prstGeom>
          <a:solidFill>
            <a:srgbClr val="E3DED3"/>
          </a:solidFill>
          <a:ln/>
        </p:spPr>
      </p:sp>
      <p:sp>
        <p:nvSpPr>
          <p:cNvPr id="6" name="Text 4"/>
          <p:cNvSpPr txBox="1"/>
          <p:nvPr/>
        </p:nvSpPr>
        <p:spPr>
          <a:xfrm>
            <a:off x="1879600" y="2247900"/>
            <a:ext cx="2114550" cy="2794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Maven Pro" pitchFamily="34" charset="0"/>
                <a:ea typeface="Maven Pro" pitchFamily="34" charset="-122"/>
                <a:cs typeface="Maven Pro" pitchFamily="34" charset="-120"/>
              </a:rPr>
              <a:t>[Name]</a:t>
            </a:r>
            <a:endParaRPr lang="en-US" sz="1600" dirty="0"/>
          </a:p>
        </p:txBody>
      </p:sp>
      <p:sp>
        <p:nvSpPr>
          <p:cNvPr id="7" name="Text 5"/>
          <p:cNvSpPr txBox="1"/>
          <p:nvPr/>
        </p:nvSpPr>
        <p:spPr>
          <a:xfrm>
            <a:off x="1879600" y="2565400"/>
            <a:ext cx="2114550" cy="215900"/>
          </a:xfrm>
          <a:prstGeom prst="rect">
            <a:avLst/>
          </a:prstGeom>
          <a:noFill/>
          <a:ln/>
        </p:spPr>
        <p:txBody>
          <a:bodyPr wrap="square" lIns="0" tIns="0" rIns="0" bIns="0" rtlCol="0" anchor="t"/>
          <a:lstStyle/>
          <a:p>
            <a:pPr algn="l" indent="0" marL="0">
              <a:lnSpc>
                <a:spcPct val="110000"/>
              </a:lnSpc>
              <a:buNone/>
            </a:pPr>
            <a:r>
              <a:rPr lang="en-US" sz="1200" b="1" dirty="0">
                <a:solidFill>
                  <a:srgbClr val="002554"/>
                </a:solidFill>
                <a:latin typeface="Arial" pitchFamily="34" charset="0"/>
                <a:ea typeface="Arial" pitchFamily="34" charset="-122"/>
                <a:cs typeface="Arial" pitchFamily="34" charset="-120"/>
              </a:rPr>
              <a:t>[Title]</a:t>
            </a:r>
            <a:endParaRPr lang="en-US" sz="1200" dirty="0"/>
          </a:p>
        </p:txBody>
      </p:sp>
      <p:sp>
        <p:nvSpPr>
          <p:cNvPr id="8" name="Text 6"/>
          <p:cNvSpPr txBox="1"/>
          <p:nvPr/>
        </p:nvSpPr>
        <p:spPr>
          <a:xfrm>
            <a:off x="1879600" y="2794000"/>
            <a:ext cx="2114550" cy="215900"/>
          </a:xfrm>
          <a:prstGeom prst="rect">
            <a:avLst/>
          </a:prstGeom>
          <a:noFill/>
          <a:ln/>
        </p:spPr>
        <p:txBody>
          <a:bodyPr wrap="square" lIns="0" tIns="0" rIns="0" bIns="0" rtlCol="0" anchor="t"/>
          <a:lstStyle/>
          <a:p>
            <a:pPr algn="l" indent="0" marL="0">
              <a:lnSpc>
                <a:spcPct val="110000"/>
              </a:lnSpc>
              <a:buNone/>
            </a:pPr>
            <a:r>
              <a:rPr lang="en-US" sz="1200" dirty="0">
                <a:solidFill>
                  <a:srgbClr val="5A6472"/>
                </a:solidFill>
                <a:latin typeface="Arial" pitchFamily="34" charset="0"/>
                <a:ea typeface="Arial" pitchFamily="34" charset="-122"/>
                <a:cs typeface="Arial" pitchFamily="34" charset="-120"/>
              </a:rPr>
              <a:t>[Branch · Market]</a:t>
            </a:r>
            <a:endParaRPr lang="en-US" sz="1200" dirty="0"/>
          </a:p>
        </p:txBody>
      </p:sp>
      <p:sp>
        <p:nvSpPr>
          <p:cNvPr id="9" name="Text 7"/>
          <p:cNvSpPr txBox="1"/>
          <p:nvPr/>
        </p:nvSpPr>
        <p:spPr>
          <a:xfrm>
            <a:off x="1879600" y="3022600"/>
            <a:ext cx="2114550" cy="406400"/>
          </a:xfrm>
          <a:prstGeom prst="rect">
            <a:avLst/>
          </a:prstGeom>
          <a:noFill/>
          <a:ln/>
        </p:spPr>
        <p:txBody>
          <a:bodyPr wrap="square" lIns="0" tIns="0" rIns="0" bIns="0" rtlCol="0" anchor="t"/>
          <a:lstStyle/>
          <a:p>
            <a:pPr algn="l" indent="0" marL="0">
              <a:lnSpc>
                <a:spcPct val="110000"/>
              </a:lnSpc>
              <a:buNone/>
            </a:pPr>
            <a:r>
              <a:rPr lang="en-US" sz="1200" i="1" dirty="0">
                <a:solidFill>
                  <a:srgbClr val="3D4A5C"/>
                </a:solidFill>
                <a:latin typeface="Arial" pitchFamily="34" charset="0"/>
                <a:ea typeface="Arial" pitchFamily="34" charset="-122"/>
                <a:cs typeface="Arial" pitchFamily="34" charset="-120"/>
              </a:rPr>
              <a:t>[What they bring]</a:t>
            </a:r>
            <a:endParaRPr lang="en-US" sz="1200" dirty="0"/>
          </a:p>
        </p:txBody>
      </p:sp>
      <p:sp>
        <p:nvSpPr>
          <p:cNvPr id="10" name="Shape 8"/>
          <p:cNvSpPr/>
          <p:nvPr/>
        </p:nvSpPr>
        <p:spPr>
          <a:xfrm>
            <a:off x="4400550" y="2044700"/>
            <a:ext cx="3384550" cy="1524000"/>
          </a:xfrm>
          <a:prstGeom prst="rect">
            <a:avLst/>
          </a:prstGeom>
          <a:solidFill>
            <a:srgbClr val="FDFCFA"/>
          </a:solidFill>
          <a:ln w="9525">
            <a:solidFill>
              <a:srgbClr val="E3DED3"/>
            </a:solidFill>
            <a:prstDash val="solid"/>
          </a:ln>
        </p:spPr>
      </p:sp>
      <p:sp>
        <p:nvSpPr>
          <p:cNvPr id="11" name="Shape 9"/>
          <p:cNvSpPr/>
          <p:nvPr/>
        </p:nvSpPr>
        <p:spPr>
          <a:xfrm>
            <a:off x="4603750" y="2247900"/>
            <a:ext cx="711200" cy="711200"/>
          </a:xfrm>
          <a:prstGeom prst="ellipse">
            <a:avLst/>
          </a:prstGeom>
          <a:solidFill>
            <a:srgbClr val="E3DED3"/>
          </a:solidFill>
          <a:ln/>
        </p:spPr>
      </p:sp>
      <p:sp>
        <p:nvSpPr>
          <p:cNvPr id="12" name="Text 10"/>
          <p:cNvSpPr txBox="1"/>
          <p:nvPr/>
        </p:nvSpPr>
        <p:spPr>
          <a:xfrm>
            <a:off x="5467350" y="2247900"/>
            <a:ext cx="2114550" cy="2794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Maven Pro" pitchFamily="34" charset="0"/>
                <a:ea typeface="Maven Pro" pitchFamily="34" charset="-122"/>
                <a:cs typeface="Maven Pro" pitchFamily="34" charset="-120"/>
              </a:rPr>
              <a:t>[Name]</a:t>
            </a:r>
            <a:endParaRPr lang="en-US" sz="1600" dirty="0"/>
          </a:p>
        </p:txBody>
      </p:sp>
      <p:sp>
        <p:nvSpPr>
          <p:cNvPr id="13" name="Text 11"/>
          <p:cNvSpPr txBox="1"/>
          <p:nvPr/>
        </p:nvSpPr>
        <p:spPr>
          <a:xfrm>
            <a:off x="5467350" y="2565400"/>
            <a:ext cx="2114550" cy="215900"/>
          </a:xfrm>
          <a:prstGeom prst="rect">
            <a:avLst/>
          </a:prstGeom>
          <a:noFill/>
          <a:ln/>
        </p:spPr>
        <p:txBody>
          <a:bodyPr wrap="square" lIns="0" tIns="0" rIns="0" bIns="0" rtlCol="0" anchor="t"/>
          <a:lstStyle/>
          <a:p>
            <a:pPr algn="l" indent="0" marL="0">
              <a:lnSpc>
                <a:spcPct val="110000"/>
              </a:lnSpc>
              <a:buNone/>
            </a:pPr>
            <a:r>
              <a:rPr lang="en-US" sz="1200" b="1" dirty="0">
                <a:solidFill>
                  <a:srgbClr val="002554"/>
                </a:solidFill>
                <a:latin typeface="Arial" pitchFamily="34" charset="0"/>
                <a:ea typeface="Arial" pitchFamily="34" charset="-122"/>
                <a:cs typeface="Arial" pitchFamily="34" charset="-120"/>
              </a:rPr>
              <a:t>[Title]</a:t>
            </a:r>
            <a:endParaRPr lang="en-US" sz="1200" dirty="0"/>
          </a:p>
        </p:txBody>
      </p:sp>
      <p:sp>
        <p:nvSpPr>
          <p:cNvPr id="14" name="Text 12"/>
          <p:cNvSpPr txBox="1"/>
          <p:nvPr/>
        </p:nvSpPr>
        <p:spPr>
          <a:xfrm>
            <a:off x="5467350" y="2794000"/>
            <a:ext cx="2114550" cy="215900"/>
          </a:xfrm>
          <a:prstGeom prst="rect">
            <a:avLst/>
          </a:prstGeom>
          <a:noFill/>
          <a:ln/>
        </p:spPr>
        <p:txBody>
          <a:bodyPr wrap="square" lIns="0" tIns="0" rIns="0" bIns="0" rtlCol="0" anchor="t"/>
          <a:lstStyle/>
          <a:p>
            <a:pPr algn="l" indent="0" marL="0">
              <a:lnSpc>
                <a:spcPct val="110000"/>
              </a:lnSpc>
              <a:buNone/>
            </a:pPr>
            <a:r>
              <a:rPr lang="en-US" sz="1200" dirty="0">
                <a:solidFill>
                  <a:srgbClr val="5A6472"/>
                </a:solidFill>
                <a:latin typeface="Arial" pitchFamily="34" charset="0"/>
                <a:ea typeface="Arial" pitchFamily="34" charset="-122"/>
                <a:cs typeface="Arial" pitchFamily="34" charset="-120"/>
              </a:rPr>
              <a:t>[Branch · Market]</a:t>
            </a:r>
            <a:endParaRPr lang="en-US" sz="1200" dirty="0"/>
          </a:p>
        </p:txBody>
      </p:sp>
      <p:sp>
        <p:nvSpPr>
          <p:cNvPr id="15" name="Text 13"/>
          <p:cNvSpPr txBox="1"/>
          <p:nvPr/>
        </p:nvSpPr>
        <p:spPr>
          <a:xfrm>
            <a:off x="5467350" y="3022600"/>
            <a:ext cx="2114550" cy="406400"/>
          </a:xfrm>
          <a:prstGeom prst="rect">
            <a:avLst/>
          </a:prstGeom>
          <a:noFill/>
          <a:ln/>
        </p:spPr>
        <p:txBody>
          <a:bodyPr wrap="square" lIns="0" tIns="0" rIns="0" bIns="0" rtlCol="0" anchor="t"/>
          <a:lstStyle/>
          <a:p>
            <a:pPr algn="l" indent="0" marL="0">
              <a:lnSpc>
                <a:spcPct val="110000"/>
              </a:lnSpc>
              <a:buNone/>
            </a:pPr>
            <a:r>
              <a:rPr lang="en-US" sz="1200" i="1" dirty="0">
                <a:solidFill>
                  <a:srgbClr val="3D4A5C"/>
                </a:solidFill>
                <a:latin typeface="Arial" pitchFamily="34" charset="0"/>
                <a:ea typeface="Arial" pitchFamily="34" charset="-122"/>
                <a:cs typeface="Arial" pitchFamily="34" charset="-120"/>
              </a:rPr>
              <a:t>[What they bring]</a:t>
            </a:r>
            <a:endParaRPr lang="en-US" sz="1200" dirty="0"/>
          </a:p>
        </p:txBody>
      </p:sp>
      <p:sp>
        <p:nvSpPr>
          <p:cNvPr id="16" name="Shape 14"/>
          <p:cNvSpPr/>
          <p:nvPr/>
        </p:nvSpPr>
        <p:spPr>
          <a:xfrm>
            <a:off x="7988300" y="2044700"/>
            <a:ext cx="3384550" cy="1524000"/>
          </a:xfrm>
          <a:prstGeom prst="rect">
            <a:avLst/>
          </a:prstGeom>
          <a:solidFill>
            <a:srgbClr val="FDFCFA"/>
          </a:solidFill>
          <a:ln w="9525">
            <a:solidFill>
              <a:srgbClr val="E3DED3"/>
            </a:solidFill>
            <a:prstDash val="solid"/>
          </a:ln>
        </p:spPr>
      </p:sp>
      <p:sp>
        <p:nvSpPr>
          <p:cNvPr id="17" name="Shape 15"/>
          <p:cNvSpPr/>
          <p:nvPr/>
        </p:nvSpPr>
        <p:spPr>
          <a:xfrm>
            <a:off x="8191500" y="2247900"/>
            <a:ext cx="711200" cy="711200"/>
          </a:xfrm>
          <a:prstGeom prst="ellipse">
            <a:avLst/>
          </a:prstGeom>
          <a:solidFill>
            <a:srgbClr val="E3DED3"/>
          </a:solidFill>
          <a:ln/>
        </p:spPr>
      </p:sp>
      <p:sp>
        <p:nvSpPr>
          <p:cNvPr id="18" name="Text 16"/>
          <p:cNvSpPr txBox="1"/>
          <p:nvPr/>
        </p:nvSpPr>
        <p:spPr>
          <a:xfrm>
            <a:off x="9055100" y="2247900"/>
            <a:ext cx="2114550" cy="2794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Maven Pro" pitchFamily="34" charset="0"/>
                <a:ea typeface="Maven Pro" pitchFamily="34" charset="-122"/>
                <a:cs typeface="Maven Pro" pitchFamily="34" charset="-120"/>
              </a:rPr>
              <a:t>[Name]</a:t>
            </a:r>
            <a:endParaRPr lang="en-US" sz="1600" dirty="0"/>
          </a:p>
        </p:txBody>
      </p:sp>
      <p:sp>
        <p:nvSpPr>
          <p:cNvPr id="19" name="Text 17"/>
          <p:cNvSpPr txBox="1"/>
          <p:nvPr/>
        </p:nvSpPr>
        <p:spPr>
          <a:xfrm>
            <a:off x="9055100" y="2565400"/>
            <a:ext cx="2114550" cy="215900"/>
          </a:xfrm>
          <a:prstGeom prst="rect">
            <a:avLst/>
          </a:prstGeom>
          <a:noFill/>
          <a:ln/>
        </p:spPr>
        <p:txBody>
          <a:bodyPr wrap="square" lIns="0" tIns="0" rIns="0" bIns="0" rtlCol="0" anchor="t"/>
          <a:lstStyle/>
          <a:p>
            <a:pPr algn="l" indent="0" marL="0">
              <a:lnSpc>
                <a:spcPct val="110000"/>
              </a:lnSpc>
              <a:buNone/>
            </a:pPr>
            <a:r>
              <a:rPr lang="en-US" sz="1200" b="1" dirty="0">
                <a:solidFill>
                  <a:srgbClr val="002554"/>
                </a:solidFill>
                <a:latin typeface="Arial" pitchFamily="34" charset="0"/>
                <a:ea typeface="Arial" pitchFamily="34" charset="-122"/>
                <a:cs typeface="Arial" pitchFamily="34" charset="-120"/>
              </a:rPr>
              <a:t>[Title]</a:t>
            </a:r>
            <a:endParaRPr lang="en-US" sz="1200" dirty="0"/>
          </a:p>
        </p:txBody>
      </p:sp>
      <p:sp>
        <p:nvSpPr>
          <p:cNvPr id="20" name="Text 18"/>
          <p:cNvSpPr txBox="1"/>
          <p:nvPr/>
        </p:nvSpPr>
        <p:spPr>
          <a:xfrm>
            <a:off x="9055100" y="2794000"/>
            <a:ext cx="2114550" cy="215900"/>
          </a:xfrm>
          <a:prstGeom prst="rect">
            <a:avLst/>
          </a:prstGeom>
          <a:noFill/>
          <a:ln/>
        </p:spPr>
        <p:txBody>
          <a:bodyPr wrap="square" lIns="0" tIns="0" rIns="0" bIns="0" rtlCol="0" anchor="t"/>
          <a:lstStyle/>
          <a:p>
            <a:pPr algn="l" indent="0" marL="0">
              <a:lnSpc>
                <a:spcPct val="110000"/>
              </a:lnSpc>
              <a:buNone/>
            </a:pPr>
            <a:r>
              <a:rPr lang="en-US" sz="1200" dirty="0">
                <a:solidFill>
                  <a:srgbClr val="5A6472"/>
                </a:solidFill>
                <a:latin typeface="Arial" pitchFamily="34" charset="0"/>
                <a:ea typeface="Arial" pitchFamily="34" charset="-122"/>
                <a:cs typeface="Arial" pitchFamily="34" charset="-120"/>
              </a:rPr>
              <a:t>[Branch · Market]</a:t>
            </a:r>
            <a:endParaRPr lang="en-US" sz="1200" dirty="0"/>
          </a:p>
        </p:txBody>
      </p:sp>
      <p:sp>
        <p:nvSpPr>
          <p:cNvPr id="21" name="Text 19"/>
          <p:cNvSpPr txBox="1"/>
          <p:nvPr/>
        </p:nvSpPr>
        <p:spPr>
          <a:xfrm>
            <a:off x="9055100" y="3022600"/>
            <a:ext cx="2114550" cy="406400"/>
          </a:xfrm>
          <a:prstGeom prst="rect">
            <a:avLst/>
          </a:prstGeom>
          <a:noFill/>
          <a:ln/>
        </p:spPr>
        <p:txBody>
          <a:bodyPr wrap="square" lIns="0" tIns="0" rIns="0" bIns="0" rtlCol="0" anchor="t"/>
          <a:lstStyle/>
          <a:p>
            <a:pPr algn="l" indent="0" marL="0">
              <a:lnSpc>
                <a:spcPct val="110000"/>
              </a:lnSpc>
              <a:buNone/>
            </a:pPr>
            <a:r>
              <a:rPr lang="en-US" sz="1200" i="1" dirty="0">
                <a:solidFill>
                  <a:srgbClr val="3D4A5C"/>
                </a:solidFill>
                <a:latin typeface="Arial" pitchFamily="34" charset="0"/>
                <a:ea typeface="Arial" pitchFamily="34" charset="-122"/>
                <a:cs typeface="Arial" pitchFamily="34" charset="-120"/>
              </a:rPr>
              <a:t>[What they bring]</a:t>
            </a:r>
            <a:endParaRPr lang="en-US" sz="1200" dirty="0"/>
          </a:p>
        </p:txBody>
      </p:sp>
      <p:sp>
        <p:nvSpPr>
          <p:cNvPr id="22" name="Shape 20"/>
          <p:cNvSpPr/>
          <p:nvPr/>
        </p:nvSpPr>
        <p:spPr>
          <a:xfrm>
            <a:off x="812800" y="3746500"/>
            <a:ext cx="3384550" cy="1524000"/>
          </a:xfrm>
          <a:prstGeom prst="rect">
            <a:avLst/>
          </a:prstGeom>
          <a:solidFill>
            <a:srgbClr val="FDFCFA"/>
          </a:solidFill>
          <a:ln w="9525">
            <a:solidFill>
              <a:srgbClr val="E3DED3"/>
            </a:solidFill>
            <a:prstDash val="solid"/>
          </a:ln>
        </p:spPr>
      </p:sp>
      <p:sp>
        <p:nvSpPr>
          <p:cNvPr id="23" name="Shape 21"/>
          <p:cNvSpPr/>
          <p:nvPr/>
        </p:nvSpPr>
        <p:spPr>
          <a:xfrm>
            <a:off x="1016000" y="3949700"/>
            <a:ext cx="711200" cy="711200"/>
          </a:xfrm>
          <a:prstGeom prst="ellipse">
            <a:avLst/>
          </a:prstGeom>
          <a:solidFill>
            <a:srgbClr val="E3DED3"/>
          </a:solidFill>
          <a:ln/>
        </p:spPr>
      </p:sp>
      <p:sp>
        <p:nvSpPr>
          <p:cNvPr id="24" name="Text 22"/>
          <p:cNvSpPr txBox="1"/>
          <p:nvPr/>
        </p:nvSpPr>
        <p:spPr>
          <a:xfrm>
            <a:off x="1879600" y="3949700"/>
            <a:ext cx="2114550" cy="2794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Maven Pro" pitchFamily="34" charset="0"/>
                <a:ea typeface="Maven Pro" pitchFamily="34" charset="-122"/>
                <a:cs typeface="Maven Pro" pitchFamily="34" charset="-120"/>
              </a:rPr>
              <a:t>[Name]</a:t>
            </a:r>
            <a:endParaRPr lang="en-US" sz="1600" dirty="0"/>
          </a:p>
        </p:txBody>
      </p:sp>
      <p:sp>
        <p:nvSpPr>
          <p:cNvPr id="25" name="Text 23"/>
          <p:cNvSpPr txBox="1"/>
          <p:nvPr/>
        </p:nvSpPr>
        <p:spPr>
          <a:xfrm>
            <a:off x="1879600" y="4267200"/>
            <a:ext cx="2114550" cy="215900"/>
          </a:xfrm>
          <a:prstGeom prst="rect">
            <a:avLst/>
          </a:prstGeom>
          <a:noFill/>
          <a:ln/>
        </p:spPr>
        <p:txBody>
          <a:bodyPr wrap="square" lIns="0" tIns="0" rIns="0" bIns="0" rtlCol="0" anchor="t"/>
          <a:lstStyle/>
          <a:p>
            <a:pPr algn="l" indent="0" marL="0">
              <a:lnSpc>
                <a:spcPct val="110000"/>
              </a:lnSpc>
              <a:buNone/>
            </a:pPr>
            <a:r>
              <a:rPr lang="en-US" sz="1200" b="1" dirty="0">
                <a:solidFill>
                  <a:srgbClr val="002554"/>
                </a:solidFill>
                <a:latin typeface="Arial" pitchFamily="34" charset="0"/>
                <a:ea typeface="Arial" pitchFamily="34" charset="-122"/>
                <a:cs typeface="Arial" pitchFamily="34" charset="-120"/>
              </a:rPr>
              <a:t>[Title]</a:t>
            </a:r>
            <a:endParaRPr lang="en-US" sz="1200" dirty="0"/>
          </a:p>
        </p:txBody>
      </p:sp>
      <p:sp>
        <p:nvSpPr>
          <p:cNvPr id="26" name="Text 24"/>
          <p:cNvSpPr txBox="1"/>
          <p:nvPr/>
        </p:nvSpPr>
        <p:spPr>
          <a:xfrm>
            <a:off x="1879600" y="4495800"/>
            <a:ext cx="2114550" cy="215900"/>
          </a:xfrm>
          <a:prstGeom prst="rect">
            <a:avLst/>
          </a:prstGeom>
          <a:noFill/>
          <a:ln/>
        </p:spPr>
        <p:txBody>
          <a:bodyPr wrap="square" lIns="0" tIns="0" rIns="0" bIns="0" rtlCol="0" anchor="t"/>
          <a:lstStyle/>
          <a:p>
            <a:pPr algn="l" indent="0" marL="0">
              <a:lnSpc>
                <a:spcPct val="110000"/>
              </a:lnSpc>
              <a:buNone/>
            </a:pPr>
            <a:r>
              <a:rPr lang="en-US" sz="1200" dirty="0">
                <a:solidFill>
                  <a:srgbClr val="5A6472"/>
                </a:solidFill>
                <a:latin typeface="Arial" pitchFamily="34" charset="0"/>
                <a:ea typeface="Arial" pitchFamily="34" charset="-122"/>
                <a:cs typeface="Arial" pitchFamily="34" charset="-120"/>
              </a:rPr>
              <a:t>[Branch · Market]</a:t>
            </a:r>
            <a:endParaRPr lang="en-US" sz="1200" dirty="0"/>
          </a:p>
        </p:txBody>
      </p:sp>
      <p:sp>
        <p:nvSpPr>
          <p:cNvPr id="27" name="Text 25"/>
          <p:cNvSpPr txBox="1"/>
          <p:nvPr/>
        </p:nvSpPr>
        <p:spPr>
          <a:xfrm>
            <a:off x="1879600" y="4724400"/>
            <a:ext cx="2114550" cy="406400"/>
          </a:xfrm>
          <a:prstGeom prst="rect">
            <a:avLst/>
          </a:prstGeom>
          <a:noFill/>
          <a:ln/>
        </p:spPr>
        <p:txBody>
          <a:bodyPr wrap="square" lIns="0" tIns="0" rIns="0" bIns="0" rtlCol="0" anchor="t"/>
          <a:lstStyle/>
          <a:p>
            <a:pPr algn="l" indent="0" marL="0">
              <a:lnSpc>
                <a:spcPct val="110000"/>
              </a:lnSpc>
              <a:buNone/>
            </a:pPr>
            <a:r>
              <a:rPr lang="en-US" sz="1200" i="1" dirty="0">
                <a:solidFill>
                  <a:srgbClr val="3D4A5C"/>
                </a:solidFill>
                <a:latin typeface="Arial" pitchFamily="34" charset="0"/>
                <a:ea typeface="Arial" pitchFamily="34" charset="-122"/>
                <a:cs typeface="Arial" pitchFamily="34" charset="-120"/>
              </a:rPr>
              <a:t>[What they bring]</a:t>
            </a:r>
            <a:endParaRPr lang="en-US" sz="1200" dirty="0"/>
          </a:p>
        </p:txBody>
      </p:sp>
      <p:sp>
        <p:nvSpPr>
          <p:cNvPr id="28" name="Shape 26"/>
          <p:cNvSpPr/>
          <p:nvPr/>
        </p:nvSpPr>
        <p:spPr>
          <a:xfrm>
            <a:off x="4400550" y="3746500"/>
            <a:ext cx="3384550" cy="1524000"/>
          </a:xfrm>
          <a:prstGeom prst="rect">
            <a:avLst/>
          </a:prstGeom>
          <a:solidFill>
            <a:srgbClr val="FDFCFA"/>
          </a:solidFill>
          <a:ln w="9525">
            <a:solidFill>
              <a:srgbClr val="E3DED3"/>
            </a:solidFill>
            <a:prstDash val="solid"/>
          </a:ln>
        </p:spPr>
      </p:sp>
      <p:sp>
        <p:nvSpPr>
          <p:cNvPr id="29" name="Shape 27"/>
          <p:cNvSpPr/>
          <p:nvPr/>
        </p:nvSpPr>
        <p:spPr>
          <a:xfrm>
            <a:off x="4603750" y="3949700"/>
            <a:ext cx="711200" cy="711200"/>
          </a:xfrm>
          <a:prstGeom prst="ellipse">
            <a:avLst/>
          </a:prstGeom>
          <a:solidFill>
            <a:srgbClr val="E3DED3"/>
          </a:solidFill>
          <a:ln/>
        </p:spPr>
      </p:sp>
      <p:sp>
        <p:nvSpPr>
          <p:cNvPr id="30" name="Text 28"/>
          <p:cNvSpPr txBox="1"/>
          <p:nvPr/>
        </p:nvSpPr>
        <p:spPr>
          <a:xfrm>
            <a:off x="5467350" y="3949700"/>
            <a:ext cx="2114550" cy="2794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Maven Pro" pitchFamily="34" charset="0"/>
                <a:ea typeface="Maven Pro" pitchFamily="34" charset="-122"/>
                <a:cs typeface="Maven Pro" pitchFamily="34" charset="-120"/>
              </a:rPr>
              <a:t>[Name]</a:t>
            </a:r>
            <a:endParaRPr lang="en-US" sz="1600" dirty="0"/>
          </a:p>
        </p:txBody>
      </p:sp>
      <p:sp>
        <p:nvSpPr>
          <p:cNvPr id="31" name="Text 29"/>
          <p:cNvSpPr txBox="1"/>
          <p:nvPr/>
        </p:nvSpPr>
        <p:spPr>
          <a:xfrm>
            <a:off x="5467350" y="4267200"/>
            <a:ext cx="2114550" cy="215900"/>
          </a:xfrm>
          <a:prstGeom prst="rect">
            <a:avLst/>
          </a:prstGeom>
          <a:noFill/>
          <a:ln/>
        </p:spPr>
        <p:txBody>
          <a:bodyPr wrap="square" lIns="0" tIns="0" rIns="0" bIns="0" rtlCol="0" anchor="t"/>
          <a:lstStyle/>
          <a:p>
            <a:pPr algn="l" indent="0" marL="0">
              <a:lnSpc>
                <a:spcPct val="110000"/>
              </a:lnSpc>
              <a:buNone/>
            </a:pPr>
            <a:r>
              <a:rPr lang="en-US" sz="1200" b="1" dirty="0">
                <a:solidFill>
                  <a:srgbClr val="002554"/>
                </a:solidFill>
                <a:latin typeface="Arial" pitchFamily="34" charset="0"/>
                <a:ea typeface="Arial" pitchFamily="34" charset="-122"/>
                <a:cs typeface="Arial" pitchFamily="34" charset="-120"/>
              </a:rPr>
              <a:t>[Title]</a:t>
            </a:r>
            <a:endParaRPr lang="en-US" sz="1200" dirty="0"/>
          </a:p>
        </p:txBody>
      </p:sp>
      <p:sp>
        <p:nvSpPr>
          <p:cNvPr id="32" name="Text 30"/>
          <p:cNvSpPr txBox="1"/>
          <p:nvPr/>
        </p:nvSpPr>
        <p:spPr>
          <a:xfrm>
            <a:off x="5467350" y="4495800"/>
            <a:ext cx="2114550" cy="215900"/>
          </a:xfrm>
          <a:prstGeom prst="rect">
            <a:avLst/>
          </a:prstGeom>
          <a:noFill/>
          <a:ln/>
        </p:spPr>
        <p:txBody>
          <a:bodyPr wrap="square" lIns="0" tIns="0" rIns="0" bIns="0" rtlCol="0" anchor="t"/>
          <a:lstStyle/>
          <a:p>
            <a:pPr algn="l" indent="0" marL="0">
              <a:lnSpc>
                <a:spcPct val="110000"/>
              </a:lnSpc>
              <a:buNone/>
            </a:pPr>
            <a:r>
              <a:rPr lang="en-US" sz="1200" dirty="0">
                <a:solidFill>
                  <a:srgbClr val="5A6472"/>
                </a:solidFill>
                <a:latin typeface="Arial" pitchFamily="34" charset="0"/>
                <a:ea typeface="Arial" pitchFamily="34" charset="-122"/>
                <a:cs typeface="Arial" pitchFamily="34" charset="-120"/>
              </a:rPr>
              <a:t>[Branch · Market]</a:t>
            </a:r>
            <a:endParaRPr lang="en-US" sz="1200" dirty="0"/>
          </a:p>
        </p:txBody>
      </p:sp>
      <p:sp>
        <p:nvSpPr>
          <p:cNvPr id="33" name="Text 31"/>
          <p:cNvSpPr txBox="1"/>
          <p:nvPr/>
        </p:nvSpPr>
        <p:spPr>
          <a:xfrm>
            <a:off x="5467350" y="4724400"/>
            <a:ext cx="2114550" cy="406400"/>
          </a:xfrm>
          <a:prstGeom prst="rect">
            <a:avLst/>
          </a:prstGeom>
          <a:noFill/>
          <a:ln/>
        </p:spPr>
        <p:txBody>
          <a:bodyPr wrap="square" lIns="0" tIns="0" rIns="0" bIns="0" rtlCol="0" anchor="t"/>
          <a:lstStyle/>
          <a:p>
            <a:pPr algn="l" indent="0" marL="0">
              <a:lnSpc>
                <a:spcPct val="110000"/>
              </a:lnSpc>
              <a:buNone/>
            </a:pPr>
            <a:r>
              <a:rPr lang="en-US" sz="1200" i="1" dirty="0">
                <a:solidFill>
                  <a:srgbClr val="3D4A5C"/>
                </a:solidFill>
                <a:latin typeface="Arial" pitchFamily="34" charset="0"/>
                <a:ea typeface="Arial" pitchFamily="34" charset="-122"/>
                <a:cs typeface="Arial" pitchFamily="34" charset="-120"/>
              </a:rPr>
              <a:t>[What they bring]</a:t>
            </a:r>
            <a:endParaRPr lang="en-US" sz="1200" dirty="0"/>
          </a:p>
        </p:txBody>
      </p:sp>
      <p:sp>
        <p:nvSpPr>
          <p:cNvPr id="34" name="Shape 32"/>
          <p:cNvSpPr/>
          <p:nvPr/>
        </p:nvSpPr>
        <p:spPr>
          <a:xfrm>
            <a:off x="7988300" y="3746500"/>
            <a:ext cx="3384550" cy="1524000"/>
          </a:xfrm>
          <a:prstGeom prst="rect">
            <a:avLst/>
          </a:prstGeom>
          <a:solidFill>
            <a:srgbClr val="FDFCFA"/>
          </a:solidFill>
          <a:ln w="9525">
            <a:solidFill>
              <a:srgbClr val="E3DED3"/>
            </a:solidFill>
            <a:prstDash val="solid"/>
          </a:ln>
        </p:spPr>
      </p:sp>
      <p:sp>
        <p:nvSpPr>
          <p:cNvPr id="35" name="Shape 33"/>
          <p:cNvSpPr/>
          <p:nvPr/>
        </p:nvSpPr>
        <p:spPr>
          <a:xfrm>
            <a:off x="8191500" y="3949700"/>
            <a:ext cx="711200" cy="711200"/>
          </a:xfrm>
          <a:prstGeom prst="ellipse">
            <a:avLst/>
          </a:prstGeom>
          <a:solidFill>
            <a:srgbClr val="E3DED3"/>
          </a:solidFill>
          <a:ln/>
        </p:spPr>
      </p:sp>
      <p:sp>
        <p:nvSpPr>
          <p:cNvPr id="36" name="Text 34"/>
          <p:cNvSpPr txBox="1"/>
          <p:nvPr/>
        </p:nvSpPr>
        <p:spPr>
          <a:xfrm>
            <a:off x="9055100" y="3949700"/>
            <a:ext cx="2114550" cy="2794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Maven Pro" pitchFamily="34" charset="0"/>
                <a:ea typeface="Maven Pro" pitchFamily="34" charset="-122"/>
                <a:cs typeface="Maven Pro" pitchFamily="34" charset="-120"/>
              </a:rPr>
              <a:t>[Name]</a:t>
            </a:r>
            <a:endParaRPr lang="en-US" sz="1600" dirty="0"/>
          </a:p>
        </p:txBody>
      </p:sp>
      <p:sp>
        <p:nvSpPr>
          <p:cNvPr id="37" name="Text 35"/>
          <p:cNvSpPr txBox="1"/>
          <p:nvPr/>
        </p:nvSpPr>
        <p:spPr>
          <a:xfrm>
            <a:off x="9055100" y="4267200"/>
            <a:ext cx="2114550" cy="215900"/>
          </a:xfrm>
          <a:prstGeom prst="rect">
            <a:avLst/>
          </a:prstGeom>
          <a:noFill/>
          <a:ln/>
        </p:spPr>
        <p:txBody>
          <a:bodyPr wrap="square" lIns="0" tIns="0" rIns="0" bIns="0" rtlCol="0" anchor="t"/>
          <a:lstStyle/>
          <a:p>
            <a:pPr algn="l" indent="0" marL="0">
              <a:lnSpc>
                <a:spcPct val="110000"/>
              </a:lnSpc>
              <a:buNone/>
            </a:pPr>
            <a:r>
              <a:rPr lang="en-US" sz="1200" b="1" dirty="0">
                <a:solidFill>
                  <a:srgbClr val="002554"/>
                </a:solidFill>
                <a:latin typeface="Arial" pitchFamily="34" charset="0"/>
                <a:ea typeface="Arial" pitchFamily="34" charset="-122"/>
                <a:cs typeface="Arial" pitchFamily="34" charset="-120"/>
              </a:rPr>
              <a:t>[Title]</a:t>
            </a:r>
            <a:endParaRPr lang="en-US" sz="1200" dirty="0"/>
          </a:p>
        </p:txBody>
      </p:sp>
      <p:sp>
        <p:nvSpPr>
          <p:cNvPr id="38" name="Text 36"/>
          <p:cNvSpPr txBox="1"/>
          <p:nvPr/>
        </p:nvSpPr>
        <p:spPr>
          <a:xfrm>
            <a:off x="9055100" y="4495800"/>
            <a:ext cx="2114550" cy="215900"/>
          </a:xfrm>
          <a:prstGeom prst="rect">
            <a:avLst/>
          </a:prstGeom>
          <a:noFill/>
          <a:ln/>
        </p:spPr>
        <p:txBody>
          <a:bodyPr wrap="square" lIns="0" tIns="0" rIns="0" bIns="0" rtlCol="0" anchor="t"/>
          <a:lstStyle/>
          <a:p>
            <a:pPr algn="l" indent="0" marL="0">
              <a:lnSpc>
                <a:spcPct val="110000"/>
              </a:lnSpc>
              <a:buNone/>
            </a:pPr>
            <a:r>
              <a:rPr lang="en-US" sz="1200" dirty="0">
                <a:solidFill>
                  <a:srgbClr val="5A6472"/>
                </a:solidFill>
                <a:latin typeface="Arial" pitchFamily="34" charset="0"/>
                <a:ea typeface="Arial" pitchFamily="34" charset="-122"/>
                <a:cs typeface="Arial" pitchFamily="34" charset="-120"/>
              </a:rPr>
              <a:t>[Branch · Market]</a:t>
            </a:r>
            <a:endParaRPr lang="en-US" sz="1200" dirty="0"/>
          </a:p>
        </p:txBody>
      </p:sp>
      <p:sp>
        <p:nvSpPr>
          <p:cNvPr id="39" name="Text 37"/>
          <p:cNvSpPr txBox="1"/>
          <p:nvPr/>
        </p:nvSpPr>
        <p:spPr>
          <a:xfrm>
            <a:off x="9055100" y="4724400"/>
            <a:ext cx="2114550" cy="406400"/>
          </a:xfrm>
          <a:prstGeom prst="rect">
            <a:avLst/>
          </a:prstGeom>
          <a:noFill/>
          <a:ln/>
        </p:spPr>
        <p:txBody>
          <a:bodyPr wrap="square" lIns="0" tIns="0" rIns="0" bIns="0" rtlCol="0" anchor="t"/>
          <a:lstStyle/>
          <a:p>
            <a:pPr algn="l" indent="0" marL="0">
              <a:lnSpc>
                <a:spcPct val="110000"/>
              </a:lnSpc>
              <a:buNone/>
            </a:pPr>
            <a:r>
              <a:rPr lang="en-US" sz="1200" i="1" dirty="0">
                <a:solidFill>
                  <a:srgbClr val="3D4A5C"/>
                </a:solidFill>
                <a:latin typeface="Arial" pitchFamily="34" charset="0"/>
                <a:ea typeface="Arial" pitchFamily="34" charset="-122"/>
                <a:cs typeface="Arial" pitchFamily="34" charset="-120"/>
              </a:rPr>
              <a:t>[What they bring]</a:t>
            </a:r>
            <a:endParaRPr lang="en-US" sz="12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CE8E00"/>
                </a:solidFill>
                <a:latin typeface="Arial" pitchFamily="34" charset="0"/>
                <a:ea typeface="Arial" pitchFamily="34" charset="-122"/>
                <a:cs typeface="Arial" pitchFamily="34" charset="-120"/>
              </a:rPr>
              <a:t>ON-SITE · NASHVILLE · OCT 21–23</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F8F6F1"/>
                </a:solidFill>
                <a:latin typeface="Maven Pro" pitchFamily="34" charset="0"/>
                <a:ea typeface="Maven Pro" pitchFamily="34" charset="-122"/>
                <a:cs typeface="Maven Pro" pitchFamily="34" charset="-120"/>
              </a:rPr>
              <a:t>What our experts will do</a:t>
            </a:r>
            <a:endParaRPr lang="en-US" sz="4000" dirty="0"/>
          </a:p>
        </p:txBody>
      </p:sp>
      <p:sp>
        <p:nvSpPr>
          <p:cNvPr id="4" name="Shape 2"/>
          <p:cNvSpPr/>
          <p:nvPr/>
        </p:nvSpPr>
        <p:spPr>
          <a:xfrm>
            <a:off x="812800" y="2159000"/>
            <a:ext cx="5080000" cy="0"/>
          </a:xfrm>
          <a:prstGeom prst="line">
            <a:avLst/>
          </a:prstGeom>
          <a:noFill/>
          <a:ln w="9525">
            <a:solidFill>
              <a:srgbClr val="2A4A78"/>
            </a:solidFill>
            <a:prstDash val="solid"/>
          </a:ln>
        </p:spPr>
      </p:sp>
      <p:sp>
        <p:nvSpPr>
          <p:cNvPr id="5" name="Text 3"/>
          <p:cNvSpPr txBox="1"/>
          <p:nvPr/>
        </p:nvSpPr>
        <p:spPr>
          <a:xfrm>
            <a:off x="812800" y="2362200"/>
            <a:ext cx="609600" cy="444500"/>
          </a:xfrm>
          <a:prstGeom prst="rect">
            <a:avLst/>
          </a:prstGeom>
          <a:noFill/>
          <a:ln/>
        </p:spPr>
        <p:txBody>
          <a:bodyPr wrap="square" lIns="0" tIns="0" rIns="0" bIns="0" rtlCol="0" anchor="t"/>
          <a:lstStyle/>
          <a:p>
            <a:pPr algn="l" indent="0" marL="0">
              <a:lnSpc>
                <a:spcPct val="110000"/>
              </a:lnSpc>
              <a:buNone/>
            </a:pPr>
            <a:r>
              <a:rPr lang="en-US" sz="3200" dirty="0">
                <a:solidFill>
                  <a:srgbClr val="CE8E00"/>
                </a:solidFill>
                <a:latin typeface="Maven Pro" pitchFamily="34" charset="0"/>
                <a:ea typeface="Maven Pro" pitchFamily="34" charset="-122"/>
                <a:cs typeface="Maven Pro" pitchFamily="34" charset="-120"/>
              </a:rPr>
              <a:t>01</a:t>
            </a:r>
            <a:endParaRPr lang="en-US" sz="3200" dirty="0"/>
          </a:p>
        </p:txBody>
      </p:sp>
      <p:sp>
        <p:nvSpPr>
          <p:cNvPr id="6" name="Text 4"/>
          <p:cNvSpPr txBox="1"/>
          <p:nvPr/>
        </p:nvSpPr>
        <p:spPr>
          <a:xfrm>
            <a:off x="1625600" y="2362200"/>
            <a:ext cx="4267200" cy="355600"/>
          </a:xfrm>
          <a:prstGeom prst="rect">
            <a:avLst/>
          </a:prstGeom>
          <a:noFill/>
          <a:ln/>
        </p:spPr>
        <p:txBody>
          <a:bodyPr wrap="square" lIns="0" tIns="0" rIns="0" bIns="0" rtlCol="0" anchor="t"/>
          <a:lstStyle/>
          <a:p>
            <a:pPr algn="l" indent="0" marL="0">
              <a:lnSpc>
                <a:spcPct val="110000"/>
              </a:lnSpc>
              <a:buNone/>
            </a:pPr>
            <a:r>
              <a:rPr lang="en-US" sz="2000" dirty="0">
                <a:solidFill>
                  <a:srgbClr val="F8F6F1"/>
                </a:solidFill>
                <a:latin typeface="Maven Pro" pitchFamily="34" charset="0"/>
                <a:ea typeface="Maven Pro" pitchFamily="34" charset="-122"/>
                <a:cs typeface="Maven Pro" pitchFamily="34" charset="-120"/>
              </a:rPr>
              <a:t>Bring real scenarios</a:t>
            </a:r>
            <a:endParaRPr lang="en-US" sz="2000" dirty="0"/>
          </a:p>
        </p:txBody>
      </p:sp>
      <p:sp>
        <p:nvSpPr>
          <p:cNvPr id="7" name="Text 5"/>
          <p:cNvSpPr txBox="1"/>
          <p:nvPr/>
        </p:nvSpPr>
        <p:spPr>
          <a:xfrm>
            <a:off x="1625600" y="2781300"/>
            <a:ext cx="4267200" cy="635000"/>
          </a:xfrm>
          <a:prstGeom prst="rect">
            <a:avLst/>
          </a:prstGeom>
          <a:noFill/>
          <a:ln/>
        </p:spPr>
        <p:txBody>
          <a:bodyPr wrap="square" lIns="0" tIns="0" rIns="0" bIns="0" rtlCol="0" anchor="t"/>
          <a:lstStyle/>
          <a:p>
            <a:pPr algn="l" indent="0" marL="0">
              <a:lnSpc>
                <a:spcPct val="120000"/>
              </a:lnSpc>
              <a:buNone/>
            </a:pPr>
            <a:r>
              <a:rPr lang="en-US" sz="1400" dirty="0">
                <a:solidFill>
                  <a:srgbClr val="C9D3E0"/>
                </a:solidFill>
                <a:latin typeface="Arial" pitchFamily="34" charset="0"/>
                <a:ea typeface="Arial" pitchFamily="34" charset="-122"/>
                <a:cs typeface="Arial" pitchFamily="34" charset="-120"/>
              </a:rPr>
              <a:t>Test each product on situations our branches face every week, not a scripted demo.</a:t>
            </a:r>
            <a:endParaRPr lang="en-US" sz="1400" dirty="0"/>
          </a:p>
        </p:txBody>
      </p:sp>
      <p:sp>
        <p:nvSpPr>
          <p:cNvPr id="8" name="Shape 6"/>
          <p:cNvSpPr/>
          <p:nvPr/>
        </p:nvSpPr>
        <p:spPr>
          <a:xfrm>
            <a:off x="6299200" y="2159000"/>
            <a:ext cx="5080000" cy="0"/>
          </a:xfrm>
          <a:prstGeom prst="line">
            <a:avLst/>
          </a:prstGeom>
          <a:noFill/>
          <a:ln w="9525">
            <a:solidFill>
              <a:srgbClr val="2A4A78"/>
            </a:solidFill>
            <a:prstDash val="solid"/>
          </a:ln>
        </p:spPr>
      </p:sp>
      <p:sp>
        <p:nvSpPr>
          <p:cNvPr id="9" name="Text 7"/>
          <p:cNvSpPr txBox="1"/>
          <p:nvPr/>
        </p:nvSpPr>
        <p:spPr>
          <a:xfrm>
            <a:off x="6299200" y="2362200"/>
            <a:ext cx="609600" cy="444500"/>
          </a:xfrm>
          <a:prstGeom prst="rect">
            <a:avLst/>
          </a:prstGeom>
          <a:noFill/>
          <a:ln/>
        </p:spPr>
        <p:txBody>
          <a:bodyPr wrap="square" lIns="0" tIns="0" rIns="0" bIns="0" rtlCol="0" anchor="t"/>
          <a:lstStyle/>
          <a:p>
            <a:pPr algn="l" indent="0" marL="0">
              <a:lnSpc>
                <a:spcPct val="110000"/>
              </a:lnSpc>
              <a:buNone/>
            </a:pPr>
            <a:r>
              <a:rPr lang="en-US" sz="3200" dirty="0">
                <a:solidFill>
                  <a:srgbClr val="CE8E00"/>
                </a:solidFill>
                <a:latin typeface="Maven Pro" pitchFamily="34" charset="0"/>
                <a:ea typeface="Maven Pro" pitchFamily="34" charset="-122"/>
                <a:cs typeface="Maven Pro" pitchFamily="34" charset="-120"/>
              </a:rPr>
              <a:t>02</a:t>
            </a:r>
            <a:endParaRPr lang="en-US" sz="3200" dirty="0"/>
          </a:p>
        </p:txBody>
      </p:sp>
      <p:sp>
        <p:nvSpPr>
          <p:cNvPr id="10" name="Text 8"/>
          <p:cNvSpPr txBox="1"/>
          <p:nvPr/>
        </p:nvSpPr>
        <p:spPr>
          <a:xfrm>
            <a:off x="7112000" y="2362200"/>
            <a:ext cx="4267200" cy="355600"/>
          </a:xfrm>
          <a:prstGeom prst="rect">
            <a:avLst/>
          </a:prstGeom>
          <a:noFill/>
          <a:ln/>
        </p:spPr>
        <p:txBody>
          <a:bodyPr wrap="square" lIns="0" tIns="0" rIns="0" bIns="0" rtlCol="0" anchor="t"/>
          <a:lstStyle/>
          <a:p>
            <a:pPr algn="l" indent="0" marL="0">
              <a:lnSpc>
                <a:spcPct val="110000"/>
              </a:lnSpc>
              <a:buNone/>
            </a:pPr>
            <a:r>
              <a:rPr lang="en-US" sz="2000" dirty="0">
                <a:solidFill>
                  <a:srgbClr val="F8F6F1"/>
                </a:solidFill>
                <a:latin typeface="Maven Pro" pitchFamily="34" charset="0"/>
                <a:ea typeface="Maven Pro" pitchFamily="34" charset="-122"/>
                <a:cs typeface="Maven Pro" pitchFamily="34" charset="-120"/>
              </a:rPr>
              <a:t>Score it together</a:t>
            </a:r>
            <a:endParaRPr lang="en-US" sz="2000" dirty="0"/>
          </a:p>
        </p:txBody>
      </p:sp>
      <p:sp>
        <p:nvSpPr>
          <p:cNvPr id="11" name="Text 9"/>
          <p:cNvSpPr txBox="1"/>
          <p:nvPr/>
        </p:nvSpPr>
        <p:spPr>
          <a:xfrm>
            <a:off x="7112000" y="2781300"/>
            <a:ext cx="4267200" cy="635000"/>
          </a:xfrm>
          <a:prstGeom prst="rect">
            <a:avLst/>
          </a:prstGeom>
          <a:noFill/>
          <a:ln/>
        </p:spPr>
        <p:txBody>
          <a:bodyPr wrap="square" lIns="0" tIns="0" rIns="0" bIns="0" rtlCol="0" anchor="t"/>
          <a:lstStyle/>
          <a:p>
            <a:pPr algn="l" indent="0" marL="0">
              <a:lnSpc>
                <a:spcPct val="120000"/>
              </a:lnSpc>
              <a:buNone/>
            </a:pPr>
            <a:r>
              <a:rPr lang="en-US" sz="1400" dirty="0">
                <a:solidFill>
                  <a:srgbClr val="C9D3E0"/>
                </a:solidFill>
                <a:latin typeface="Arial" pitchFamily="34" charset="0"/>
                <a:ea typeface="Arial" pitchFamily="34" charset="-122"/>
                <a:cs typeface="Arial" pitchFamily="34" charset="-120"/>
              </a:rPr>
              <a:t>Rate every vendor on the same shared scorecard, so comparisons are fair.</a:t>
            </a:r>
            <a:endParaRPr lang="en-US" sz="1400" dirty="0"/>
          </a:p>
        </p:txBody>
      </p:sp>
      <p:sp>
        <p:nvSpPr>
          <p:cNvPr id="12" name="Shape 10"/>
          <p:cNvSpPr/>
          <p:nvPr/>
        </p:nvSpPr>
        <p:spPr>
          <a:xfrm>
            <a:off x="812800" y="3873500"/>
            <a:ext cx="5080000" cy="0"/>
          </a:xfrm>
          <a:prstGeom prst="line">
            <a:avLst/>
          </a:prstGeom>
          <a:noFill/>
          <a:ln w="9525">
            <a:solidFill>
              <a:srgbClr val="2A4A78"/>
            </a:solidFill>
            <a:prstDash val="solid"/>
          </a:ln>
        </p:spPr>
      </p:sp>
      <p:sp>
        <p:nvSpPr>
          <p:cNvPr id="13" name="Text 11"/>
          <p:cNvSpPr txBox="1"/>
          <p:nvPr/>
        </p:nvSpPr>
        <p:spPr>
          <a:xfrm>
            <a:off x="812800" y="4076700"/>
            <a:ext cx="609600" cy="444500"/>
          </a:xfrm>
          <a:prstGeom prst="rect">
            <a:avLst/>
          </a:prstGeom>
          <a:noFill/>
          <a:ln/>
        </p:spPr>
        <p:txBody>
          <a:bodyPr wrap="square" lIns="0" tIns="0" rIns="0" bIns="0" rtlCol="0" anchor="t"/>
          <a:lstStyle/>
          <a:p>
            <a:pPr algn="l" indent="0" marL="0">
              <a:lnSpc>
                <a:spcPct val="110000"/>
              </a:lnSpc>
              <a:buNone/>
            </a:pPr>
            <a:r>
              <a:rPr lang="en-US" sz="3200" dirty="0">
                <a:solidFill>
                  <a:srgbClr val="CE8E00"/>
                </a:solidFill>
                <a:latin typeface="Maven Pro" pitchFamily="34" charset="0"/>
                <a:ea typeface="Maven Pro" pitchFamily="34" charset="-122"/>
                <a:cs typeface="Maven Pro" pitchFamily="34" charset="-120"/>
              </a:rPr>
              <a:t>03</a:t>
            </a:r>
            <a:endParaRPr lang="en-US" sz="3200" dirty="0"/>
          </a:p>
        </p:txBody>
      </p:sp>
      <p:sp>
        <p:nvSpPr>
          <p:cNvPr id="14" name="Text 12"/>
          <p:cNvSpPr txBox="1"/>
          <p:nvPr/>
        </p:nvSpPr>
        <p:spPr>
          <a:xfrm>
            <a:off x="1625600" y="4076700"/>
            <a:ext cx="4267200" cy="355600"/>
          </a:xfrm>
          <a:prstGeom prst="rect">
            <a:avLst/>
          </a:prstGeom>
          <a:noFill/>
          <a:ln/>
        </p:spPr>
        <p:txBody>
          <a:bodyPr wrap="square" lIns="0" tIns="0" rIns="0" bIns="0" rtlCol="0" anchor="t"/>
          <a:lstStyle/>
          <a:p>
            <a:pPr algn="l" indent="0" marL="0">
              <a:lnSpc>
                <a:spcPct val="110000"/>
              </a:lnSpc>
              <a:buNone/>
            </a:pPr>
            <a:r>
              <a:rPr lang="en-US" sz="2000" dirty="0">
                <a:solidFill>
                  <a:srgbClr val="F8F6F1"/>
                </a:solidFill>
                <a:latin typeface="Maven Pro" pitchFamily="34" charset="0"/>
                <a:ea typeface="Maven Pro" pitchFamily="34" charset="-122"/>
                <a:cs typeface="Maven Pro" pitchFamily="34" charset="-120"/>
              </a:rPr>
              <a:t>Find the edges</a:t>
            </a:r>
            <a:endParaRPr lang="en-US" sz="2000" dirty="0"/>
          </a:p>
        </p:txBody>
      </p:sp>
      <p:sp>
        <p:nvSpPr>
          <p:cNvPr id="15" name="Text 13"/>
          <p:cNvSpPr txBox="1"/>
          <p:nvPr/>
        </p:nvSpPr>
        <p:spPr>
          <a:xfrm>
            <a:off x="1625600" y="4495800"/>
            <a:ext cx="4267200" cy="635000"/>
          </a:xfrm>
          <a:prstGeom prst="rect">
            <a:avLst/>
          </a:prstGeom>
          <a:noFill/>
          <a:ln/>
        </p:spPr>
        <p:txBody>
          <a:bodyPr wrap="square" lIns="0" tIns="0" rIns="0" bIns="0" rtlCol="0" anchor="t"/>
          <a:lstStyle/>
          <a:p>
            <a:pPr algn="l" indent="0" marL="0">
              <a:lnSpc>
                <a:spcPct val="120000"/>
              </a:lnSpc>
              <a:buNone/>
            </a:pPr>
            <a:r>
              <a:rPr lang="en-US" sz="1400" dirty="0">
                <a:solidFill>
                  <a:srgbClr val="C9D3E0"/>
                </a:solidFill>
                <a:latin typeface="Arial" pitchFamily="34" charset="0"/>
                <a:ea typeface="Arial" pitchFamily="34" charset="-122"/>
                <a:cs typeface="Arial" pitchFamily="34" charset="-120"/>
              </a:rPr>
              <a:t>Push on the exceptions: call-outs, authorizations, recerts and weekend coverage.</a:t>
            </a:r>
            <a:endParaRPr lang="en-US" sz="1400" dirty="0"/>
          </a:p>
        </p:txBody>
      </p:sp>
      <p:sp>
        <p:nvSpPr>
          <p:cNvPr id="16" name="Shape 14"/>
          <p:cNvSpPr/>
          <p:nvPr/>
        </p:nvSpPr>
        <p:spPr>
          <a:xfrm>
            <a:off x="6299200" y="3873500"/>
            <a:ext cx="5080000" cy="0"/>
          </a:xfrm>
          <a:prstGeom prst="line">
            <a:avLst/>
          </a:prstGeom>
          <a:noFill/>
          <a:ln w="9525">
            <a:solidFill>
              <a:srgbClr val="2A4A78"/>
            </a:solidFill>
            <a:prstDash val="solid"/>
          </a:ln>
        </p:spPr>
      </p:sp>
      <p:sp>
        <p:nvSpPr>
          <p:cNvPr id="17" name="Text 15"/>
          <p:cNvSpPr txBox="1"/>
          <p:nvPr/>
        </p:nvSpPr>
        <p:spPr>
          <a:xfrm>
            <a:off x="6299200" y="4076700"/>
            <a:ext cx="609600" cy="444500"/>
          </a:xfrm>
          <a:prstGeom prst="rect">
            <a:avLst/>
          </a:prstGeom>
          <a:noFill/>
          <a:ln/>
        </p:spPr>
        <p:txBody>
          <a:bodyPr wrap="square" lIns="0" tIns="0" rIns="0" bIns="0" rtlCol="0" anchor="t"/>
          <a:lstStyle/>
          <a:p>
            <a:pPr algn="l" indent="0" marL="0">
              <a:lnSpc>
                <a:spcPct val="110000"/>
              </a:lnSpc>
              <a:buNone/>
            </a:pPr>
            <a:r>
              <a:rPr lang="en-US" sz="3200" dirty="0">
                <a:solidFill>
                  <a:srgbClr val="CE8E00"/>
                </a:solidFill>
                <a:latin typeface="Maven Pro" pitchFamily="34" charset="0"/>
                <a:ea typeface="Maven Pro" pitchFamily="34" charset="-122"/>
                <a:cs typeface="Maven Pro" pitchFamily="34" charset="-120"/>
              </a:rPr>
              <a:t>04</a:t>
            </a:r>
            <a:endParaRPr lang="en-US" sz="3200" dirty="0"/>
          </a:p>
        </p:txBody>
      </p:sp>
      <p:sp>
        <p:nvSpPr>
          <p:cNvPr id="18" name="Text 16"/>
          <p:cNvSpPr txBox="1"/>
          <p:nvPr/>
        </p:nvSpPr>
        <p:spPr>
          <a:xfrm>
            <a:off x="7112000" y="4076700"/>
            <a:ext cx="4267200" cy="355600"/>
          </a:xfrm>
          <a:prstGeom prst="rect">
            <a:avLst/>
          </a:prstGeom>
          <a:noFill/>
          <a:ln/>
        </p:spPr>
        <p:txBody>
          <a:bodyPr wrap="square" lIns="0" tIns="0" rIns="0" bIns="0" rtlCol="0" anchor="t"/>
          <a:lstStyle/>
          <a:p>
            <a:pPr algn="l" indent="0" marL="0">
              <a:lnSpc>
                <a:spcPct val="110000"/>
              </a:lnSpc>
              <a:buNone/>
            </a:pPr>
            <a:r>
              <a:rPr lang="en-US" sz="2000" dirty="0">
                <a:solidFill>
                  <a:srgbClr val="F8F6F1"/>
                </a:solidFill>
                <a:latin typeface="Maven Pro" pitchFamily="34" charset="0"/>
                <a:ea typeface="Maven Pro" pitchFamily="34" charset="-122"/>
                <a:cs typeface="Maven Pro" pitchFamily="34" charset="-120"/>
              </a:rPr>
              <a:t>Speak for the field</a:t>
            </a:r>
            <a:endParaRPr lang="en-US" sz="2000" dirty="0"/>
          </a:p>
        </p:txBody>
      </p:sp>
      <p:sp>
        <p:nvSpPr>
          <p:cNvPr id="19" name="Text 17"/>
          <p:cNvSpPr txBox="1"/>
          <p:nvPr/>
        </p:nvSpPr>
        <p:spPr>
          <a:xfrm>
            <a:off x="7112000" y="4495800"/>
            <a:ext cx="4267200" cy="635000"/>
          </a:xfrm>
          <a:prstGeom prst="rect">
            <a:avLst/>
          </a:prstGeom>
          <a:noFill/>
          <a:ln/>
        </p:spPr>
        <p:txBody>
          <a:bodyPr wrap="square" lIns="0" tIns="0" rIns="0" bIns="0" rtlCol="0" anchor="t"/>
          <a:lstStyle/>
          <a:p>
            <a:pPr algn="l" indent="0" marL="0">
              <a:lnSpc>
                <a:spcPct val="120000"/>
              </a:lnSpc>
              <a:buNone/>
            </a:pPr>
            <a:r>
              <a:rPr lang="en-US" sz="1400" dirty="0">
                <a:solidFill>
                  <a:srgbClr val="C9D3E0"/>
                </a:solidFill>
                <a:latin typeface="Arial" pitchFamily="34" charset="0"/>
                <a:ea typeface="Arial" pitchFamily="34" charset="-122"/>
                <a:cs typeface="Arial" pitchFamily="34" charset="-120"/>
              </a:rPr>
              <a:t>Tell us what a tool must always do, and what it must never do.</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9AAAC0"/>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THE ASSESSMENT LENS</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How we will judge fit</a:t>
            </a:r>
            <a:endParaRPr lang="en-US" sz="4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12800" y="2044700"/>
          <a:ext cx="10566400" cy="914400"/>
        </p:xfrm>
        <a:graphic>
          <a:graphicData uri="http://schemas.openxmlformats.org/drawingml/2006/table">
            <a:tbl>
              <a:tblPr/>
              <a:tblGrid>
                <a:gridCol w="3175000"/>
                <a:gridCol w="7391400"/>
              </a:tblGrid>
              <a:tr h="406400">
                <a:tc>
                  <a:txBody>
                    <a:bodyPr/>
                    <a:lstStyle/>
                    <a:p>
                      <a:pPr indent="0" marL="0">
                        <a:buNone/>
                      </a:pPr>
                      <a:r>
                        <a:rPr lang="en-US" sz="1300" b="1" dirty="0">
                          <a:solidFill>
                            <a:srgbClr val="8A5F00"/>
                          </a:solidFill>
                          <a:latin typeface="Arial" pitchFamily="34" charset="0"/>
                          <a:ea typeface="Arial" pitchFamily="34" charset="-122"/>
                          <a:cs typeface="Arial" pitchFamily="34" charset="-120"/>
                        </a:rPr>
                        <a:t>What we assess</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b="1" dirty="0">
                          <a:solidFill>
                            <a:srgbClr val="8A5F00"/>
                          </a:solidFill>
                          <a:latin typeface="Arial" pitchFamily="34" charset="0"/>
                          <a:ea typeface="Arial" pitchFamily="34" charset="-122"/>
                          <a:cs typeface="Arial" pitchFamily="34" charset="-120"/>
                        </a:rPr>
                        <a:t>The question our experts will ask</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406400">
                <a:tc>
                  <a:txBody>
                    <a:bodyPr/>
                    <a:lstStyle/>
                    <a:p>
                      <a:pPr indent="0" marL="0">
                        <a:buNone/>
                      </a:pPr>
                      <a:r>
                        <a:rPr lang="en-US" sz="1300" dirty="0">
                          <a:solidFill>
                            <a:srgbClr val="002554"/>
                          </a:solidFill>
                          <a:latin typeface="Arial" pitchFamily="34" charset="0"/>
                          <a:ea typeface="Arial" pitchFamily="34" charset="-122"/>
                          <a:cs typeface="Arial" pitchFamily="34" charset="-120"/>
                        </a:rPr>
                        <a:t>Real-world fit</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Does it work the way our branches and field actually work?</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406400">
                <a:tc>
                  <a:txBody>
                    <a:bodyPr/>
                    <a:lstStyle/>
                    <a:p>
                      <a:pPr indent="0" marL="0">
                        <a:buNone/>
                      </a:pPr>
                      <a:r>
                        <a:rPr lang="en-US" sz="1300" dirty="0">
                          <a:solidFill>
                            <a:srgbClr val="002554"/>
                          </a:solidFill>
                          <a:latin typeface="Arial" pitchFamily="34" charset="0"/>
                          <a:ea typeface="Arial" pitchFamily="34" charset="-122"/>
                          <a:cs typeface="Arial" pitchFamily="34" charset="-120"/>
                        </a:rPr>
                        <a:t>Capacity first</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Does it show capacity by discipline and territory before it schedules?</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406400">
                <a:tc>
                  <a:txBody>
                    <a:bodyPr/>
                    <a:lstStyle/>
                    <a:p>
                      <a:pPr indent="0" marL="0">
                        <a:buNone/>
                      </a:pPr>
                      <a:r>
                        <a:rPr lang="en-US" sz="1300" dirty="0">
                          <a:solidFill>
                            <a:srgbClr val="002554"/>
                          </a:solidFill>
                          <a:latin typeface="Arial" pitchFamily="34" charset="0"/>
                          <a:ea typeface="Arial" pitchFamily="34" charset="-122"/>
                          <a:cs typeface="Arial" pitchFamily="34" charset="-120"/>
                        </a:rPr>
                        <a:t>Transparency</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Does every recommendation show its reasoning?</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406400">
                <a:tc>
                  <a:txBody>
                    <a:bodyPr/>
                    <a:lstStyle/>
                    <a:p>
                      <a:pPr indent="0" marL="0">
                        <a:buNone/>
                      </a:pPr>
                      <a:r>
                        <a:rPr lang="en-US" sz="1300" dirty="0">
                          <a:solidFill>
                            <a:srgbClr val="002554"/>
                          </a:solidFill>
                          <a:latin typeface="Arial" pitchFamily="34" charset="0"/>
                          <a:ea typeface="Arial" pitchFamily="34" charset="-122"/>
                          <a:cs typeface="Arial" pitchFamily="34" charset="-120"/>
                        </a:rPr>
                        <a:t>Human in control</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Can the branch override easily, and does the tool learn from it?</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406400">
                <a:tc>
                  <a:txBody>
                    <a:bodyPr/>
                    <a:lstStyle/>
                    <a:p>
                      <a:pPr indent="0" marL="0">
                        <a:buNone/>
                      </a:pPr>
                      <a:r>
                        <a:rPr lang="en-US" sz="1300" dirty="0">
                          <a:solidFill>
                            <a:srgbClr val="002554"/>
                          </a:solidFill>
                          <a:latin typeface="Arial" pitchFamily="34" charset="0"/>
                          <a:ea typeface="Arial" pitchFamily="34" charset="-122"/>
                          <a:cs typeface="Arial" pitchFamily="34" charset="-120"/>
                        </a:rPr>
                        <a:t>Clinician experience</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Does it reduce daily calls and preserve flexibility?</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406400">
                <a:tc>
                  <a:txBody>
                    <a:bodyPr/>
                    <a:lstStyle/>
                    <a:p>
                      <a:pPr indent="0" marL="0">
                        <a:buNone/>
                      </a:pPr>
                      <a:r>
                        <a:rPr lang="en-US" sz="1300" dirty="0">
                          <a:solidFill>
                            <a:srgbClr val="002554"/>
                          </a:solidFill>
                          <a:latin typeface="Arial" pitchFamily="34" charset="0"/>
                          <a:ea typeface="Arial" pitchFamily="34" charset="-122"/>
                          <a:cs typeface="Arial" pitchFamily="34" charset="-120"/>
                        </a:rPr>
                        <a:t>Integration</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Does it work with HCHB and the systems we already use?</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r h="406400">
                <a:tc>
                  <a:txBody>
                    <a:bodyPr/>
                    <a:lstStyle/>
                    <a:p>
                      <a:pPr indent="0" marL="0">
                        <a:buNone/>
                      </a:pPr>
                      <a:r>
                        <a:rPr lang="en-US" sz="1300" dirty="0">
                          <a:solidFill>
                            <a:srgbClr val="002554"/>
                          </a:solidFill>
                          <a:latin typeface="Arial" pitchFamily="34" charset="0"/>
                          <a:ea typeface="Arial" pitchFamily="34" charset="-122"/>
                          <a:cs typeface="Arial" pitchFamily="34" charset="-120"/>
                        </a:rPr>
                        <a:t>Ease of adoption</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c>
                  <a:txBody>
                    <a:bodyPr/>
                    <a:lstStyle/>
                    <a:p>
                      <a:pPr indent="0" marL="0">
                        <a:buNone/>
                      </a:pPr>
                      <a:r>
                        <a:rPr lang="en-US" sz="1300" dirty="0">
                          <a:solidFill>
                            <a:srgbClr val="002554"/>
                          </a:solidFill>
                          <a:latin typeface="Arial" pitchFamily="34" charset="0"/>
                          <a:ea typeface="Arial" pitchFamily="34" charset="-122"/>
                          <a:cs typeface="Arial" pitchFamily="34" charset="-120"/>
                        </a:rPr>
                        <a:t>Could a PCC use it with confidence after a short orientation?</a:t>
                      </a:r>
                      <a:endParaRPr lang="en-US" sz="1300" dirty="0">
                        <a:latin typeface="Arial" charset="0"/>
                        <a:ea typeface="Arial" charset="0"/>
                        <a:cs typeface="Arial" charset="0"/>
                      </a:endParaRPr>
                    </a:p>
                  </a:txBody>
                  <a:tcPr marL="91440" marR="91440" marT="91440" marB="91440" anchor="ctr">
                    <a:lnL w="9525" cap="flat" cmpd="sng" algn="ctr">
                      <a:solidFill>
                        <a:srgbClr val="D6D0C2"/>
                      </a:solidFill>
                      <a:prstDash val="solid"/>
                      <a:round/>
                      <a:headEnd type="none" w="med" len="med"/>
                      <a:tailEnd type="none" w="med" len="med"/>
                    </a:lnL>
                    <a:lnR w="9525" cap="flat" cmpd="sng" algn="ctr">
                      <a:solidFill>
                        <a:srgbClr val="D6D0C2"/>
                      </a:solidFill>
                      <a:prstDash val="solid"/>
                      <a:round/>
                      <a:headEnd type="none" w="med" len="med"/>
                      <a:tailEnd type="none" w="med" len="med"/>
                    </a:lnR>
                    <a:lnT w="9525" cap="flat" cmpd="sng" algn="ctr">
                      <a:solidFill>
                        <a:srgbClr val="D6D0C2"/>
                      </a:solidFill>
                      <a:prstDash val="solid"/>
                      <a:round/>
                      <a:headEnd type="none" w="med" len="med"/>
                      <a:tailEnd type="none" w="med" len="med"/>
                    </a:lnT>
                    <a:lnB w="9525" cap="flat" cmpd="sng" algn="ctr">
                      <a:solidFill>
                        <a:srgbClr val="D6D0C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CE8E00"/>
                </a:solidFill>
                <a:latin typeface="Arial" pitchFamily="34" charset="0"/>
                <a:ea typeface="Arial" pitchFamily="34" charset="-122"/>
                <a:cs typeface="Arial" pitchFamily="34" charset="-120"/>
              </a:rPr>
              <a:t>THE OUTCOME</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F8F6F1"/>
                </a:solidFill>
                <a:latin typeface="Maven Pro" pitchFamily="34" charset="0"/>
                <a:ea typeface="Maven Pro" pitchFamily="34" charset="-122"/>
                <a:cs typeface="Maven Pro" pitchFamily="34" charset="-120"/>
              </a:rPr>
              <a:t>What success looks like</a:t>
            </a:r>
            <a:endParaRPr lang="en-US" sz="4000" dirty="0"/>
          </a:p>
        </p:txBody>
      </p:sp>
      <p:sp>
        <p:nvSpPr>
          <p:cNvPr id="4" name="Shape 2"/>
          <p:cNvSpPr/>
          <p:nvPr/>
        </p:nvSpPr>
        <p:spPr>
          <a:xfrm>
            <a:off x="812800" y="2159000"/>
            <a:ext cx="5080000" cy="0"/>
          </a:xfrm>
          <a:prstGeom prst="line">
            <a:avLst/>
          </a:prstGeom>
          <a:noFill/>
          <a:ln w="9525">
            <a:solidFill>
              <a:srgbClr val="2A4A78"/>
            </a:solidFill>
            <a:prstDash val="solid"/>
          </a:ln>
        </p:spPr>
      </p:sp>
      <p:sp>
        <p:nvSpPr>
          <p:cNvPr id="5" name="Text 3"/>
          <p:cNvSpPr txBox="1"/>
          <p:nvPr/>
        </p:nvSpPr>
        <p:spPr>
          <a:xfrm>
            <a:off x="812800" y="2362200"/>
            <a:ext cx="50800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CE8E00"/>
                </a:solidFill>
                <a:latin typeface="Arial" pitchFamily="34" charset="0"/>
                <a:ea typeface="Arial" pitchFamily="34" charset="-122"/>
                <a:cs typeface="Arial" pitchFamily="34" charset="-120"/>
              </a:rPr>
              <a:t>FOR A BRANCH LEADER</a:t>
            </a:r>
            <a:endParaRPr lang="en-US" sz="1200" dirty="0"/>
          </a:p>
        </p:txBody>
      </p:sp>
      <p:sp>
        <p:nvSpPr>
          <p:cNvPr id="6" name="Text 4"/>
          <p:cNvSpPr txBox="1"/>
          <p:nvPr/>
        </p:nvSpPr>
        <p:spPr>
          <a:xfrm>
            <a:off x="812800" y="2679700"/>
            <a:ext cx="5080000" cy="889000"/>
          </a:xfrm>
          <a:prstGeom prst="rect">
            <a:avLst/>
          </a:prstGeom>
          <a:noFill/>
          <a:ln/>
        </p:spPr>
        <p:txBody>
          <a:bodyPr wrap="square" lIns="0" tIns="0" rIns="0" bIns="0" rtlCol="0" anchor="t"/>
          <a:lstStyle/>
          <a:p>
            <a:pPr algn="l" indent="0" marL="0">
              <a:lnSpc>
                <a:spcPct val="110000"/>
              </a:lnSpc>
              <a:buNone/>
            </a:pPr>
            <a:r>
              <a:rPr lang="en-US" sz="2000" dirty="0">
                <a:solidFill>
                  <a:srgbClr val="F8F6F1"/>
                </a:solidFill>
                <a:latin typeface="Maven Pro" pitchFamily="34" charset="0"/>
                <a:ea typeface="Maven Pro" pitchFamily="34" charset="-122"/>
                <a:cs typeface="Maven Pro" pitchFamily="34" charset="-120"/>
              </a:rPr>
              <a:t>Capacity by discipline and territory in one view, and the confidence to say yes.</a:t>
            </a:r>
            <a:endParaRPr lang="en-US" sz="2000" dirty="0"/>
          </a:p>
        </p:txBody>
      </p:sp>
      <p:sp>
        <p:nvSpPr>
          <p:cNvPr id="7" name="Shape 5"/>
          <p:cNvSpPr/>
          <p:nvPr/>
        </p:nvSpPr>
        <p:spPr>
          <a:xfrm>
            <a:off x="6299200" y="2159000"/>
            <a:ext cx="5080000" cy="0"/>
          </a:xfrm>
          <a:prstGeom prst="line">
            <a:avLst/>
          </a:prstGeom>
          <a:noFill/>
          <a:ln w="9525">
            <a:solidFill>
              <a:srgbClr val="2A4A78"/>
            </a:solidFill>
            <a:prstDash val="solid"/>
          </a:ln>
        </p:spPr>
      </p:sp>
      <p:sp>
        <p:nvSpPr>
          <p:cNvPr id="8" name="Text 6"/>
          <p:cNvSpPr txBox="1"/>
          <p:nvPr/>
        </p:nvSpPr>
        <p:spPr>
          <a:xfrm>
            <a:off x="6299200" y="2362200"/>
            <a:ext cx="50800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CE8E00"/>
                </a:solidFill>
                <a:latin typeface="Arial" pitchFamily="34" charset="0"/>
                <a:ea typeface="Arial" pitchFamily="34" charset="-122"/>
                <a:cs typeface="Arial" pitchFamily="34" charset="-120"/>
              </a:rPr>
              <a:t>FOR A PCC</a:t>
            </a:r>
            <a:endParaRPr lang="en-US" sz="1200" dirty="0"/>
          </a:p>
        </p:txBody>
      </p:sp>
      <p:sp>
        <p:nvSpPr>
          <p:cNvPr id="9" name="Text 7"/>
          <p:cNvSpPr txBox="1"/>
          <p:nvPr/>
        </p:nvSpPr>
        <p:spPr>
          <a:xfrm>
            <a:off x="6299200" y="2679700"/>
            <a:ext cx="5080000" cy="889000"/>
          </a:xfrm>
          <a:prstGeom prst="rect">
            <a:avLst/>
          </a:prstGeom>
          <a:noFill/>
          <a:ln/>
        </p:spPr>
        <p:txBody>
          <a:bodyPr wrap="square" lIns="0" tIns="0" rIns="0" bIns="0" rtlCol="0" anchor="t"/>
          <a:lstStyle/>
          <a:p>
            <a:pPr algn="l" indent="0" marL="0">
              <a:lnSpc>
                <a:spcPct val="110000"/>
              </a:lnSpc>
              <a:buNone/>
            </a:pPr>
            <a:r>
              <a:rPr lang="en-US" sz="2000" dirty="0">
                <a:solidFill>
                  <a:srgbClr val="F8F6F1"/>
                </a:solidFill>
                <a:latin typeface="Maven Pro" pitchFamily="34" charset="0"/>
                <a:ea typeface="Maven Pro" pitchFamily="34" charset="-122"/>
                <a:cs typeface="Maven Pro" pitchFamily="34" charset="-120"/>
              </a:rPr>
              <a:t>A morning spent coordinating care, not re-entering the same data in several places.</a:t>
            </a:r>
            <a:endParaRPr lang="en-US" sz="2000" dirty="0"/>
          </a:p>
        </p:txBody>
      </p:sp>
      <p:sp>
        <p:nvSpPr>
          <p:cNvPr id="10" name="Shape 8"/>
          <p:cNvSpPr/>
          <p:nvPr/>
        </p:nvSpPr>
        <p:spPr>
          <a:xfrm>
            <a:off x="812800" y="3873500"/>
            <a:ext cx="5080000" cy="0"/>
          </a:xfrm>
          <a:prstGeom prst="line">
            <a:avLst/>
          </a:prstGeom>
          <a:noFill/>
          <a:ln w="9525">
            <a:solidFill>
              <a:srgbClr val="2A4A78"/>
            </a:solidFill>
            <a:prstDash val="solid"/>
          </a:ln>
        </p:spPr>
      </p:sp>
      <p:sp>
        <p:nvSpPr>
          <p:cNvPr id="11" name="Text 9"/>
          <p:cNvSpPr txBox="1"/>
          <p:nvPr/>
        </p:nvSpPr>
        <p:spPr>
          <a:xfrm>
            <a:off x="812800" y="4076700"/>
            <a:ext cx="50800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CE8E00"/>
                </a:solidFill>
                <a:latin typeface="Arial" pitchFamily="34" charset="0"/>
                <a:ea typeface="Arial" pitchFamily="34" charset="-122"/>
                <a:cs typeface="Arial" pitchFamily="34" charset="-120"/>
              </a:rPr>
              <a:t>FOR A CLINICIAN</a:t>
            </a:r>
            <a:endParaRPr lang="en-US" sz="1200" dirty="0"/>
          </a:p>
        </p:txBody>
      </p:sp>
      <p:sp>
        <p:nvSpPr>
          <p:cNvPr id="12" name="Text 10"/>
          <p:cNvSpPr txBox="1"/>
          <p:nvPr/>
        </p:nvSpPr>
        <p:spPr>
          <a:xfrm>
            <a:off x="812800" y="4394200"/>
            <a:ext cx="5080000" cy="889000"/>
          </a:xfrm>
          <a:prstGeom prst="rect">
            <a:avLst/>
          </a:prstGeom>
          <a:noFill/>
          <a:ln/>
        </p:spPr>
        <p:txBody>
          <a:bodyPr wrap="square" lIns="0" tIns="0" rIns="0" bIns="0" rtlCol="0" anchor="t"/>
          <a:lstStyle/>
          <a:p>
            <a:pPr algn="l" indent="0" marL="0">
              <a:lnSpc>
                <a:spcPct val="110000"/>
              </a:lnSpc>
              <a:buNone/>
            </a:pPr>
            <a:r>
              <a:rPr lang="en-US" sz="2000" dirty="0">
                <a:solidFill>
                  <a:srgbClr val="F8F6F1"/>
                </a:solidFill>
                <a:latin typeface="Maven Pro" pitchFamily="34" charset="0"/>
                <a:ea typeface="Maven Pro" pitchFamily="34" charset="-122"/>
                <a:cs typeface="Maven Pro" pitchFamily="34" charset="-120"/>
              </a:rPr>
              <a:t>A day that starts confirmed, with fewer calls to make before the first visit.</a:t>
            </a:r>
            <a:endParaRPr lang="en-US" sz="2000" dirty="0"/>
          </a:p>
        </p:txBody>
      </p:sp>
      <p:sp>
        <p:nvSpPr>
          <p:cNvPr id="13" name="Shape 11"/>
          <p:cNvSpPr/>
          <p:nvPr/>
        </p:nvSpPr>
        <p:spPr>
          <a:xfrm>
            <a:off x="6299200" y="3873500"/>
            <a:ext cx="5080000" cy="0"/>
          </a:xfrm>
          <a:prstGeom prst="line">
            <a:avLst/>
          </a:prstGeom>
          <a:noFill/>
          <a:ln w="9525">
            <a:solidFill>
              <a:srgbClr val="2A4A78"/>
            </a:solidFill>
            <a:prstDash val="solid"/>
          </a:ln>
        </p:spPr>
      </p:sp>
      <p:sp>
        <p:nvSpPr>
          <p:cNvPr id="14" name="Text 12"/>
          <p:cNvSpPr txBox="1"/>
          <p:nvPr/>
        </p:nvSpPr>
        <p:spPr>
          <a:xfrm>
            <a:off x="6299200" y="4076700"/>
            <a:ext cx="5080000" cy="21590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CE8E00"/>
                </a:solidFill>
                <a:latin typeface="Arial" pitchFamily="34" charset="0"/>
                <a:ea typeface="Arial" pitchFamily="34" charset="-122"/>
                <a:cs typeface="Arial" pitchFamily="34" charset="-120"/>
              </a:rPr>
              <a:t>FOR A PATIENT</a:t>
            </a:r>
            <a:endParaRPr lang="en-US" sz="1200" dirty="0"/>
          </a:p>
        </p:txBody>
      </p:sp>
      <p:sp>
        <p:nvSpPr>
          <p:cNvPr id="15" name="Text 13"/>
          <p:cNvSpPr txBox="1"/>
          <p:nvPr/>
        </p:nvSpPr>
        <p:spPr>
          <a:xfrm>
            <a:off x="6299200" y="4394200"/>
            <a:ext cx="5080000" cy="889000"/>
          </a:xfrm>
          <a:prstGeom prst="rect">
            <a:avLst/>
          </a:prstGeom>
          <a:noFill/>
          <a:ln/>
        </p:spPr>
        <p:txBody>
          <a:bodyPr wrap="square" lIns="0" tIns="0" rIns="0" bIns="0" rtlCol="0" anchor="t"/>
          <a:lstStyle/>
          <a:p>
            <a:pPr algn="l" indent="0" marL="0">
              <a:lnSpc>
                <a:spcPct val="110000"/>
              </a:lnSpc>
              <a:buNone/>
            </a:pPr>
            <a:r>
              <a:rPr lang="en-US" sz="2000" dirty="0">
                <a:solidFill>
                  <a:srgbClr val="F8F6F1"/>
                </a:solidFill>
                <a:latin typeface="Maven Pro" pitchFamily="34" charset="0"/>
                <a:ea typeface="Maven Pro" pitchFamily="34" charset="-122"/>
                <a:cs typeface="Maven Pro" pitchFamily="34" charset="-120"/>
              </a:rPr>
              <a:t>A visit window they can count on, from a clinician they know.</a:t>
            </a:r>
            <a:endParaRPr lang="en-US" sz="20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9AAAC0"/>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NEXT STEPS</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What happens next</a:t>
            </a:r>
            <a:endParaRPr lang="en-US" sz="4000" dirty="0"/>
          </a:p>
        </p:txBody>
      </p:sp>
      <p:sp>
        <p:nvSpPr>
          <p:cNvPr id="4" name="Shape 2"/>
          <p:cNvSpPr/>
          <p:nvPr/>
        </p:nvSpPr>
        <p:spPr>
          <a:xfrm>
            <a:off x="812800" y="2044700"/>
            <a:ext cx="6121400" cy="0"/>
          </a:xfrm>
          <a:prstGeom prst="line">
            <a:avLst/>
          </a:prstGeom>
          <a:noFill/>
          <a:ln w="9525">
            <a:solidFill>
              <a:srgbClr val="D6D0C2"/>
            </a:solidFill>
            <a:prstDash val="solid"/>
          </a:ln>
        </p:spPr>
      </p:sp>
      <p:sp>
        <p:nvSpPr>
          <p:cNvPr id="5" name="Text 3"/>
          <p:cNvSpPr txBox="1"/>
          <p:nvPr/>
        </p:nvSpPr>
        <p:spPr>
          <a:xfrm>
            <a:off x="812800" y="2222500"/>
            <a:ext cx="1270000" cy="254000"/>
          </a:xfrm>
          <a:prstGeom prst="rect">
            <a:avLst/>
          </a:prstGeom>
          <a:noFill/>
          <a:ln/>
        </p:spPr>
        <p:txBody>
          <a:bodyPr wrap="square" lIns="0" tIns="0" rIns="0" bIns="0" rtlCol="0" anchor="t"/>
          <a:lstStyle/>
          <a:p>
            <a:pPr algn="l" indent="0" marL="0">
              <a:lnSpc>
                <a:spcPct val="110000"/>
              </a:lnSpc>
              <a:buNone/>
            </a:pPr>
            <a:r>
              <a:rPr lang="en-US" sz="1200" b="1" dirty="0">
                <a:solidFill>
                  <a:srgbClr val="8A5F00"/>
                </a:solidFill>
                <a:latin typeface="Arial" pitchFamily="34" charset="0"/>
                <a:ea typeface="Arial" pitchFamily="34" charset="-122"/>
                <a:cs typeface="Arial" pitchFamily="34" charset="-120"/>
              </a:rPr>
              <a:t>Before Oct 21</a:t>
            </a:r>
            <a:endParaRPr lang="en-US" sz="1200" dirty="0"/>
          </a:p>
        </p:txBody>
      </p:sp>
      <p:sp>
        <p:nvSpPr>
          <p:cNvPr id="6" name="Text 4"/>
          <p:cNvSpPr txBox="1"/>
          <p:nvPr/>
        </p:nvSpPr>
        <p:spPr>
          <a:xfrm>
            <a:off x="2336800" y="2197100"/>
            <a:ext cx="4597400" cy="5080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Arial" pitchFamily="34" charset="0"/>
                <a:ea typeface="Arial" pitchFamily="34" charset="-122"/>
                <a:cs typeface="Arial" pitchFamily="34" charset="-120"/>
              </a:rPr>
              <a:t>SME orientation and scenario prep</a:t>
            </a:r>
            <a:endParaRPr lang="en-US" sz="1600" dirty="0"/>
          </a:p>
        </p:txBody>
      </p:sp>
      <p:sp>
        <p:nvSpPr>
          <p:cNvPr id="7" name="Shape 5"/>
          <p:cNvSpPr/>
          <p:nvPr/>
        </p:nvSpPr>
        <p:spPr>
          <a:xfrm>
            <a:off x="812800" y="2743200"/>
            <a:ext cx="6121400" cy="0"/>
          </a:xfrm>
          <a:prstGeom prst="line">
            <a:avLst/>
          </a:prstGeom>
          <a:noFill/>
          <a:ln w="9525">
            <a:solidFill>
              <a:srgbClr val="D6D0C2"/>
            </a:solidFill>
            <a:prstDash val="solid"/>
          </a:ln>
        </p:spPr>
      </p:sp>
      <p:sp>
        <p:nvSpPr>
          <p:cNvPr id="8" name="Text 6"/>
          <p:cNvSpPr txBox="1"/>
          <p:nvPr/>
        </p:nvSpPr>
        <p:spPr>
          <a:xfrm>
            <a:off x="812800" y="2921000"/>
            <a:ext cx="1270000" cy="254000"/>
          </a:xfrm>
          <a:prstGeom prst="rect">
            <a:avLst/>
          </a:prstGeom>
          <a:noFill/>
          <a:ln/>
        </p:spPr>
        <p:txBody>
          <a:bodyPr wrap="square" lIns="0" tIns="0" rIns="0" bIns="0" rtlCol="0" anchor="t"/>
          <a:lstStyle/>
          <a:p>
            <a:pPr algn="l" indent="0" marL="0">
              <a:lnSpc>
                <a:spcPct val="110000"/>
              </a:lnSpc>
              <a:buNone/>
            </a:pPr>
            <a:r>
              <a:rPr lang="en-US" sz="1200" b="1" dirty="0">
                <a:solidFill>
                  <a:srgbClr val="8A5F00"/>
                </a:solidFill>
                <a:latin typeface="Arial" pitchFamily="34" charset="0"/>
                <a:ea typeface="Arial" pitchFamily="34" charset="-122"/>
                <a:cs typeface="Arial" pitchFamily="34" charset="-120"/>
              </a:rPr>
              <a:t>Oct 21–23</a:t>
            </a:r>
            <a:endParaRPr lang="en-US" sz="1200" dirty="0"/>
          </a:p>
        </p:txBody>
      </p:sp>
      <p:sp>
        <p:nvSpPr>
          <p:cNvPr id="9" name="Text 7"/>
          <p:cNvSpPr txBox="1"/>
          <p:nvPr/>
        </p:nvSpPr>
        <p:spPr>
          <a:xfrm>
            <a:off x="2336800" y="2895600"/>
            <a:ext cx="4597400" cy="5080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Arial" pitchFamily="34" charset="0"/>
                <a:ea typeface="Arial" pitchFamily="34" charset="-122"/>
                <a:cs typeface="Arial" pitchFamily="34" charset="-120"/>
              </a:rPr>
              <a:t>On-site vendor assessments in Nashville</a:t>
            </a:r>
            <a:endParaRPr lang="en-US" sz="1600" dirty="0"/>
          </a:p>
        </p:txBody>
      </p:sp>
      <p:sp>
        <p:nvSpPr>
          <p:cNvPr id="10" name="Shape 8"/>
          <p:cNvSpPr/>
          <p:nvPr/>
        </p:nvSpPr>
        <p:spPr>
          <a:xfrm>
            <a:off x="812800" y="3441700"/>
            <a:ext cx="6121400" cy="0"/>
          </a:xfrm>
          <a:prstGeom prst="line">
            <a:avLst/>
          </a:prstGeom>
          <a:noFill/>
          <a:ln w="9525">
            <a:solidFill>
              <a:srgbClr val="D6D0C2"/>
            </a:solidFill>
            <a:prstDash val="solid"/>
          </a:ln>
        </p:spPr>
      </p:sp>
      <p:sp>
        <p:nvSpPr>
          <p:cNvPr id="11" name="Text 9"/>
          <p:cNvSpPr txBox="1"/>
          <p:nvPr/>
        </p:nvSpPr>
        <p:spPr>
          <a:xfrm>
            <a:off x="812800" y="3619500"/>
            <a:ext cx="1270000" cy="254000"/>
          </a:xfrm>
          <a:prstGeom prst="rect">
            <a:avLst/>
          </a:prstGeom>
          <a:noFill/>
          <a:ln/>
        </p:spPr>
        <p:txBody>
          <a:bodyPr wrap="square" lIns="0" tIns="0" rIns="0" bIns="0" rtlCol="0" anchor="t"/>
          <a:lstStyle/>
          <a:p>
            <a:pPr algn="l" indent="0" marL="0">
              <a:lnSpc>
                <a:spcPct val="110000"/>
              </a:lnSpc>
              <a:buNone/>
            </a:pPr>
            <a:r>
              <a:rPr lang="en-US" sz="1200" b="1" dirty="0">
                <a:solidFill>
                  <a:srgbClr val="8A5F00"/>
                </a:solidFill>
                <a:latin typeface="Arial" pitchFamily="34" charset="0"/>
                <a:ea typeface="Arial" pitchFamily="34" charset="-122"/>
                <a:cs typeface="Arial" pitchFamily="34" charset="-120"/>
              </a:rPr>
              <a:t>Late Oct</a:t>
            </a:r>
            <a:endParaRPr lang="en-US" sz="1200" dirty="0"/>
          </a:p>
        </p:txBody>
      </p:sp>
      <p:sp>
        <p:nvSpPr>
          <p:cNvPr id="12" name="Text 10"/>
          <p:cNvSpPr txBox="1"/>
          <p:nvPr/>
        </p:nvSpPr>
        <p:spPr>
          <a:xfrm>
            <a:off x="2336800" y="3594100"/>
            <a:ext cx="4597400" cy="5080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Arial" pitchFamily="34" charset="0"/>
                <a:ea typeface="Arial" pitchFamily="34" charset="-122"/>
                <a:cs typeface="Arial" pitchFamily="34" charset="-120"/>
              </a:rPr>
              <a:t>SME debrief and scorecard review</a:t>
            </a:r>
            <a:endParaRPr lang="en-US" sz="1600" dirty="0"/>
          </a:p>
        </p:txBody>
      </p:sp>
      <p:sp>
        <p:nvSpPr>
          <p:cNvPr id="13" name="Shape 11"/>
          <p:cNvSpPr/>
          <p:nvPr/>
        </p:nvSpPr>
        <p:spPr>
          <a:xfrm>
            <a:off x="812800" y="4140200"/>
            <a:ext cx="6121400" cy="0"/>
          </a:xfrm>
          <a:prstGeom prst="line">
            <a:avLst/>
          </a:prstGeom>
          <a:noFill/>
          <a:ln w="9525">
            <a:solidFill>
              <a:srgbClr val="D6D0C2"/>
            </a:solidFill>
            <a:prstDash val="solid"/>
          </a:ln>
        </p:spPr>
      </p:sp>
      <p:sp>
        <p:nvSpPr>
          <p:cNvPr id="14" name="Text 12"/>
          <p:cNvSpPr txBox="1"/>
          <p:nvPr/>
        </p:nvSpPr>
        <p:spPr>
          <a:xfrm>
            <a:off x="812800" y="4318000"/>
            <a:ext cx="1270000" cy="254000"/>
          </a:xfrm>
          <a:prstGeom prst="rect">
            <a:avLst/>
          </a:prstGeom>
          <a:noFill/>
          <a:ln/>
        </p:spPr>
        <p:txBody>
          <a:bodyPr wrap="square" lIns="0" tIns="0" rIns="0" bIns="0" rtlCol="0" anchor="t"/>
          <a:lstStyle/>
          <a:p>
            <a:pPr algn="l" indent="0" marL="0">
              <a:lnSpc>
                <a:spcPct val="110000"/>
              </a:lnSpc>
              <a:buNone/>
            </a:pPr>
            <a:r>
              <a:rPr lang="en-US" sz="1200" b="1" dirty="0">
                <a:solidFill>
                  <a:srgbClr val="8A5F00"/>
                </a:solidFill>
                <a:latin typeface="Arial" pitchFamily="34" charset="0"/>
                <a:ea typeface="Arial" pitchFamily="34" charset="-122"/>
                <a:cs typeface="Arial" pitchFamily="34" charset="-120"/>
              </a:rPr>
              <a:t>Early Nov</a:t>
            </a:r>
            <a:endParaRPr lang="en-US" sz="1200" dirty="0"/>
          </a:p>
        </p:txBody>
      </p:sp>
      <p:sp>
        <p:nvSpPr>
          <p:cNvPr id="15" name="Text 13"/>
          <p:cNvSpPr txBox="1"/>
          <p:nvPr/>
        </p:nvSpPr>
        <p:spPr>
          <a:xfrm>
            <a:off x="2336800" y="4292600"/>
            <a:ext cx="4597400" cy="508000"/>
          </a:xfrm>
          <a:prstGeom prst="rect">
            <a:avLst/>
          </a:prstGeom>
          <a:noFill/>
          <a:ln/>
        </p:spPr>
        <p:txBody>
          <a:bodyPr wrap="square" lIns="0" tIns="0" rIns="0" bIns="0" rtlCol="0" anchor="t"/>
          <a:lstStyle/>
          <a:p>
            <a:pPr algn="l" indent="0" marL="0">
              <a:lnSpc>
                <a:spcPct val="110000"/>
              </a:lnSpc>
              <a:buNone/>
            </a:pPr>
            <a:r>
              <a:rPr lang="en-US" sz="1600" dirty="0">
                <a:solidFill>
                  <a:srgbClr val="002554"/>
                </a:solidFill>
                <a:latin typeface="Arial" pitchFamily="34" charset="0"/>
                <a:ea typeface="Arial" pitchFamily="34" charset="-122"/>
                <a:cs typeface="Arial" pitchFamily="34" charset="-120"/>
              </a:rPr>
              <a:t>Two finalists advance to contract negotiations</a:t>
            </a:r>
            <a:endParaRPr lang="en-US" sz="1600" dirty="0"/>
          </a:p>
        </p:txBody>
      </p:sp>
      <p:sp>
        <p:nvSpPr>
          <p:cNvPr id="16" name="Shape 14"/>
          <p:cNvSpPr/>
          <p:nvPr/>
        </p:nvSpPr>
        <p:spPr>
          <a:xfrm>
            <a:off x="812800" y="4838700"/>
            <a:ext cx="6121400" cy="0"/>
          </a:xfrm>
          <a:prstGeom prst="line">
            <a:avLst/>
          </a:prstGeom>
          <a:noFill/>
          <a:ln w="9525">
            <a:solidFill>
              <a:srgbClr val="D6D0C2"/>
            </a:solidFill>
            <a:prstDash val="solid"/>
          </a:ln>
        </p:spPr>
      </p:sp>
      <p:sp>
        <p:nvSpPr>
          <p:cNvPr id="17" name="Shape 15"/>
          <p:cNvSpPr/>
          <p:nvPr/>
        </p:nvSpPr>
        <p:spPr>
          <a:xfrm>
            <a:off x="7442200" y="2044700"/>
            <a:ext cx="3937000" cy="2794000"/>
          </a:xfrm>
          <a:prstGeom prst="rect">
            <a:avLst/>
          </a:prstGeom>
          <a:solidFill>
            <a:srgbClr val="FDFCFA"/>
          </a:solidFill>
          <a:ln w="9525">
            <a:solidFill>
              <a:srgbClr val="E3DED3"/>
            </a:solidFill>
            <a:prstDash val="solid"/>
          </a:ln>
        </p:spPr>
      </p:sp>
      <p:sp>
        <p:nvSpPr>
          <p:cNvPr id="18" name="Text 16"/>
          <p:cNvSpPr txBox="1"/>
          <p:nvPr/>
        </p:nvSpPr>
        <p:spPr>
          <a:xfrm>
            <a:off x="7747000" y="2349500"/>
            <a:ext cx="3327400" cy="355600"/>
          </a:xfrm>
          <a:prstGeom prst="rect">
            <a:avLst/>
          </a:prstGeom>
          <a:noFill/>
          <a:ln/>
        </p:spPr>
        <p:txBody>
          <a:bodyPr wrap="square" lIns="0" tIns="0" rIns="0" bIns="0" rtlCol="0" anchor="t"/>
          <a:lstStyle/>
          <a:p>
            <a:pPr algn="l" indent="0" marL="0">
              <a:lnSpc>
                <a:spcPct val="110000"/>
              </a:lnSpc>
              <a:buNone/>
            </a:pPr>
            <a:r>
              <a:rPr lang="en-US" sz="2000" dirty="0">
                <a:solidFill>
                  <a:srgbClr val="002554"/>
                </a:solidFill>
                <a:latin typeface="Maven Pro" pitchFamily="34" charset="0"/>
                <a:ea typeface="Maven Pro" pitchFamily="34" charset="-122"/>
                <a:cs typeface="Maven Pro" pitchFamily="34" charset="-120"/>
              </a:rPr>
              <a:t>What we ask of you</a:t>
            </a:r>
            <a:endParaRPr lang="en-US" sz="2000" dirty="0"/>
          </a:p>
        </p:txBody>
      </p:sp>
      <p:sp>
        <p:nvSpPr>
          <p:cNvPr id="19" name="Text 17"/>
          <p:cNvSpPr txBox="1"/>
          <p:nvPr/>
        </p:nvSpPr>
        <p:spPr>
          <a:xfrm>
            <a:off x="7747000" y="2857500"/>
            <a:ext cx="3327400" cy="184150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Wed–Fri, Oct 21–23 in Nashville, plus prep and debrief</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Real examples from your branch or caseload</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Candor, especially when something won't work</a:t>
            </a:r>
            <a:endParaRPr lang="en-US" sz="1300" dirty="0"/>
          </a:p>
          <a:p>
            <a:pPr marL="177800" indent="-177800">
              <a:lnSpc>
                <a:spcPct val="105000"/>
              </a:lnSpc>
              <a:spcAft>
                <a:spcPts val="600"/>
              </a:spcAft>
              <a:buSzPct val="100000"/>
              <a:buChar char="•"/>
            </a:pPr>
            <a:r>
              <a:rPr lang="en-US" sz="1300" dirty="0">
                <a:solidFill>
                  <a:srgbClr val="3D4A5C"/>
                </a:solidFill>
                <a:latin typeface="Arial" pitchFamily="34" charset="0"/>
                <a:ea typeface="Arial" pitchFamily="34" charset="-122"/>
                <a:cs typeface="Arial" pitchFamily="34" charset="-120"/>
              </a:rPr>
              <a:t>Discretion while evaluations are underway</a:t>
            </a:r>
            <a:endParaRPr lang="en-US" sz="13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12800" y="2095500"/>
            <a:ext cx="8890000" cy="1651000"/>
          </a:xfrm>
          <a:prstGeom prst="rect">
            <a:avLst/>
          </a:prstGeom>
          <a:noFill/>
          <a:ln/>
        </p:spPr>
        <p:txBody>
          <a:bodyPr wrap="square" lIns="0" tIns="0" rIns="0" bIns="0" rtlCol="0" anchor="b"/>
          <a:lstStyle/>
          <a:p>
            <a:pPr indent="0" marL="0">
              <a:lnSpc>
                <a:spcPct val="95000"/>
              </a:lnSpc>
              <a:buNone/>
            </a:pPr>
            <a:r>
              <a:rPr lang="en-US" sz="5600" dirty="0">
                <a:solidFill>
                  <a:srgbClr val="F8F6F1"/>
                </a:solidFill>
                <a:latin typeface="Maven Pro" pitchFamily="34" charset="0"/>
                <a:ea typeface="Maven Pro" pitchFamily="34" charset="-122"/>
                <a:cs typeface="Maven Pro" pitchFamily="34" charset="-120"/>
              </a:rPr>
              <a:t>Your experience shapes </a:t>
            </a:r>
            <a:pPr indent="0" marL="0">
              <a:lnSpc>
                <a:spcPct val="95000"/>
              </a:lnSpc>
              <a:buNone/>
            </a:pPr>
            <a:r>
              <a:rPr lang="en-US" sz="5600" dirty="0">
                <a:solidFill>
                  <a:srgbClr val="CE8E00"/>
                </a:solidFill>
                <a:latin typeface="Maven Pro" pitchFamily="34" charset="0"/>
                <a:ea typeface="Maven Pro" pitchFamily="34" charset="-122"/>
                <a:cs typeface="Maven Pro" pitchFamily="34" charset="-120"/>
              </a:rPr>
              <a:t>this decision.</a:t>
            </a:r>
            <a:endParaRPr lang="en-US" sz="5600" dirty="0"/>
          </a:p>
        </p:txBody>
      </p:sp>
      <p:sp>
        <p:nvSpPr>
          <p:cNvPr id="3" name="Text 1"/>
          <p:cNvSpPr txBox="1"/>
          <p:nvPr/>
        </p:nvSpPr>
        <p:spPr>
          <a:xfrm>
            <a:off x="812800" y="4000500"/>
            <a:ext cx="7620000" cy="317500"/>
          </a:xfrm>
          <a:prstGeom prst="rect">
            <a:avLst/>
          </a:prstGeom>
          <a:noFill/>
          <a:ln/>
        </p:spPr>
        <p:txBody>
          <a:bodyPr wrap="square" lIns="0" tIns="0" rIns="0" bIns="0" rtlCol="0" anchor="t"/>
          <a:lstStyle/>
          <a:p>
            <a:pPr algn="l" indent="0" marL="0">
              <a:lnSpc>
                <a:spcPct val="110000"/>
              </a:lnSpc>
              <a:buNone/>
            </a:pPr>
            <a:r>
              <a:rPr lang="en-US" sz="1600" dirty="0">
                <a:solidFill>
                  <a:srgbClr val="C9D3E0"/>
                </a:solidFill>
                <a:latin typeface="Arial" pitchFamily="34" charset="0"/>
                <a:ea typeface="Arial" pitchFamily="34" charset="-122"/>
                <a:cs typeface="Arial" pitchFamily="34" charset="-120"/>
              </a:rPr>
              <a:t>Thank you for lending it.</a:t>
            </a:r>
            <a:endParaRPr lang="en-US" sz="1600" dirty="0"/>
          </a:p>
        </p:txBody>
      </p:sp>
      <p:pic>
        <p:nvPicPr>
          <p:cNvPr id="4" name="Image 0" descr="compassus-logo-reverse.png">    </p:cNvPr>
          <p:cNvPicPr>
            <a:picLocks noChangeAspect="1"/>
          </p:cNvPicPr>
          <p:nvPr/>
        </p:nvPicPr>
        <p:blipFill>
          <a:blip r:embed="rId1"/>
          <a:stretch>
            <a:fillRect/>
          </a:stretch>
        </p:blipFill>
        <p:spPr>
          <a:xfrm>
            <a:off x="9728200" y="5816600"/>
            <a:ext cx="1651000" cy="635000"/>
          </a:xfrm>
          <a:prstGeom prst="rect">
            <a:avLst/>
          </a:prstGeom>
        </p:spPr>
      </p:pic>
      <p:sp>
        <p:nvSpPr>
          <p:cNvPr id="5" name="Text 2"/>
          <p:cNvSpPr txBox="1"/>
          <p:nvPr/>
        </p:nvSpPr>
        <p:spPr>
          <a:xfrm>
            <a:off x="812800" y="6197600"/>
            <a:ext cx="6350000" cy="254000"/>
          </a:xfrm>
          <a:prstGeom prst="rect">
            <a:avLst/>
          </a:prstGeom>
          <a:noFill/>
          <a:ln/>
        </p:spPr>
        <p:txBody>
          <a:bodyPr wrap="square" lIns="0" tIns="0" rIns="0" bIns="0" rtlCol="0" anchor="ctr"/>
          <a:lstStyle/>
          <a:p>
            <a:pPr algn="l" indent="0" marL="0">
              <a:lnSpc>
                <a:spcPct val="110000"/>
              </a:lnSpc>
              <a:buNone/>
            </a:pPr>
            <a:r>
              <a:rPr lang="en-US" sz="1200" dirty="0">
                <a:solidFill>
                  <a:srgbClr val="9AAAC0"/>
                </a:solidFill>
                <a:latin typeface="Arial" pitchFamily="34" charset="0"/>
                <a:ea typeface="Arial" pitchFamily="34" charset="-122"/>
                <a:cs typeface="Arial" pitchFamily="34" charset="-120"/>
              </a:rPr>
              <a:t>[Initiative lead] · [Email]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2" type="body" hasCustomPrompt="1"/>
          </p:nvPr>
        </p:nvSpPr>
        <p:spPr>
          <a:xfrm>
            <a:off x="812800" y="3302000"/>
            <a:ext cx="6604000" cy="254000"/>
          </a:xfrm>
          <a:prstGeom prst="rect">
            <a:avLst/>
          </a:prstGeom>
          <a:noFill/>
          <a:ln/>
        </p:spPr>
        <p:txBody>
          <a:bodyPr wrap="square" lIns="0" tIns="0" rIns="0" bIns="0" rtlCol="0"/>
          <a:lstStyle/>
          <a:p>
            <a:pPr indent="0" marL="0">
              <a:buNone/>
            </a:pPr>
            <a:r>
              <a:rPr lang="en-US" sz="1200" b="1" spc="200" kern="0" dirty="0">
                <a:solidFill>
                  <a:srgbClr val="CE8E00"/>
                </a:solidFill>
                <a:latin typeface="Arial" pitchFamily="34" charset="0"/>
                <a:ea typeface="Arial" pitchFamily="34" charset="-122"/>
                <a:cs typeface="Arial" pitchFamily="34" charset="-120"/>
              </a:rPr>
              <a:t>SECTION LABEL</a:t>
            </a:r>
            <a:endParaRPr lang="en-US" sz="1200" dirty="0"/>
          </a:p>
        </p:txBody>
      </p:sp>
      <p:sp>
        <p:nvSpPr>
          <p:cNvPr id="3" name="Text 0"/>
          <p:cNvSpPr/>
          <p:nvPr>
            <p:ph idx="103" type="title" hasCustomPrompt="1"/>
          </p:nvPr>
        </p:nvSpPr>
        <p:spPr>
          <a:xfrm>
            <a:off x="812800" y="3556000"/>
            <a:ext cx="6604000" cy="1651000"/>
          </a:xfrm>
          <a:prstGeom prst="rect">
            <a:avLst/>
          </a:prstGeom>
          <a:noFill/>
          <a:ln/>
        </p:spPr>
        <p:txBody>
          <a:bodyPr wrap="square" lIns="0" tIns="0" rIns="0" bIns="0" rtlCol="0" anchor="t"/>
          <a:lstStyle/>
          <a:p>
            <a:pPr algn="l" indent="0" marL="0">
              <a:buNone/>
            </a:pPr>
            <a:r>
              <a:rPr lang="en-US" sz="5200" dirty="0">
                <a:solidFill>
                  <a:srgbClr val="F8F6F1"/>
                </a:solidFill>
                <a:latin typeface="Maven Pro" pitchFamily="34" charset="0"/>
                <a:ea typeface="Maven Pro" pitchFamily="34" charset="-122"/>
                <a:cs typeface="Maven Pro" pitchFamily="34" charset="-120"/>
              </a:rPr>
              <a:t>Section title</a:t>
            </a:r>
            <a:endParaRPr lang="en-US" sz="5200" dirty="0"/>
          </a:p>
        </p:txBody>
      </p:sp>
      <p:sp>
        <p:nvSpPr>
          <p:cNvPr id="4" name="Text 0"/>
          <p:cNvSpPr/>
          <p:nvPr>
            <p:ph idx="104" type="body" hasCustomPrompt="1"/>
          </p:nvPr>
        </p:nvSpPr>
        <p:spPr>
          <a:xfrm>
            <a:off x="812800" y="5334000"/>
            <a:ext cx="6350000" cy="508000"/>
          </a:xfrm>
          <a:prstGeom prst="rect">
            <a:avLst/>
          </a:prstGeom>
          <a:noFill/>
          <a:ln/>
        </p:spPr>
        <p:txBody>
          <a:bodyPr wrap="square" lIns="0" tIns="0" rIns="0" bIns="0" rtlCol="0" anchor="t"/>
          <a:lstStyle/>
          <a:p>
            <a:pPr indent="0" marL="0">
              <a:buNone/>
            </a:pPr>
            <a:r>
              <a:rPr lang="en-US" sz="1600" dirty="0">
                <a:solidFill>
                  <a:srgbClr val="C9D3E0"/>
                </a:solidFill>
                <a:latin typeface="Arial" pitchFamily="34" charset="0"/>
                <a:ea typeface="Arial" pitchFamily="34" charset="-122"/>
                <a:cs typeface="Arial" pitchFamily="34" charset="-120"/>
              </a:rPr>
              <a:t>One line that sets up the section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EYEBROW LABEL</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Slide title</a:t>
            </a:r>
            <a:endParaRPr lang="en-US" sz="4000" dirty="0"/>
          </a:p>
        </p:txBody>
      </p:sp>
      <p:sp>
        <p:nvSpPr>
          <p:cNvPr id="4" name="Text 1"/>
          <p:cNvSpPr/>
          <p:nvPr>
            <p:ph idx="104" type="body" hasCustomPrompt="1"/>
          </p:nvPr>
        </p:nvSpPr>
        <p:spPr>
          <a:xfrm>
            <a:off x="812800" y="2044700"/>
            <a:ext cx="10566400" cy="3556000"/>
          </a:xfrm>
          <a:prstGeom prst="rect">
            <a:avLst/>
          </a:prstGeom>
          <a:noFill/>
          <a:ln/>
        </p:spPr>
        <p:txBody>
          <a:bodyPr wrap="square" lIns="0" tIns="0" rIns="0" bIns="0" rtlCol="0" anchor="t"/>
          <a:lstStyle/>
          <a:p>
            <a:pPr indent="0" marL="0">
              <a:buNone/>
            </a:pPr>
            <a:r>
              <a:rPr lang="en-US" sz="1400" dirty="0">
                <a:solidFill>
                  <a:srgbClr val="3D4A5C"/>
                </a:solidFill>
                <a:latin typeface="Arial" pitchFamily="34" charset="0"/>
                <a:ea typeface="Arial" pitchFamily="34" charset="-122"/>
                <a:cs typeface="Arial" pitchFamily="34" charset="-120"/>
              </a:rPr>
              <a:t>Add your content here.</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EYEBROW LABEL</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Slide title</a:t>
            </a:r>
            <a:endParaRPr lang="en-US" sz="4000" dirty="0"/>
          </a:p>
        </p:txBody>
      </p:sp>
      <p:sp>
        <p:nvSpPr>
          <p:cNvPr id="4" name="Text 1"/>
          <p:cNvSpPr/>
          <p:nvPr>
            <p:ph idx="104" type="body" hasCustomPrompt="1"/>
          </p:nvPr>
        </p:nvSpPr>
        <p:spPr>
          <a:xfrm>
            <a:off x="812800" y="2044700"/>
            <a:ext cx="5080000" cy="3556000"/>
          </a:xfrm>
          <a:prstGeom prst="rect">
            <a:avLst/>
          </a:prstGeom>
          <a:noFill/>
          <a:ln/>
        </p:spPr>
        <p:txBody>
          <a:bodyPr wrap="square" lIns="0" tIns="0" rIns="0" bIns="0" rtlCol="0" anchor="t"/>
          <a:lstStyle/>
          <a:p>
            <a:pPr indent="0" marL="0">
              <a:buNone/>
            </a:pPr>
            <a:r>
              <a:rPr lang="en-US" sz="1400" dirty="0">
                <a:solidFill>
                  <a:srgbClr val="3D4A5C"/>
                </a:solidFill>
                <a:latin typeface="Arial" pitchFamily="34" charset="0"/>
                <a:ea typeface="Arial" pitchFamily="34" charset="-122"/>
                <a:cs typeface="Arial" pitchFamily="34" charset="-120"/>
              </a:rPr>
              <a:t>Left column content</a:t>
            </a:r>
            <a:endParaRPr lang="en-US" sz="1400" dirty="0"/>
          </a:p>
        </p:txBody>
      </p:sp>
      <p:sp>
        <p:nvSpPr>
          <p:cNvPr id="5" name="Text 1"/>
          <p:cNvSpPr/>
          <p:nvPr>
            <p:ph idx="105" type="body" hasCustomPrompt="1"/>
          </p:nvPr>
        </p:nvSpPr>
        <p:spPr>
          <a:xfrm>
            <a:off x="6299200" y="2044700"/>
            <a:ext cx="5080000" cy="3556000"/>
          </a:xfrm>
          <a:prstGeom prst="rect">
            <a:avLst/>
          </a:prstGeom>
          <a:noFill/>
          <a:ln/>
        </p:spPr>
        <p:txBody>
          <a:bodyPr wrap="square" lIns="0" tIns="0" rIns="0" bIns="0" rtlCol="0" anchor="t"/>
          <a:lstStyle/>
          <a:p>
            <a:pPr indent="0" marL="0">
              <a:buNone/>
            </a:pPr>
            <a:r>
              <a:rPr lang="en-US" sz="1400" dirty="0">
                <a:solidFill>
                  <a:srgbClr val="3D4A5C"/>
                </a:solidFill>
                <a:latin typeface="Arial" pitchFamily="34" charset="0"/>
                <a:ea typeface="Arial" pitchFamily="34" charset="-122"/>
                <a:cs typeface="Arial" pitchFamily="34" charset="-120"/>
              </a:rPr>
              <a:t>Right column content</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EYEBROW LABEL</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Slide title</a:t>
            </a:r>
            <a:endParaRPr lang="en-US" sz="4000" dirty="0"/>
          </a:p>
        </p:txBody>
      </p:sp>
      <p:sp>
        <p:nvSpPr>
          <p:cNvPr id="4" name="Text 4"/>
          <p:cNvSpPr/>
          <p:nvPr>
            <p:ph idx="107" type="body" hasCustomPrompt="1"/>
          </p:nvPr>
        </p:nvSpPr>
        <p:spPr>
          <a:xfrm>
            <a:off x="1117600" y="2349500"/>
            <a:ext cx="2774950" cy="2819400"/>
          </a:xfrm>
          <a:prstGeom prst="rect">
            <a:avLst/>
          </a:prstGeom>
          <a:noFill/>
          <a:ln/>
        </p:spPr>
        <p:txBody>
          <a:bodyPr wrap="square" lIns="0" tIns="0" rIns="0" bIns="0" rtlCol="0" anchor="t"/>
          <a:lstStyle/>
          <a:p>
            <a:pPr indent="0" marL="0">
              <a:buNone/>
            </a:pPr>
            <a:r>
              <a:rPr lang="en-US" sz="1400" dirty="0">
                <a:solidFill>
                  <a:srgbClr val="3D4A5C"/>
                </a:solidFill>
                <a:latin typeface="Arial" pitchFamily="34" charset="0"/>
                <a:ea typeface="Arial" pitchFamily="34" charset="-122"/>
                <a:cs typeface="Arial" pitchFamily="34" charset="-120"/>
              </a:rPr>
              <a:t>Card one content</a:t>
            </a:r>
            <a:endParaRPr lang="en-US" sz="1400" dirty="0"/>
          </a:p>
        </p:txBody>
      </p:sp>
      <p:sp>
        <p:nvSpPr>
          <p:cNvPr id="5" name="Text 4"/>
          <p:cNvSpPr/>
          <p:nvPr>
            <p:ph idx="108" type="body" hasCustomPrompt="1"/>
          </p:nvPr>
        </p:nvSpPr>
        <p:spPr>
          <a:xfrm>
            <a:off x="4705350" y="2349500"/>
            <a:ext cx="2774950" cy="2819400"/>
          </a:xfrm>
          <a:prstGeom prst="rect">
            <a:avLst/>
          </a:prstGeom>
          <a:noFill/>
          <a:ln/>
        </p:spPr>
        <p:txBody>
          <a:bodyPr wrap="square" lIns="0" tIns="0" rIns="0" bIns="0" rtlCol="0" anchor="t"/>
          <a:lstStyle/>
          <a:p>
            <a:pPr indent="0" marL="0">
              <a:buNone/>
            </a:pPr>
            <a:r>
              <a:rPr lang="en-US" sz="1400" dirty="0">
                <a:solidFill>
                  <a:srgbClr val="3D4A5C"/>
                </a:solidFill>
                <a:latin typeface="Arial" pitchFamily="34" charset="0"/>
                <a:ea typeface="Arial" pitchFamily="34" charset="-122"/>
                <a:cs typeface="Arial" pitchFamily="34" charset="-120"/>
              </a:rPr>
              <a:t>Card two content</a:t>
            </a:r>
            <a:endParaRPr lang="en-US" sz="1400" dirty="0"/>
          </a:p>
        </p:txBody>
      </p:sp>
      <p:sp>
        <p:nvSpPr>
          <p:cNvPr id="6" name="Text 4"/>
          <p:cNvSpPr/>
          <p:nvPr>
            <p:ph idx="109" type="body" hasCustomPrompt="1"/>
          </p:nvPr>
        </p:nvSpPr>
        <p:spPr>
          <a:xfrm>
            <a:off x="8293100" y="2349500"/>
            <a:ext cx="2774950" cy="2819400"/>
          </a:xfrm>
          <a:prstGeom prst="rect">
            <a:avLst/>
          </a:prstGeom>
          <a:noFill/>
          <a:ln/>
        </p:spPr>
        <p:txBody>
          <a:bodyPr wrap="square" lIns="0" tIns="0" rIns="0" bIns="0" rtlCol="0" anchor="t"/>
          <a:lstStyle/>
          <a:p>
            <a:pPr indent="0" marL="0">
              <a:buNone/>
            </a:pPr>
            <a:r>
              <a:rPr lang="en-US" sz="1400" dirty="0">
                <a:solidFill>
                  <a:srgbClr val="3D4A5C"/>
                </a:solidFill>
                <a:latin typeface="Arial" pitchFamily="34" charset="0"/>
                <a:ea typeface="Arial" pitchFamily="34" charset="-122"/>
                <a:cs typeface="Arial" pitchFamily="34" charset="-120"/>
              </a:rPr>
              <a:t>Card three content</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CE8E00"/>
                </a:solidFill>
                <a:latin typeface="Arial" pitchFamily="34" charset="0"/>
                <a:ea typeface="Arial" pitchFamily="34" charset="-122"/>
                <a:cs typeface="Arial" pitchFamily="34" charset="-120"/>
              </a:rPr>
              <a:t>EYEBROW LABEL</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F8F6F1"/>
                </a:solidFill>
                <a:latin typeface="Maven Pro" pitchFamily="34" charset="0"/>
                <a:ea typeface="Maven Pro" pitchFamily="34" charset="-122"/>
                <a:cs typeface="Maven Pro" pitchFamily="34" charset="-120"/>
              </a:rPr>
              <a:t>Slide title</a:t>
            </a:r>
            <a:endParaRPr lang="en-US" sz="4000" dirty="0"/>
          </a:p>
        </p:txBody>
      </p:sp>
      <p:sp>
        <p:nvSpPr>
          <p:cNvPr id="4" name="Text 1"/>
          <p:cNvSpPr/>
          <p:nvPr>
            <p:ph idx="104" type="body" hasCustomPrompt="1"/>
          </p:nvPr>
        </p:nvSpPr>
        <p:spPr>
          <a:xfrm>
            <a:off x="812800" y="2044700"/>
            <a:ext cx="10566400" cy="3556000"/>
          </a:xfrm>
          <a:prstGeom prst="rect">
            <a:avLst/>
          </a:prstGeom>
          <a:noFill/>
          <a:ln/>
        </p:spPr>
        <p:txBody>
          <a:bodyPr wrap="square" lIns="0" tIns="0" rIns="0" bIns="0" rtlCol="0" anchor="t"/>
          <a:lstStyle/>
          <a:p>
            <a:pPr indent="0" marL="0">
              <a:buNone/>
            </a:pPr>
            <a:r>
              <a:rPr lang="en-US" sz="1400" dirty="0">
                <a:solidFill>
                  <a:srgbClr val="C9D3E0"/>
                </a:solidFill>
                <a:latin typeface="Arial" pitchFamily="34" charset="0"/>
                <a:ea typeface="Arial" pitchFamily="34" charset="-122"/>
                <a:cs typeface="Arial" pitchFamily="34" charset="-120"/>
              </a:rPr>
              <a:t>Add your content here.</a:t>
            </a:r>
            <a:endParaRPr lang="en-US" sz="14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9AAAC0"/>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lstStyle/>
          <a:p>
            <a:pPr indent="0" marL="0">
              <a:buNone/>
            </a:pPr>
            <a:r>
              <a:rPr lang="en-US" sz="1200" b="1" spc="200" kern="0" dirty="0">
                <a:solidFill>
                  <a:srgbClr val="002554"/>
                </a:solidFill>
                <a:latin typeface="Arial" pitchFamily="34" charset="0"/>
                <a:ea typeface="Arial" pitchFamily="34" charset="-122"/>
                <a:cs typeface="Arial" pitchFamily="34" charset="-120"/>
              </a:rPr>
              <a:t>EYEBROW LABEL</a:t>
            </a:r>
            <a:endParaRPr lang="en-US" sz="1200" dirty="0"/>
          </a:p>
        </p:txBody>
      </p:sp>
      <p:sp>
        <p:nvSpPr>
          <p:cNvPr id="3" name="Text 1"/>
          <p:cNvSpPr/>
          <p:nvPr>
            <p:ph idx="103" type="title" hasCustomPrompt="1"/>
          </p:nvPr>
        </p:nvSpPr>
        <p:spPr>
          <a:xfrm>
            <a:off x="812800" y="1905000"/>
            <a:ext cx="9525000" cy="2540000"/>
          </a:xfrm>
          <a:prstGeom prst="rect">
            <a:avLst/>
          </a:prstGeom>
          <a:noFill/>
          <a:ln/>
        </p:spPr>
        <p:txBody>
          <a:bodyPr wrap="square" lIns="0" tIns="0" rIns="0" bIns="0" rtlCol="0" anchor="ctr"/>
          <a:lstStyle/>
          <a:p>
            <a:pPr algn="l" indent="0" marL="0">
              <a:buNone/>
            </a:pPr>
            <a:r>
              <a:rPr lang="en-US" sz="4800" dirty="0">
                <a:solidFill>
                  <a:srgbClr val="002554"/>
                </a:solidFill>
                <a:latin typeface="Maven Pro" pitchFamily="34" charset="0"/>
                <a:ea typeface="Maven Pro" pitchFamily="34" charset="-122"/>
                <a:cs typeface="Maven Pro" pitchFamily="34" charset="-120"/>
              </a:rPr>
              <a:t>A single statement worth a whole slide.</a:t>
            </a:r>
            <a:endParaRPr lang="en-US" sz="48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002554"/>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indent="0" marL="0">
              <a:buNone/>
            </a:pPr>
            <a:r>
              <a:rPr lang="en-US" sz="1200" b="1" spc="200" kern="0" dirty="0">
                <a:solidFill>
                  <a:srgbClr val="8A5F00"/>
                </a:solidFill>
                <a:latin typeface="Arial" pitchFamily="34" charset="0"/>
                <a:ea typeface="Arial" pitchFamily="34" charset="-122"/>
                <a:cs typeface="Arial" pitchFamily="34" charset="-120"/>
              </a:rPr>
              <a:t>EYEBROW LABEL</a:t>
            </a:r>
            <a:endParaRPr lang="en-US" sz="1200" dirty="0"/>
          </a:p>
        </p:txBody>
      </p:sp>
      <p:sp>
        <p:nvSpPr>
          <p:cNvPr id="3" name="Text 1"/>
          <p:cNvSpPr/>
          <p:nvPr>
            <p:ph idx="103" type="title" hasCustomPrompt="1"/>
          </p:nvPr>
        </p:nvSpPr>
        <p:spPr>
          <a:xfrm>
            <a:off x="812800" y="1117600"/>
            <a:ext cx="10566400" cy="635000"/>
          </a:xfrm>
          <a:prstGeom prst="rect">
            <a:avLst/>
          </a:prstGeom>
          <a:noFill/>
          <a:ln/>
        </p:spPr>
        <p:txBody>
          <a:bodyPr wrap="square" lIns="0" tIns="0" rIns="0" bIns="0" rtlCol="0" anchor="t"/>
          <a:lstStyle/>
          <a:p>
            <a:pPr algn="l" indent="0" marL="0">
              <a:buNone/>
            </a:pPr>
            <a:r>
              <a:rPr lang="en-US" sz="4000" dirty="0">
                <a:solidFill>
                  <a:srgbClr val="002554"/>
                </a:solidFill>
                <a:latin typeface="Maven Pro" pitchFamily="34" charset="0"/>
                <a:ea typeface="Maven Pro" pitchFamily="34" charset="-122"/>
                <a:cs typeface="Maven Pro" pitchFamily="34" charset="-120"/>
              </a:rPr>
              <a:t>Slide title (open canvas)</a:t>
            </a:r>
            <a:endParaRPr lang="en-US" sz="4000" dirty="0"/>
          </a:p>
        </p:txBody>
      </p:sp>
      <p:sp>
        <p:nvSpPr>
          <p:cNvPr id="25" name="Slide Number Placeholder 0"/>
          <p:cNvSpPr>
            <a:spLocks noGrp="1"/>
          </p:cNvSpPr>
          <p:nvPr>
            <p:ph type="sldNum" sz="quarter" idx="4294967295"/>
          </p:nvPr>
        </p:nvSpPr>
        <p:spPr>
          <a:xfrm>
            <a:off x="10109200" y="6197600"/>
            <a:ext cx="1270000" cy="25400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5A6472"/>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Compassus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Capacity &amp; Scheduling — SME Introduction</dc:title>
  <dc:subject>PptxGenJS Presentation</dc:subject>
  <dc:creator>PptxGenJS</dc:creator>
  <cp:lastModifiedBy>PptxGenJS</cp:lastModifiedBy>
  <cp:revision>1</cp:revision>
  <dcterms:created xsi:type="dcterms:W3CDTF">2026-10-01T14:45:48Z</dcterms:created>
  <dcterms:modified xsi:type="dcterms:W3CDTF">2026-10-01T14:45:48Z</dcterms:modified>
</cp:coreProperties>
</file>